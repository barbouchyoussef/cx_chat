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06" r:id="rId4"/>
  </p:sldMasterIdLst>
  <p:notesMasterIdLst>
    <p:notesMasterId r:id="rId24"/>
  </p:notesMasterIdLst>
  <p:handoutMasterIdLst>
    <p:handoutMasterId r:id="rId25"/>
  </p:handoutMasterIdLst>
  <p:sldIdLst>
    <p:sldId id="1881839181" r:id="rId5"/>
    <p:sldId id="2147479374" r:id="rId6"/>
    <p:sldId id="2147479401" r:id="rId7"/>
    <p:sldId id="2147479427" r:id="rId8"/>
    <p:sldId id="2147479598" r:id="rId9"/>
    <p:sldId id="2147479462" r:id="rId10"/>
    <p:sldId id="2147479431" r:id="rId11"/>
    <p:sldId id="2147479432" r:id="rId12"/>
    <p:sldId id="2147479433" r:id="rId13"/>
    <p:sldId id="2147479461" r:id="rId14"/>
    <p:sldId id="2147479502" r:id="rId15"/>
    <p:sldId id="397" r:id="rId16"/>
    <p:sldId id="2147479377" r:id="rId17"/>
    <p:sldId id="2147479361" r:id="rId18"/>
    <p:sldId id="2147479511" r:id="rId19"/>
    <p:sldId id="2147479300" r:id="rId20"/>
    <p:sldId id="2147479608" r:id="rId21"/>
    <p:sldId id="2147479503" r:id="rId22"/>
    <p:sldId id="2147479540" r:id="rId23"/>
  </p:sldIdLst>
  <p:sldSz cx="24387175" cy="13716000"/>
  <p:notesSz cx="13716000" cy="2438717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TTING STARTED" id="{1CF91AFB-A8AE-EF41-AD71-99CA3132A3FE}">
          <p14:sldIdLst>
            <p14:sldId id="1881839181"/>
            <p14:sldId id="2147479374"/>
            <p14:sldId id="2147479401"/>
            <p14:sldId id="2147479427"/>
            <p14:sldId id="2147479598"/>
            <p14:sldId id="2147479462"/>
            <p14:sldId id="2147479431"/>
            <p14:sldId id="2147479432"/>
            <p14:sldId id="2147479433"/>
            <p14:sldId id="2147479461"/>
            <p14:sldId id="2147479502"/>
            <p14:sldId id="397"/>
            <p14:sldId id="2147479377"/>
            <p14:sldId id="2147479361"/>
            <p14:sldId id="2147479511"/>
            <p14:sldId id="2147479300"/>
            <p14:sldId id="2147479608"/>
            <p14:sldId id="2147479503"/>
            <p14:sldId id="214747954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17D670A-C1A6-20EE-9A07-40B4BBC0FA79}" name="Brooke E Smith" initials="BS" userId="S::brooke.smith@ey.com::ae8e5fd3-802c-46fc-aecd-8d2e9c46620c" providerId="AD"/>
  <p188:author id="{FEBDB50F-B0E9-B8DB-FDCC-EF6D84FCE728}" name="John M Motley" initials="JM" userId="S::john.m.motley@ey.com::4f0d1d4b-4580-4f31-af63-fc69dfb6818d" providerId="AD"/>
  <p188:author id="{753A0410-B09E-74F5-BF55-30D8626247E9}" name="Christopher C Smith" initials="CCS" userId="S::christopher.smith3@ey.com::85b793ce-66ba-4f83-b6b7-803c1675ab2e" providerId="AD"/>
  <p188:author id="{DD9D7E18-5DB4-147D-5908-B9E074E35B47}" name="Christopher C Smith" initials="CS" userId="S::Christopher.Smith3@ey.com::85b793ce-66ba-4f83-b6b7-803c1675ab2e" providerId="AD"/>
  <p188:author id="{4DC89930-9870-2946-EB45-D0F446128BFD}" name="Jessie Vitale" initials="JV" userId="S::jessie.vitale@ey.com::91954b2b-d83e-4341-868c-f43dcfcaf4db" providerId="AD"/>
  <p188:author id="{B5ADE539-B9B3-DAFE-FAD6-1294CC8296F4}" name="Frank A Pizzuta" initials="FP" userId="S::Frank.Pizzuta@ey.com::368fc571-b380-4a1b-9cdc-a968ec7da435" providerId="AD"/>
  <p188:author id="{B7F3223D-9106-2777-9B05-97F77D7704A1}" name="Regina Zambrano" initials="RZ" userId="S::Regina.Zambrano@ey.com::a95cb2c2-dbd5-4e50-9df2-bdb7b0400bc9" providerId="AD"/>
  <p188:author id="{8D21613D-24C1-F60B-3FB4-3E698C3D80C6}" name="Millicent Hadjivassiliou Stewart" initials="MS" userId="S::millicent.hadjivassiliou.stewart@ey.com::8f68b93c-ec15-4be9-8569-810b452d49db" providerId="AD"/>
  <p188:author id="{84053658-713E-FFF5-AB46-FD4907487F3C}" name="Kathryn Laventure" initials="KL" userId="S::kathryn.laventure@ey.com::9f7997f6-24b1-40d7-bc26-feea8b5a1b8b" providerId="AD"/>
  <p188:author id="{77E76E59-9916-4668-6DC3-F7503D4ACD56}" name="Emily R Frebowitz" initials="EF" userId="S::Emily.Frebowitz@ey.com::77f9e43b-b0aa-4b7d-a82c-d77a5e1730b9" providerId="AD"/>
  <p188:author id="{51B3B35B-5513-9BA3-B7B7-D59BB15E4FD4}" name="Danni Peng" initials="DP" userId="S::Danni.Peng1@ey.com::58667066-c347-46b6-a76a-af05a46e496b" providerId="AD"/>
  <p188:author id="{754FDB64-0934-31AE-072E-7E71877D721D}" name="Ryan Bertani" initials="RB" userId="S::ryan.bertani@ey.com::4e39329f-483a-44c0-b25c-fab90f083c99" providerId="AD"/>
  <p188:author id="{E5D2717F-599D-B586-C135-1D16D822D090}" name="Emily G Dana" initials="EGD" userId="S::emily.dana@ey.com::1b08d4f9-00ef-47da-b6ba-b70a9300bc36" providerId="AD"/>
  <p188:author id="{4E511781-9455-5380-896C-CEAF5C684617}" name="Erika S Olson" initials="EO" userId="S::Erika.S.Olson@ey.com::650deb8e-4a48-4b5c-bd46-5acc297f5587" providerId="AD"/>
  <p188:author id="{59AC6C86-877C-D1DF-7D5A-C71DE6F0263F}" name="Erika S Olson" initials="EO" userId="S::erika.s.olson@ey.com::650deb8e-4a48-4b5c-bd46-5acc297f5587" providerId="AD"/>
  <p188:author id="{8DCFD488-6F3F-2C1C-F786-CB060073FD31}" name="Sabrina Tran" initials="" userId="S::Sabrina.Tran@ey.com::e7642091-3017-40b3-9145-27e652995e1b" providerId="AD"/>
  <p188:author id="{BDA69A95-76C6-9D01-E60E-26C7B6F7C19C}" name="Danni Peng" initials="DP" userId="S::danni.peng1@ey.com::58667066-c347-46b6-a76a-af05a46e496b" providerId="AD"/>
  <p188:author id="{AC121597-295C-9F4B-9153-6DB8D4D1E4B0}" name="Frank A Pizzuta" initials="FAP" userId="S::frank.pizzuta@ey.com::368fc571-b380-4a1b-9cdc-a968ec7da435" providerId="AD"/>
  <p188:author id="{46CD49AB-69C4-7CD1-0A64-931BECC80F83}" name="Ryan Bertani" initials="RB" userId="S::Ryan.Bertani@ey.com::4e39329f-483a-44c0-b25c-fab90f083c99" providerId="AD"/>
  <p188:author id="{4014D8B0-42A7-963F-C2BC-F4C2BA2E8285}" name="Emily R Frebowitz" initials="ERF" userId="S::emily.frebowitz@ey.com::77f9e43b-b0aa-4b7d-a82c-d77a5e1730b9" providerId="AD"/>
  <p188:author id="{9DBE0DB3-1F39-3BB8-900F-3542E22DCCD0}" name="Garrett Wexler" initials="GW" userId="S::garrett.wexler@ey.com::ecbe8817-b388-4b78-a06a-5a3370d43c07" providerId="AD"/>
  <p188:author id="{0A8085BF-67C9-9ACD-D9C5-7AA5A89F7F72}" name="Annice Lee" initials="AL" userId="S::annice.lee@ey.com::7745ca50-3c8a-4598-8798-e5872448223d" providerId="AD"/>
  <p188:author id="{2BEECBC1-F04C-9A81-C633-D6E24F728857}" name="Regina Zambrano" initials="RZ" userId="S::regina.zambrano.ledezma@ey.com::a95cb2c2-dbd5-4e50-9df2-bdb7b0400bc9" providerId="AD"/>
  <p188:author id="{BEEED7CC-01BE-8B4A-E385-EA84373C2D8A}" name="Regina Zambrano" initials="RZ" userId="S::regina.zambrano@ey.com::a95cb2c2-dbd5-4e50-9df2-bdb7b0400bc9" providerId="AD"/>
  <p188:author id="{9ACFC9D2-D5F8-DA46-B076-C2475F2B8B4A}" name="Katie M Nolan" initials="KMN" userId="S::katie.m.nolan@ey.com::bc6e190d-796a-498f-9a6e-e861683e165d" providerId="AD"/>
  <p188:author id="{2D32D0DB-1C4E-664C-8BCE-E9DF7769F1F6}" name="Judy Chan" initials="JC" userId="S::judy.chan1@ey.com::b0bf74e7-dde2-4341-b0ca-575f01d5c5bb" providerId="AD"/>
  <p188:author id="{635B68DE-6014-ED50-658D-D8D9871689B8}" name="Garrett Wexler" initials="GW" userId="S::Garrett.Wexler@ey.com::ecbe8817-b388-4b78-a06a-5a3370d43c07" providerId="AD"/>
  <p188:author id="{3EC1BBE8-BE0D-E930-AD2D-3C4EEAA77EB7}" name="Millicent Hadjivassiliou Stewart" initials="MH" userId="S::Millicent.Hadjivassiliou.Stewart@ey.com::8f68b93c-ec15-4be9-8569-810b452d49db" providerId="AD"/>
  <p188:author id="{B829BFEC-8B1C-5BFD-EE39-A1C234D7B2BA}" name="Brooke E Smith" initials="BS" userId="S::Brooke.Smith@ey.com::ae8e5fd3-802c-46fc-aecd-8d2e9c46620c" providerId="AD"/>
  <p188:author id="{66EC51EF-AE34-7C41-00FD-B5123961B082}" name="Simran Assi" initials="SA" userId="S::Simran.Assi@gds.ey.com::e151f7e4-8718-480b-bb95-47774b6c3b9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0B3755"/>
    <a:srgbClr val="4861C6"/>
    <a:srgbClr val="BECBDC"/>
    <a:srgbClr val="082B47"/>
    <a:srgbClr val="0C3654"/>
    <a:srgbClr val="052743"/>
    <a:srgbClr val="05253D"/>
    <a:srgbClr val="61A438"/>
    <a:srgbClr val="7ACF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43B614-4FF2-4AFA-86D4-6B423E6FEC28}" v="121" dt="2025-08-20T06:12:10.8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404" autoAdjust="0"/>
  </p:normalViewPr>
  <p:slideViewPr>
    <p:cSldViewPr snapToGrid="0">
      <p:cViewPr varScale="1">
        <p:scale>
          <a:sx n="29" d="100"/>
          <a:sy n="29" d="100"/>
        </p:scale>
        <p:origin x="924" y="252"/>
      </p:cViewPr>
      <p:guideLst/>
    </p:cSldViewPr>
  </p:slideViewPr>
  <p:notesTextViewPr>
    <p:cViewPr>
      <p:scale>
        <a:sx n="1" d="1"/>
        <a:sy n="1" d="1"/>
      </p:scale>
      <p:origin x="0" y="0"/>
    </p:cViewPr>
  </p:notesTextViewPr>
  <p:notesViewPr>
    <p:cSldViewPr snapToGrid="0">
      <p:cViewPr varScale="1">
        <p:scale>
          <a:sx n="20" d="100"/>
          <a:sy n="20" d="100"/>
        </p:scale>
        <p:origin x="2880" y="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23F1BD-7BA8-2F62-B380-0C1C82F1BD95}"/>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F53A00-C1D2-D556-90A3-76F6B8E81ACD}"/>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D5989592-2567-E44A-8D75-185E0ECE3BCC}" type="datetimeFigureOut">
              <a:rPr lang="en-US" smtClean="0"/>
              <a:t>8/27/2025</a:t>
            </a:fld>
            <a:endParaRPr lang="en-US"/>
          </a:p>
        </p:txBody>
      </p:sp>
      <p:sp>
        <p:nvSpPr>
          <p:cNvPr id="4" name="Footer Placeholder 3">
            <a:extLst>
              <a:ext uri="{FF2B5EF4-FFF2-40B4-BE49-F238E27FC236}">
                <a16:creationId xmlns:a16="http://schemas.microsoft.com/office/drawing/2014/main" id="{ECDB77A1-16E9-2CC1-7994-E389B6075274}"/>
              </a:ext>
            </a:extLst>
          </p:cNvPr>
          <p:cNvSpPr>
            <a:spLocks noGrp="1"/>
          </p:cNvSpPr>
          <p:nvPr>
            <p:ph type="ftr" sz="quarter" idx="2"/>
          </p:nvPr>
        </p:nvSpPr>
        <p:spPr>
          <a:xfrm>
            <a:off x="0" y="23164800"/>
            <a:ext cx="5943600" cy="12223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C98D4C9C-7554-85C6-FA02-456224D55D82}"/>
              </a:ext>
            </a:extLst>
          </p:cNvPr>
          <p:cNvSpPr>
            <a:spLocks noGrp="1"/>
          </p:cNvSpPr>
          <p:nvPr>
            <p:ph type="sldNum" sz="quarter" idx="3"/>
          </p:nvPr>
        </p:nvSpPr>
        <p:spPr>
          <a:xfrm>
            <a:off x="7769225" y="23164800"/>
            <a:ext cx="5943600" cy="1222375"/>
          </a:xfrm>
          <a:prstGeom prst="rect">
            <a:avLst/>
          </a:prstGeom>
        </p:spPr>
        <p:txBody>
          <a:bodyPr vert="horz" lIns="91440" tIns="45720" rIns="91440" bIns="45720" rtlCol="0" anchor="b"/>
          <a:lstStyle>
            <a:lvl1pPr algn="r">
              <a:defRPr sz="1200"/>
            </a:lvl1pPr>
          </a:lstStyle>
          <a:p>
            <a:fld id="{790D0605-ED3F-1743-9BFF-A7EF1CBE497E}" type="slidenum">
              <a:rPr lang="en-US" smtClean="0"/>
              <a:t>‹#›</a:t>
            </a:fld>
            <a:endParaRPr lang="en-US"/>
          </a:p>
        </p:txBody>
      </p:sp>
    </p:spTree>
    <p:extLst>
      <p:ext uri="{BB962C8B-B14F-4D97-AF65-F5344CB8AC3E}">
        <p14:creationId xmlns:p14="http://schemas.microsoft.com/office/powerpoint/2010/main" val="13404199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4409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effectLst/>
                <a:latin typeface="Helvetica Neue" panose="02000503000000020004" pitchFamily="2" charset="0"/>
              </a:rPr>
              <a:t>Point of Contact: -</a:t>
            </a:r>
            <a:endParaRPr lang="en-US">
              <a:effectLst/>
              <a:latin typeface="Helvetica Neue" panose="02000503000000020004" pitchFamily="2" charset="0"/>
            </a:endParaRPr>
          </a:p>
          <a:p>
            <a:r>
              <a:rPr lang="en-US" b="1">
                <a:effectLst/>
                <a:latin typeface="Helvetica Neue" panose="02000503000000020004" pitchFamily="2" charset="0"/>
              </a:rPr>
              <a:t>Sector: Health Services</a:t>
            </a:r>
            <a:endParaRPr lang="en-US">
              <a:effectLst/>
              <a:latin typeface="Helvetica Neue" panose="02000503000000020004" pitchFamily="2" charset="0"/>
            </a:endParaRPr>
          </a:p>
          <a:p>
            <a:r>
              <a:rPr lang="en-US" b="1">
                <a:effectLst/>
                <a:latin typeface="Helvetica Neue" panose="02000503000000020004" pitchFamily="2" charset="0"/>
              </a:rPr>
              <a:t>Solution: Product</a:t>
            </a:r>
            <a:endParaRPr lang="en-US">
              <a:effectLst/>
              <a:latin typeface="Helvetica Neue" panose="02000503000000020004" pitchFamily="2" charset="0"/>
            </a:endParaRPr>
          </a:p>
          <a:p>
            <a:r>
              <a:rPr lang="en-US" b="1">
                <a:effectLst/>
                <a:latin typeface="Helvetica Neue" panose="02000503000000020004" pitchFamily="2" charset="0"/>
              </a:rPr>
              <a:t>Client: -</a:t>
            </a:r>
            <a:endParaRPr lang="en-US">
              <a:effectLst/>
              <a:latin typeface="Helvetica Neue" panose="02000503000000020004" pitchFamily="2" charset="0"/>
            </a:endParaRPr>
          </a:p>
          <a:p>
            <a:r>
              <a:rPr lang="en-US" b="1">
                <a:effectLst/>
                <a:latin typeface="Helvetica Neue" panose="02000503000000020004" pitchFamily="2" charset="0"/>
              </a:rPr>
              <a:t>#</a:t>
            </a:r>
            <a:r>
              <a:rPr lang="en-US" b="1" err="1">
                <a:effectLst/>
                <a:latin typeface="Helvetica Neue" panose="02000503000000020004" pitchFamily="2" charset="0"/>
              </a:rPr>
              <a:t>NoName</a:t>
            </a:r>
            <a:r>
              <a:rPr lang="en-US" b="1">
                <a:effectLst/>
                <a:latin typeface="Helvetica Neue" panose="02000503000000020004" pitchFamily="2" charset="0"/>
              </a:rPr>
              <a:t> #Health #CX #Product #Experience #Cover</a:t>
            </a:r>
            <a:endParaRPr lang="en-US">
              <a:effectLst/>
              <a:latin typeface="Helvetica Neue" panose="02000503000000020004" pitchFamily="2" charset="0"/>
            </a:endParaRPr>
          </a:p>
          <a:p>
            <a:endParaRPr lang="en-US" b="0"/>
          </a:p>
        </p:txBody>
      </p:sp>
    </p:spTree>
    <p:extLst>
      <p:ext uri="{BB962C8B-B14F-4D97-AF65-F5344CB8AC3E}">
        <p14:creationId xmlns:p14="http://schemas.microsoft.com/office/powerpoint/2010/main" val="11429300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effectLst/>
                <a:latin typeface="Helvetica Neue" panose="02000503000000020004" pitchFamily="2" charset="0"/>
              </a:rPr>
              <a:t>Point of Contact: -</a:t>
            </a:r>
            <a:endParaRPr lang="en-US">
              <a:effectLst/>
              <a:latin typeface="Helvetica Neue" panose="02000503000000020004" pitchFamily="2" charset="0"/>
            </a:endParaRPr>
          </a:p>
          <a:p>
            <a:r>
              <a:rPr lang="en-US" b="1">
                <a:effectLst/>
                <a:latin typeface="Helvetica Neue" panose="02000503000000020004" pitchFamily="2" charset="0"/>
              </a:rPr>
              <a:t>Sector: Health Services</a:t>
            </a:r>
            <a:endParaRPr lang="en-US">
              <a:effectLst/>
              <a:latin typeface="Helvetica Neue" panose="02000503000000020004" pitchFamily="2" charset="0"/>
            </a:endParaRPr>
          </a:p>
          <a:p>
            <a:r>
              <a:rPr lang="en-US" b="1">
                <a:effectLst/>
                <a:latin typeface="Helvetica Neue" panose="02000503000000020004" pitchFamily="2" charset="0"/>
              </a:rPr>
              <a:t>Solution: Experience</a:t>
            </a:r>
            <a:endParaRPr lang="en-US">
              <a:effectLst/>
              <a:latin typeface="Helvetica Neue" panose="02000503000000020004" pitchFamily="2" charset="0"/>
            </a:endParaRPr>
          </a:p>
          <a:p>
            <a:r>
              <a:rPr lang="en-US" b="1">
                <a:effectLst/>
                <a:latin typeface="Helvetica Neue" panose="02000503000000020004" pitchFamily="2" charset="0"/>
              </a:rPr>
              <a:t>Client: Cigna</a:t>
            </a:r>
            <a:endParaRPr lang="en-US">
              <a:effectLst/>
              <a:latin typeface="Helvetica Neue" panose="02000503000000020004" pitchFamily="2" charset="0"/>
            </a:endParaRPr>
          </a:p>
          <a:p>
            <a:r>
              <a:rPr lang="en-US" b="1">
                <a:effectLst/>
                <a:latin typeface="Helvetica Neue" panose="02000503000000020004" pitchFamily="2" charset="0"/>
              </a:rPr>
              <a:t>#Health #Experience #CX #Cover</a:t>
            </a:r>
            <a:endParaRPr lang="en-US">
              <a:effectLst/>
              <a:latin typeface="Helvetica Neue" panose="02000503000000020004" pitchFamily="2" charset="0"/>
            </a:endParaRPr>
          </a:p>
          <a:p>
            <a:r>
              <a:rPr lang="en-US" b="0"/>
              <a:t>#Cigna</a:t>
            </a:r>
          </a:p>
        </p:txBody>
      </p:sp>
    </p:spTree>
    <p:extLst>
      <p:ext uri="{BB962C8B-B14F-4D97-AF65-F5344CB8AC3E}">
        <p14:creationId xmlns:p14="http://schemas.microsoft.com/office/powerpoint/2010/main" val="672360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effectLst/>
                <a:latin typeface="Helvetica Neue" panose="02000503000000020004" pitchFamily="2" charset="0"/>
              </a:rPr>
              <a:t>Point of Contact: - </a:t>
            </a:r>
            <a:endParaRPr lang="en-US">
              <a:effectLst/>
              <a:latin typeface="Helvetica Neue" panose="02000503000000020004" pitchFamily="2" charset="0"/>
            </a:endParaRPr>
          </a:p>
          <a:p>
            <a:r>
              <a:rPr lang="en-US" b="1">
                <a:effectLst/>
                <a:latin typeface="Helvetica Neue" panose="02000503000000020004" pitchFamily="2" charset="0"/>
              </a:rPr>
              <a:t>Sector: Health Services</a:t>
            </a:r>
            <a:endParaRPr lang="en-US">
              <a:effectLst/>
              <a:latin typeface="Helvetica Neue" panose="02000503000000020004" pitchFamily="2" charset="0"/>
            </a:endParaRPr>
          </a:p>
          <a:p>
            <a:r>
              <a:rPr lang="en-US" b="1">
                <a:effectLst/>
                <a:latin typeface="Helvetica Neue" panose="02000503000000020004" pitchFamily="2" charset="0"/>
              </a:rPr>
              <a:t>Solution: CX</a:t>
            </a:r>
            <a:endParaRPr lang="en-US">
              <a:effectLst/>
              <a:latin typeface="Helvetica Neue" panose="02000503000000020004" pitchFamily="2" charset="0"/>
            </a:endParaRPr>
          </a:p>
          <a:p>
            <a:r>
              <a:rPr lang="en-US" b="1">
                <a:effectLst/>
                <a:latin typeface="Helvetica Neue" panose="02000503000000020004" pitchFamily="2" charset="0"/>
              </a:rPr>
              <a:t>Client: Walgreens</a:t>
            </a:r>
            <a:endParaRPr lang="en-US">
              <a:effectLst/>
              <a:latin typeface="Helvetica Neue" panose="02000503000000020004" pitchFamily="2" charset="0"/>
            </a:endParaRPr>
          </a:p>
          <a:p>
            <a:r>
              <a:rPr lang="en-US" b="1">
                <a:effectLst/>
                <a:latin typeface="Helvetica Neue" panose="02000503000000020004" pitchFamily="2" charset="0"/>
              </a:rPr>
              <a:t>#Health #CX #Experience #Cover </a:t>
            </a:r>
            <a:r>
              <a:rPr lang="en-US"/>
              <a:t>#Walgreens</a:t>
            </a:r>
          </a:p>
          <a:p>
            <a:endParaRPr lang="en-US"/>
          </a:p>
        </p:txBody>
      </p:sp>
    </p:spTree>
    <p:extLst>
      <p:ext uri="{BB962C8B-B14F-4D97-AF65-F5344CB8AC3E}">
        <p14:creationId xmlns:p14="http://schemas.microsoft.com/office/powerpoint/2010/main" val="39573378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effectLst/>
                <a:latin typeface="Helvetica Neue" panose="02000503000000020004" pitchFamily="2" charset="0"/>
              </a:rPr>
              <a:t>Point of Contact: - Keith </a:t>
            </a:r>
            <a:r>
              <a:rPr lang="en-US" b="1" err="1">
                <a:effectLst/>
                <a:latin typeface="Helvetica Neue" panose="02000503000000020004" pitchFamily="2" charset="0"/>
              </a:rPr>
              <a:t>VanWarren</a:t>
            </a:r>
            <a:endParaRPr lang="en-US">
              <a:effectLst/>
              <a:latin typeface="Helvetica Neue" panose="02000503000000020004" pitchFamily="2" charset="0"/>
            </a:endParaRPr>
          </a:p>
          <a:p>
            <a:r>
              <a:rPr lang="en-US" b="1">
                <a:effectLst/>
                <a:latin typeface="Helvetica Neue" panose="02000503000000020004" pitchFamily="2" charset="0"/>
              </a:rPr>
              <a:t>Sector: Health Services</a:t>
            </a:r>
            <a:endParaRPr lang="en-US">
              <a:effectLst/>
              <a:latin typeface="Helvetica Neue" panose="02000503000000020004" pitchFamily="2" charset="0"/>
            </a:endParaRPr>
          </a:p>
          <a:p>
            <a:r>
              <a:rPr lang="en-US" b="1">
                <a:effectLst/>
                <a:latin typeface="Helvetica Neue" panose="02000503000000020004" pitchFamily="2" charset="0"/>
              </a:rPr>
              <a:t>Solution: CX, Experience</a:t>
            </a:r>
            <a:endParaRPr lang="en-US">
              <a:effectLst/>
              <a:latin typeface="Helvetica Neue" panose="02000503000000020004" pitchFamily="2" charset="0"/>
            </a:endParaRPr>
          </a:p>
          <a:p>
            <a:r>
              <a:rPr lang="en-US" b="1">
                <a:effectLst/>
                <a:latin typeface="Helvetica Neue" panose="02000503000000020004" pitchFamily="2" charset="0"/>
              </a:rPr>
              <a:t>Client: UHG Americas Health Group</a:t>
            </a:r>
            <a:endParaRPr lang="en-US">
              <a:effectLst/>
              <a:latin typeface="Helvetica Neue" panose="02000503000000020004" pitchFamily="2" charset="0"/>
            </a:endParaRPr>
          </a:p>
          <a:p>
            <a:r>
              <a:rPr lang="en-US" b="1">
                <a:effectLst/>
                <a:latin typeface="Helvetica Neue" panose="02000503000000020004" pitchFamily="2" charset="0"/>
              </a:rPr>
              <a:t>#Health #CX #Experience #Product #Cover </a:t>
            </a:r>
            <a:r>
              <a:rPr lang="en-US"/>
              <a:t>#</a:t>
            </a:r>
            <a:r>
              <a:rPr lang="en-US" err="1"/>
              <a:t>UHGAmericasHealthGroup</a:t>
            </a:r>
            <a:endParaRPr lang="en-US"/>
          </a:p>
          <a:p>
            <a:endParaRPr lang="en-US"/>
          </a:p>
        </p:txBody>
      </p:sp>
    </p:spTree>
    <p:extLst>
      <p:ext uri="{BB962C8B-B14F-4D97-AF65-F5344CB8AC3E}">
        <p14:creationId xmlns:p14="http://schemas.microsoft.com/office/powerpoint/2010/main" val="20610353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#UHGAmericasHealthGroup</a:t>
            </a:r>
          </a:p>
          <a:p>
            <a:endParaRPr lang="en-US"/>
          </a:p>
        </p:txBody>
      </p:sp>
    </p:spTree>
    <p:extLst>
      <p:ext uri="{BB962C8B-B14F-4D97-AF65-F5344CB8AC3E}">
        <p14:creationId xmlns:p14="http://schemas.microsoft.com/office/powerpoint/2010/main" val="28884153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effectLst/>
                <a:latin typeface="Helvetica Neue" panose="02000503000000020004" pitchFamily="2" charset="0"/>
              </a:rPr>
              <a:t>Point of Contact: - </a:t>
            </a:r>
            <a:endParaRPr lang="en-US">
              <a:effectLst/>
              <a:latin typeface="Helvetica Neue" panose="02000503000000020004" pitchFamily="2" charset="0"/>
            </a:endParaRPr>
          </a:p>
          <a:p>
            <a:r>
              <a:rPr lang="en-US" b="1">
                <a:effectLst/>
                <a:latin typeface="Helvetica Neue" panose="02000503000000020004" pitchFamily="2" charset="0"/>
              </a:rPr>
              <a:t>Sector: Health Services</a:t>
            </a:r>
            <a:endParaRPr lang="en-US">
              <a:effectLst/>
              <a:latin typeface="Helvetica Neue" panose="02000503000000020004" pitchFamily="2" charset="0"/>
            </a:endParaRPr>
          </a:p>
          <a:p>
            <a:r>
              <a:rPr lang="en-US" b="1">
                <a:effectLst/>
                <a:latin typeface="Helvetica Neue" panose="02000503000000020004" pitchFamily="2" charset="0"/>
              </a:rPr>
              <a:t>Solution: CX and Product</a:t>
            </a:r>
            <a:endParaRPr lang="en-US">
              <a:effectLst/>
              <a:latin typeface="Helvetica Neue" panose="02000503000000020004" pitchFamily="2" charset="0"/>
            </a:endParaRPr>
          </a:p>
          <a:p>
            <a:r>
              <a:rPr lang="en-US" b="1">
                <a:effectLst/>
                <a:latin typeface="Helvetica Neue" panose="02000503000000020004" pitchFamily="2" charset="0"/>
              </a:rPr>
              <a:t>Client: -</a:t>
            </a:r>
            <a:endParaRPr lang="en-US">
              <a:effectLst/>
              <a:latin typeface="Helvetica Neue" panose="02000503000000020004" pitchFamily="2" charset="0"/>
            </a:endParaRPr>
          </a:p>
          <a:p>
            <a:r>
              <a:rPr lang="en-US" b="1">
                <a:effectLst/>
                <a:latin typeface="Helvetica Neue" panose="02000503000000020004" pitchFamily="2" charset="0"/>
              </a:rPr>
              <a:t>#</a:t>
            </a:r>
            <a:r>
              <a:rPr lang="en-US" b="1" err="1">
                <a:effectLst/>
                <a:latin typeface="Helvetica Neue" panose="02000503000000020004" pitchFamily="2" charset="0"/>
              </a:rPr>
              <a:t>NoName</a:t>
            </a:r>
            <a:r>
              <a:rPr lang="en-US" b="1">
                <a:effectLst/>
                <a:latin typeface="Helvetica Neue" panose="02000503000000020004" pitchFamily="2" charset="0"/>
              </a:rPr>
              <a:t> #Health #CX #Product #Experience #Cover</a:t>
            </a:r>
            <a:endParaRPr lang="en-US"/>
          </a:p>
        </p:txBody>
      </p:sp>
    </p:spTree>
    <p:extLst>
      <p:ext uri="{BB962C8B-B14F-4D97-AF65-F5344CB8AC3E}">
        <p14:creationId xmlns:p14="http://schemas.microsoft.com/office/powerpoint/2010/main" val="495115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effectLst/>
                <a:latin typeface="Helvetica Neue" panose="02000503000000020004" pitchFamily="2" charset="0"/>
              </a:rPr>
              <a:t>Point of Contact: - </a:t>
            </a:r>
            <a:endParaRPr lang="en-US">
              <a:effectLst/>
              <a:latin typeface="Helvetica Neue" panose="02000503000000020004" pitchFamily="2" charset="0"/>
            </a:endParaRPr>
          </a:p>
          <a:p>
            <a:r>
              <a:rPr lang="en-US" b="1">
                <a:effectLst/>
                <a:latin typeface="Helvetica Neue" panose="02000503000000020004" pitchFamily="2" charset="0"/>
              </a:rPr>
              <a:t>Sector: Health Services</a:t>
            </a:r>
            <a:endParaRPr lang="en-US">
              <a:effectLst/>
              <a:latin typeface="Helvetica Neue" panose="02000503000000020004" pitchFamily="2" charset="0"/>
            </a:endParaRPr>
          </a:p>
          <a:p>
            <a:r>
              <a:rPr lang="en-US" b="1">
                <a:effectLst/>
                <a:latin typeface="Helvetica Neue" panose="02000503000000020004" pitchFamily="2" charset="0"/>
              </a:rPr>
              <a:t>Solution: CX and Product</a:t>
            </a:r>
            <a:endParaRPr lang="en-US">
              <a:effectLst/>
              <a:latin typeface="Helvetica Neue" panose="02000503000000020004" pitchFamily="2" charset="0"/>
            </a:endParaRPr>
          </a:p>
          <a:p>
            <a:r>
              <a:rPr lang="en-US" b="1">
                <a:effectLst/>
                <a:latin typeface="Helvetica Neue" panose="02000503000000020004" pitchFamily="2" charset="0"/>
              </a:rPr>
              <a:t>Client: -</a:t>
            </a:r>
            <a:endParaRPr lang="en-US">
              <a:effectLst/>
              <a:latin typeface="Helvetica Neue" panose="02000503000000020004" pitchFamily="2" charset="0"/>
            </a:endParaRPr>
          </a:p>
          <a:p>
            <a:r>
              <a:rPr lang="en-US" b="1">
                <a:effectLst/>
                <a:latin typeface="Helvetica Neue" panose="02000503000000020004" pitchFamily="2" charset="0"/>
              </a:rPr>
              <a:t>#</a:t>
            </a:r>
            <a:r>
              <a:rPr lang="en-US" b="1" err="1">
                <a:effectLst/>
                <a:latin typeface="Helvetica Neue" panose="02000503000000020004" pitchFamily="2" charset="0"/>
              </a:rPr>
              <a:t>NoName</a:t>
            </a:r>
            <a:r>
              <a:rPr lang="en-US" b="1">
                <a:effectLst/>
                <a:latin typeface="Helvetica Neue" panose="02000503000000020004" pitchFamily="2" charset="0"/>
              </a:rPr>
              <a:t> #Health #CX #Experience #Product #Reinvention #Cover</a:t>
            </a:r>
            <a:endParaRPr lang="en-US"/>
          </a:p>
          <a:p>
            <a:endParaRPr lang="en-US"/>
          </a:p>
        </p:txBody>
      </p:sp>
    </p:spTree>
    <p:extLst>
      <p:ext uri="{BB962C8B-B14F-4D97-AF65-F5344CB8AC3E}">
        <p14:creationId xmlns:p14="http://schemas.microsoft.com/office/powerpoint/2010/main" val="30068403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effectLst/>
                <a:latin typeface="Helvetica Neue" panose="02000503000000020004" pitchFamily="2" charset="0"/>
              </a:rPr>
              <a:t>Point of Contact: - </a:t>
            </a:r>
            <a:endParaRPr lang="en-US">
              <a:effectLst/>
              <a:latin typeface="Helvetica Neue" panose="02000503000000020004" pitchFamily="2" charset="0"/>
            </a:endParaRPr>
          </a:p>
          <a:p>
            <a:r>
              <a:rPr lang="en-US" b="1">
                <a:effectLst/>
                <a:latin typeface="Helvetica Neue" panose="02000503000000020004" pitchFamily="2" charset="0"/>
              </a:rPr>
              <a:t>Sector: Health Services</a:t>
            </a:r>
            <a:endParaRPr lang="en-US">
              <a:effectLst/>
              <a:latin typeface="Helvetica Neue" panose="02000503000000020004" pitchFamily="2" charset="0"/>
            </a:endParaRPr>
          </a:p>
          <a:p>
            <a:r>
              <a:rPr lang="en-US" b="1">
                <a:effectLst/>
                <a:latin typeface="Helvetica Neue" panose="02000503000000020004" pitchFamily="2" charset="0"/>
              </a:rPr>
              <a:t>Solution: CX</a:t>
            </a:r>
            <a:endParaRPr lang="en-US">
              <a:effectLst/>
              <a:latin typeface="Helvetica Neue" panose="02000503000000020004" pitchFamily="2" charset="0"/>
            </a:endParaRPr>
          </a:p>
          <a:p>
            <a:r>
              <a:rPr lang="en-US" b="1">
                <a:effectLst/>
                <a:latin typeface="Helvetica Neue" panose="02000503000000020004" pitchFamily="2" charset="0"/>
              </a:rPr>
              <a:t>Client: -</a:t>
            </a:r>
            <a:endParaRPr lang="en-US">
              <a:effectLst/>
              <a:latin typeface="Helvetica Neue" panose="02000503000000020004" pitchFamily="2" charset="0"/>
            </a:endParaRPr>
          </a:p>
          <a:p>
            <a:r>
              <a:rPr lang="en-US" b="1">
                <a:effectLst/>
                <a:latin typeface="Helvetica Neue" panose="02000503000000020004" pitchFamily="2" charset="0"/>
              </a:rPr>
              <a:t>#</a:t>
            </a:r>
            <a:r>
              <a:rPr lang="en-US" b="1" err="1">
                <a:effectLst/>
                <a:latin typeface="Helvetica Neue" panose="02000503000000020004" pitchFamily="2" charset="0"/>
              </a:rPr>
              <a:t>NoName</a:t>
            </a:r>
            <a:r>
              <a:rPr lang="en-US" b="1">
                <a:effectLst/>
                <a:latin typeface="Helvetica Neue" panose="02000503000000020004" pitchFamily="2" charset="0"/>
              </a:rPr>
              <a:t> #Health #CX #Cover</a:t>
            </a:r>
            <a:endParaRPr lang="en-US"/>
          </a:p>
          <a:p>
            <a:endParaRPr lang="en-US"/>
          </a:p>
          <a:p>
            <a:endParaRPr lang="en-US"/>
          </a:p>
        </p:txBody>
      </p:sp>
    </p:spTree>
    <p:extLst>
      <p:ext uri="{BB962C8B-B14F-4D97-AF65-F5344CB8AC3E}">
        <p14:creationId xmlns:p14="http://schemas.microsoft.com/office/powerpoint/2010/main" val="4526050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effectLst/>
                <a:latin typeface="Helvetica Neue" panose="02000503000000020004" pitchFamily="2" charset="0"/>
              </a:rPr>
              <a:t>Point of Contact: - </a:t>
            </a:r>
            <a:endParaRPr lang="en-US">
              <a:effectLst/>
              <a:latin typeface="Helvetica Neue" panose="02000503000000020004" pitchFamily="2" charset="0"/>
            </a:endParaRPr>
          </a:p>
          <a:p>
            <a:r>
              <a:rPr lang="en-US" b="1">
                <a:effectLst/>
                <a:latin typeface="Helvetica Neue" panose="02000503000000020004" pitchFamily="2" charset="0"/>
              </a:rPr>
              <a:t>Sector: Health Services</a:t>
            </a:r>
            <a:endParaRPr lang="en-US">
              <a:effectLst/>
              <a:latin typeface="Helvetica Neue" panose="02000503000000020004" pitchFamily="2" charset="0"/>
            </a:endParaRPr>
          </a:p>
          <a:p>
            <a:r>
              <a:rPr lang="en-US" b="1">
                <a:effectLst/>
                <a:latin typeface="Helvetica Neue" panose="02000503000000020004" pitchFamily="2" charset="0"/>
              </a:rPr>
              <a:t>Solution: Experience and Product</a:t>
            </a:r>
            <a:endParaRPr lang="en-US">
              <a:effectLst/>
              <a:latin typeface="Helvetica Neue" panose="02000503000000020004" pitchFamily="2" charset="0"/>
            </a:endParaRPr>
          </a:p>
          <a:p>
            <a:r>
              <a:rPr lang="en-US" b="1">
                <a:effectLst/>
                <a:latin typeface="Helvetica Neue" panose="02000503000000020004" pitchFamily="2" charset="0"/>
              </a:rPr>
              <a:t>Client: </a:t>
            </a:r>
            <a:r>
              <a:rPr lang="en-US" b="1" err="1">
                <a:effectLst/>
                <a:latin typeface="Helvetica Neue" panose="02000503000000020004" pitchFamily="2" charset="0"/>
              </a:rPr>
              <a:t>Mednet</a:t>
            </a:r>
            <a:endParaRPr lang="en-US">
              <a:effectLst/>
              <a:latin typeface="Helvetica Neue" panose="02000503000000020004" pitchFamily="2" charset="0"/>
            </a:endParaRPr>
          </a:p>
          <a:p>
            <a:r>
              <a:rPr lang="en-US" b="1">
                <a:effectLst/>
                <a:latin typeface="Helvetica Neue" panose="02000503000000020004" pitchFamily="2" charset="0"/>
              </a:rPr>
              <a:t>#</a:t>
            </a:r>
            <a:r>
              <a:rPr lang="en-US" b="1" err="1">
                <a:effectLst/>
                <a:latin typeface="Helvetica Neue" panose="02000503000000020004" pitchFamily="2" charset="0"/>
              </a:rPr>
              <a:t>Mednet</a:t>
            </a:r>
            <a:r>
              <a:rPr lang="en-US" b="1">
                <a:effectLst/>
                <a:latin typeface="Helvetica Neue" panose="02000503000000020004" pitchFamily="2" charset="0"/>
              </a:rPr>
              <a:t> #Health #Experience #Product #Cover</a:t>
            </a:r>
            <a:endParaRPr lang="en-US"/>
          </a:p>
        </p:txBody>
      </p:sp>
    </p:spTree>
    <p:extLst>
      <p:ext uri="{BB962C8B-B14F-4D97-AF65-F5344CB8AC3E}">
        <p14:creationId xmlns:p14="http://schemas.microsoft.com/office/powerpoint/2010/main" val="479137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effectLst/>
                <a:latin typeface="Helvetica Neue" panose="02000503000000020004" pitchFamily="2" charset="0"/>
              </a:rPr>
              <a:t>Point of Contact: - </a:t>
            </a:r>
            <a:endParaRPr lang="en-US">
              <a:effectLst/>
              <a:latin typeface="Helvetica Neue" panose="02000503000000020004" pitchFamily="2" charset="0"/>
            </a:endParaRPr>
          </a:p>
          <a:p>
            <a:r>
              <a:rPr lang="en-US" b="1">
                <a:effectLst/>
                <a:latin typeface="Helvetica Neue" panose="02000503000000020004" pitchFamily="2" charset="0"/>
              </a:rPr>
              <a:t>Sector: Health Services</a:t>
            </a:r>
            <a:endParaRPr lang="en-US">
              <a:effectLst/>
              <a:latin typeface="Helvetica Neue" panose="02000503000000020004" pitchFamily="2" charset="0"/>
            </a:endParaRPr>
          </a:p>
          <a:p>
            <a:r>
              <a:rPr lang="en-US" b="1">
                <a:effectLst/>
                <a:latin typeface="Helvetica Neue" panose="02000503000000020004" pitchFamily="2" charset="0"/>
              </a:rPr>
              <a:t>Solution: CX and Product</a:t>
            </a:r>
            <a:endParaRPr lang="en-US">
              <a:effectLst/>
              <a:latin typeface="Helvetica Neue" panose="02000503000000020004" pitchFamily="2" charset="0"/>
            </a:endParaRPr>
          </a:p>
          <a:p>
            <a:r>
              <a:rPr lang="en-US" b="1">
                <a:effectLst/>
                <a:latin typeface="Helvetica Neue" panose="02000503000000020004" pitchFamily="2" charset="0"/>
              </a:rPr>
              <a:t>Client: - UHC?</a:t>
            </a:r>
            <a:endParaRPr lang="en-US">
              <a:effectLst/>
              <a:latin typeface="Helvetica Neue" panose="02000503000000020004" pitchFamily="2" charset="0"/>
            </a:endParaRPr>
          </a:p>
          <a:p>
            <a:r>
              <a:rPr lang="en-US" b="1">
                <a:effectLst/>
                <a:latin typeface="Helvetica Neue" panose="02000503000000020004" pitchFamily="2" charset="0"/>
              </a:rPr>
              <a:t>#UHC #Health #CX #Product #Cover</a:t>
            </a:r>
            <a:endParaRPr lang="en-US"/>
          </a:p>
        </p:txBody>
      </p:sp>
    </p:spTree>
    <p:extLst>
      <p:ext uri="{BB962C8B-B14F-4D97-AF65-F5344CB8AC3E}">
        <p14:creationId xmlns:p14="http://schemas.microsoft.com/office/powerpoint/2010/main" val="625618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a:cs typeface="Calibri"/>
              </a:rPr>
              <a:t>#WCG #Initium</a:t>
            </a:r>
          </a:p>
        </p:txBody>
      </p:sp>
    </p:spTree>
    <p:extLst>
      <p:ext uri="{BB962C8B-B14F-4D97-AF65-F5344CB8AC3E}">
        <p14:creationId xmlns:p14="http://schemas.microsoft.com/office/powerpoint/2010/main" val="2529249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effectLst/>
                <a:latin typeface="Helvetica Neue" panose="02000503000000020004" pitchFamily="2" charset="0"/>
              </a:rPr>
              <a:t>Point of Contact: Rob Tannen, Katie Nolan, Greg </a:t>
            </a:r>
            <a:r>
              <a:rPr lang="en-US" b="1" err="1">
                <a:effectLst/>
                <a:latin typeface="Helvetica Neue" panose="02000503000000020004" pitchFamily="2" charset="0"/>
              </a:rPr>
              <a:t>Picarelli</a:t>
            </a:r>
            <a:endParaRPr lang="en-US">
              <a:effectLst/>
              <a:latin typeface="Helvetica Neue" panose="02000503000000020004" pitchFamily="2" charset="0"/>
            </a:endParaRPr>
          </a:p>
          <a:p>
            <a:r>
              <a:rPr lang="en-US" b="1">
                <a:effectLst/>
                <a:latin typeface="Helvetica Neue" panose="02000503000000020004" pitchFamily="2" charset="0"/>
              </a:rPr>
              <a:t>Sector: Health Services</a:t>
            </a:r>
            <a:endParaRPr lang="en-US">
              <a:effectLst/>
              <a:latin typeface="Helvetica Neue" panose="02000503000000020004" pitchFamily="2" charset="0"/>
            </a:endParaRPr>
          </a:p>
          <a:p>
            <a:r>
              <a:rPr lang="en-US" b="1">
                <a:effectLst/>
                <a:latin typeface="Helvetica Neue" panose="02000503000000020004" pitchFamily="2" charset="0"/>
              </a:rPr>
              <a:t>Solution: CX, Experience</a:t>
            </a:r>
            <a:endParaRPr lang="en-US">
              <a:effectLst/>
              <a:latin typeface="Helvetica Neue" panose="02000503000000020004" pitchFamily="2" charset="0"/>
            </a:endParaRPr>
          </a:p>
          <a:p>
            <a:r>
              <a:rPr lang="en-US" b="1">
                <a:effectLst/>
                <a:latin typeface="Helvetica Neue" panose="02000503000000020004" pitchFamily="2" charset="0"/>
              </a:rPr>
              <a:t>Client: Pfizer</a:t>
            </a:r>
            <a:endParaRPr lang="en-US">
              <a:effectLst/>
              <a:latin typeface="Helvetica Neue" panose="02000503000000020004" pitchFamily="2" charset="0"/>
            </a:endParaRPr>
          </a:p>
          <a:p>
            <a:r>
              <a:rPr lang="en-US" b="1">
                <a:effectLst/>
                <a:latin typeface="Helvetica Neue" panose="02000503000000020004" pitchFamily="2" charset="0"/>
              </a:rPr>
              <a:t>#Pfizer #Health #CX #Experience #Cover</a:t>
            </a:r>
            <a:endParaRPr lang="en-US"/>
          </a:p>
        </p:txBody>
      </p:sp>
    </p:spTree>
    <p:extLst>
      <p:ext uri="{BB962C8B-B14F-4D97-AF65-F5344CB8AC3E}">
        <p14:creationId xmlns:p14="http://schemas.microsoft.com/office/powerpoint/2010/main" val="31186558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effectLst/>
                <a:latin typeface="Helvetica Neue" panose="02000503000000020004" pitchFamily="2" charset="0"/>
              </a:rPr>
              <a:t>Point of Contact: Kristen </a:t>
            </a:r>
            <a:r>
              <a:rPr lang="en-US" b="1" err="1">
                <a:effectLst/>
                <a:latin typeface="Helvetica Neue" panose="02000503000000020004" pitchFamily="2" charset="0"/>
              </a:rPr>
              <a:t>Bishof</a:t>
            </a:r>
            <a:r>
              <a:rPr lang="en-US" b="1">
                <a:effectLst/>
                <a:latin typeface="Helvetica Neue" panose="02000503000000020004" pitchFamily="2" charset="0"/>
              </a:rPr>
              <a:t>, Dylan Floyd, Patricia Camden</a:t>
            </a:r>
            <a:endParaRPr lang="en-US">
              <a:effectLst/>
              <a:latin typeface="Helvetica Neue" panose="02000503000000020004" pitchFamily="2" charset="0"/>
            </a:endParaRPr>
          </a:p>
          <a:p>
            <a:r>
              <a:rPr lang="en-US" b="1">
                <a:effectLst/>
                <a:latin typeface="Helvetica Neue" panose="02000503000000020004" pitchFamily="2" charset="0"/>
              </a:rPr>
              <a:t>Sector: Health Services</a:t>
            </a:r>
            <a:endParaRPr lang="en-US">
              <a:effectLst/>
              <a:latin typeface="Helvetica Neue" panose="02000503000000020004" pitchFamily="2" charset="0"/>
            </a:endParaRPr>
          </a:p>
          <a:p>
            <a:r>
              <a:rPr lang="en-US" b="1">
                <a:effectLst/>
                <a:latin typeface="Helvetica Neue" panose="02000503000000020004" pitchFamily="2" charset="0"/>
              </a:rPr>
              <a:t>Solution: CX</a:t>
            </a:r>
            <a:endParaRPr lang="en-US">
              <a:effectLst/>
              <a:latin typeface="Helvetica Neue" panose="02000503000000020004" pitchFamily="2" charset="0"/>
            </a:endParaRPr>
          </a:p>
          <a:p>
            <a:r>
              <a:rPr lang="en-US" b="1">
                <a:effectLst/>
                <a:latin typeface="Helvetica Neue" panose="02000503000000020004" pitchFamily="2" charset="0"/>
              </a:rPr>
              <a:t>Client: Herbalife</a:t>
            </a:r>
            <a:endParaRPr lang="en-US">
              <a:effectLst/>
              <a:latin typeface="Helvetica Neue" panose="02000503000000020004" pitchFamily="2" charset="0"/>
            </a:endParaRPr>
          </a:p>
          <a:p>
            <a:r>
              <a:rPr lang="en-US" b="1">
                <a:effectLst/>
                <a:latin typeface="Helvetica Neue" panose="02000503000000020004" pitchFamily="2" charset="0"/>
              </a:rPr>
              <a:t>#Herbalife #Health #CX #Cover</a:t>
            </a:r>
            <a:endParaRPr lang="en-US"/>
          </a:p>
        </p:txBody>
      </p:sp>
    </p:spTree>
    <p:extLst>
      <p:ext uri="{BB962C8B-B14F-4D97-AF65-F5344CB8AC3E}">
        <p14:creationId xmlns:p14="http://schemas.microsoft.com/office/powerpoint/2010/main" val="3287403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effectLst/>
                <a:latin typeface="Helvetica Neue" panose="02000503000000020004" pitchFamily="2" charset="0"/>
              </a:rPr>
              <a:t>Point of Contact: Michelle </a:t>
            </a:r>
            <a:r>
              <a:rPr lang="en-US" b="1" err="1">
                <a:effectLst/>
                <a:latin typeface="Helvetica Neue" panose="02000503000000020004" pitchFamily="2" charset="0"/>
              </a:rPr>
              <a:t>Terng</a:t>
            </a:r>
            <a:r>
              <a:rPr lang="en-US" b="1">
                <a:effectLst/>
                <a:latin typeface="Helvetica Neue" panose="02000503000000020004" pitchFamily="2" charset="0"/>
              </a:rPr>
              <a:t>, William </a:t>
            </a:r>
            <a:r>
              <a:rPr lang="en-US" b="1" err="1">
                <a:effectLst/>
                <a:latin typeface="Helvetica Neue" panose="02000503000000020004" pitchFamily="2" charset="0"/>
              </a:rPr>
              <a:t>Scheideler</a:t>
            </a:r>
            <a:endParaRPr lang="en-US">
              <a:effectLst/>
              <a:latin typeface="Helvetica Neue" panose="02000503000000020004" pitchFamily="2" charset="0"/>
            </a:endParaRPr>
          </a:p>
          <a:p>
            <a:r>
              <a:rPr lang="en-US" b="1">
                <a:effectLst/>
                <a:latin typeface="Helvetica Neue" panose="02000503000000020004" pitchFamily="2" charset="0"/>
              </a:rPr>
              <a:t>Sector: Health Services</a:t>
            </a:r>
            <a:endParaRPr lang="en-US">
              <a:effectLst/>
              <a:latin typeface="Helvetica Neue" panose="02000503000000020004" pitchFamily="2" charset="0"/>
            </a:endParaRPr>
          </a:p>
          <a:p>
            <a:r>
              <a:rPr lang="en-US" b="1">
                <a:effectLst/>
                <a:latin typeface="Helvetica Neue" panose="02000503000000020004" pitchFamily="2" charset="0"/>
              </a:rPr>
              <a:t>Solution: CX</a:t>
            </a:r>
            <a:endParaRPr lang="en-US">
              <a:effectLst/>
              <a:latin typeface="Helvetica Neue" panose="02000503000000020004" pitchFamily="2" charset="0"/>
            </a:endParaRPr>
          </a:p>
          <a:p>
            <a:r>
              <a:rPr lang="en-US" b="1">
                <a:effectLst/>
                <a:latin typeface="Helvetica Neue" panose="02000503000000020004" pitchFamily="2" charset="0"/>
              </a:rPr>
              <a:t>Client: Walgreens</a:t>
            </a:r>
            <a:endParaRPr lang="en-US">
              <a:effectLst/>
              <a:latin typeface="Helvetica Neue" panose="02000503000000020004" pitchFamily="2" charset="0"/>
            </a:endParaRPr>
          </a:p>
          <a:p>
            <a:r>
              <a:rPr lang="en-US" b="1">
                <a:effectLst/>
                <a:latin typeface="Helvetica Neue" panose="02000503000000020004" pitchFamily="2" charset="0"/>
              </a:rPr>
              <a:t>#Walgreens #Health #CX #Cover</a:t>
            </a:r>
            <a:endParaRPr lang="en-US"/>
          </a:p>
          <a:p>
            <a:endParaRPr lang="en-US"/>
          </a:p>
          <a:p>
            <a:r>
              <a:rPr lang="en-US" b="0"/>
              <a:t>Source: case studies collection vol1 157-159</a:t>
            </a:r>
            <a:endParaRPr lang="en-US" b="0">
              <a:cs typeface="Calibri"/>
            </a:endParaRPr>
          </a:p>
        </p:txBody>
      </p:sp>
    </p:spTree>
    <p:extLst>
      <p:ext uri="{BB962C8B-B14F-4D97-AF65-F5344CB8AC3E}">
        <p14:creationId xmlns:p14="http://schemas.microsoft.com/office/powerpoint/2010/main" val="35373077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0"/>
              <a:t>#</a:t>
            </a:r>
            <a:r>
              <a:rPr lang="en-US" b="0" err="1"/>
              <a:t>Metrohealth</a:t>
            </a:r>
            <a:endParaRPr lang="en-US" b="0"/>
          </a:p>
        </p:txBody>
      </p:sp>
    </p:spTree>
    <p:extLst>
      <p:ext uri="{BB962C8B-B14F-4D97-AF65-F5344CB8AC3E}">
        <p14:creationId xmlns:p14="http://schemas.microsoft.com/office/powerpoint/2010/main" val="17123637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endParaRPr lang="en-US" b="0"/>
          </a:p>
        </p:txBody>
      </p:sp>
    </p:spTree>
    <p:extLst>
      <p:ext uri="{BB962C8B-B14F-4D97-AF65-F5344CB8AC3E}">
        <p14:creationId xmlns:p14="http://schemas.microsoft.com/office/powerpoint/2010/main" val="830436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effectLst/>
                <a:latin typeface="Helvetica Neue" panose="02000503000000020004" pitchFamily="2" charset="0"/>
              </a:rPr>
              <a:t>Point of Contact: - </a:t>
            </a:r>
            <a:endParaRPr lang="en-US">
              <a:effectLst/>
              <a:latin typeface="Helvetica Neue" panose="02000503000000020004" pitchFamily="2" charset="0"/>
            </a:endParaRPr>
          </a:p>
          <a:p>
            <a:r>
              <a:rPr lang="en-US" b="1">
                <a:effectLst/>
                <a:latin typeface="Helvetica Neue" panose="02000503000000020004" pitchFamily="2" charset="0"/>
              </a:rPr>
              <a:t>Sector: Health Services</a:t>
            </a:r>
            <a:endParaRPr lang="en-US">
              <a:effectLst/>
              <a:latin typeface="Helvetica Neue" panose="02000503000000020004" pitchFamily="2" charset="0"/>
            </a:endParaRPr>
          </a:p>
          <a:p>
            <a:r>
              <a:rPr lang="en-US" b="1">
                <a:effectLst/>
                <a:latin typeface="Helvetica Neue" panose="02000503000000020004" pitchFamily="2" charset="0"/>
              </a:rPr>
              <a:t>Solution: CX</a:t>
            </a:r>
            <a:endParaRPr lang="en-US">
              <a:effectLst/>
              <a:latin typeface="Helvetica Neue" panose="02000503000000020004" pitchFamily="2" charset="0"/>
            </a:endParaRPr>
          </a:p>
          <a:p>
            <a:r>
              <a:rPr lang="en-US" b="1">
                <a:effectLst/>
                <a:latin typeface="Helvetica Neue" panose="02000503000000020004" pitchFamily="2" charset="0"/>
              </a:rPr>
              <a:t>Client: Cisco</a:t>
            </a:r>
            <a:endParaRPr lang="en-US">
              <a:effectLst/>
              <a:latin typeface="Helvetica Neue" panose="02000503000000020004" pitchFamily="2" charset="0"/>
            </a:endParaRPr>
          </a:p>
          <a:p>
            <a:r>
              <a:rPr lang="en-US" b="1">
                <a:effectLst/>
                <a:latin typeface="Helvetica Neue" panose="02000503000000020004" pitchFamily="2" charset="0"/>
              </a:rPr>
              <a:t>#Cisco #Health #CX #Cover</a:t>
            </a:r>
            <a:endParaRPr lang="en-US"/>
          </a:p>
        </p:txBody>
      </p:sp>
    </p:spTree>
    <p:extLst>
      <p:ext uri="{BB962C8B-B14F-4D97-AF65-F5344CB8AC3E}">
        <p14:creationId xmlns:p14="http://schemas.microsoft.com/office/powerpoint/2010/main" val="35304915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3048000"/>
            <a:ext cx="14633576" cy="8231188"/>
          </a:xfrm>
          <a:prstGeom prst="rect">
            <a:avLst/>
          </a:prstGeom>
          <a:noFill/>
          <a:ln w="12700">
            <a:solidFill>
              <a:prstClr val="black"/>
            </a:solidFill>
          </a:ln>
        </p:spPr>
      </p:sp>
      <p:sp>
        <p:nvSpPr>
          <p:cNvPr id="3" name="Notes Placeholder 2"/>
          <p:cNvSpPr>
            <a:spLocks noGrp="1"/>
          </p:cNvSpPr>
          <p:nvPr>
            <p:ph type="body" idx="1"/>
          </p:nvPr>
        </p:nvSpPr>
        <p:spPr>
          <a:xfrm>
            <a:off x="1371600" y="11736388"/>
            <a:ext cx="10972800" cy="9602787"/>
          </a:xfrm>
          <a:prstGeom prst="rect">
            <a:avLst/>
          </a:prstGeom>
        </p:spPr>
        <p:txBody>
          <a:bodyPr/>
          <a:lstStyle/>
          <a:p>
            <a:r>
              <a:rPr lang="en-US" b="1">
                <a:effectLst/>
                <a:latin typeface="Helvetica Neue" panose="02000503000000020004" pitchFamily="2" charset="0"/>
              </a:rPr>
              <a:t>Point of Contact: - </a:t>
            </a:r>
            <a:endParaRPr lang="en-US">
              <a:effectLst/>
              <a:latin typeface="Helvetica Neue" panose="02000503000000020004" pitchFamily="2" charset="0"/>
            </a:endParaRPr>
          </a:p>
          <a:p>
            <a:r>
              <a:rPr lang="en-US" b="1">
                <a:effectLst/>
                <a:latin typeface="Helvetica Neue" panose="02000503000000020004" pitchFamily="2" charset="0"/>
              </a:rPr>
              <a:t>Sector: Health Services</a:t>
            </a:r>
            <a:endParaRPr lang="en-US">
              <a:effectLst/>
              <a:latin typeface="Helvetica Neue" panose="02000503000000020004" pitchFamily="2" charset="0"/>
            </a:endParaRPr>
          </a:p>
          <a:p>
            <a:r>
              <a:rPr lang="en-US" b="1">
                <a:effectLst/>
                <a:latin typeface="Helvetica Neue" panose="02000503000000020004" pitchFamily="2" charset="0"/>
              </a:rPr>
              <a:t>Solution: CX</a:t>
            </a:r>
            <a:endParaRPr lang="en-US">
              <a:effectLst/>
              <a:latin typeface="Helvetica Neue" panose="02000503000000020004" pitchFamily="2" charset="0"/>
            </a:endParaRPr>
          </a:p>
          <a:p>
            <a:r>
              <a:rPr lang="en-US" b="1">
                <a:effectLst/>
                <a:latin typeface="Helvetica Neue" panose="02000503000000020004" pitchFamily="2" charset="0"/>
              </a:rPr>
              <a:t>Client: Cigna</a:t>
            </a:r>
            <a:endParaRPr lang="en-US">
              <a:effectLst/>
              <a:latin typeface="Helvetica Neue" panose="02000503000000020004" pitchFamily="2" charset="0"/>
            </a:endParaRPr>
          </a:p>
          <a:p>
            <a:r>
              <a:rPr lang="en-US" b="1">
                <a:effectLst/>
                <a:latin typeface="Helvetica Neue" panose="02000503000000020004" pitchFamily="2" charset="0"/>
              </a:rPr>
              <a:t>#Cigna #Health #CX #Reinvention #Cover</a:t>
            </a:r>
            <a:endParaRPr lang="en-US"/>
          </a:p>
          <a:p>
            <a:endParaRPr lang="en-US"/>
          </a:p>
          <a:p>
            <a:r>
              <a:rPr lang="en-US" b="0"/>
              <a:t>Source: EYDS-</a:t>
            </a:r>
            <a:r>
              <a:rPr lang="en-US" b="0" err="1"/>
              <a:t>CaseStudies</a:t>
            </a:r>
            <a:r>
              <a:rPr lang="en-US" b="0"/>
              <a:t> </a:t>
            </a:r>
            <a:r>
              <a:rPr lang="en-US" b="0" err="1"/>
              <a:t>pg</a:t>
            </a:r>
            <a:r>
              <a:rPr lang="en-US" b="0"/>
              <a:t> 26 </a:t>
            </a:r>
          </a:p>
          <a:p>
            <a:endParaRPr lang="en-US" b="0"/>
          </a:p>
          <a:p>
            <a:endParaRPr lang="en-US" b="0"/>
          </a:p>
        </p:txBody>
      </p:sp>
    </p:spTree>
    <p:extLst>
      <p:ext uri="{BB962C8B-B14F-4D97-AF65-F5344CB8AC3E}">
        <p14:creationId xmlns:p14="http://schemas.microsoft.com/office/powerpoint/2010/main" val="407644242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8B045C-6338-20AC-D17F-C3EE52DB280C}"/>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24387175" cy="13716000"/>
          </a:xfrm>
          <a:prstGeom prst="rect">
            <a:avLst/>
          </a:prstGeom>
        </p:spPr>
      </p:pic>
      <p:grpSp>
        <p:nvGrpSpPr>
          <p:cNvPr id="5" name="Group 4">
            <a:extLst>
              <a:ext uri="{FF2B5EF4-FFF2-40B4-BE49-F238E27FC236}">
                <a16:creationId xmlns:a16="http://schemas.microsoft.com/office/drawing/2014/main" id="{3D8D2553-DCAF-2D9D-2138-FE4E794B7FFA}"/>
              </a:ext>
            </a:extLst>
          </p:cNvPr>
          <p:cNvGrpSpPr/>
          <p:nvPr userDrawn="1"/>
        </p:nvGrpSpPr>
        <p:grpSpPr>
          <a:xfrm>
            <a:off x="971677" y="12329266"/>
            <a:ext cx="9883157" cy="637540"/>
            <a:chOff x="485775" y="6164633"/>
            <a:chExt cx="4940935" cy="318770"/>
          </a:xfrm>
        </p:grpSpPr>
        <p:sp>
          <p:nvSpPr>
            <p:cNvPr id="297" name="Freeform 296">
              <a:extLst>
                <a:ext uri="{FF2B5EF4-FFF2-40B4-BE49-F238E27FC236}">
                  <a16:creationId xmlns:a16="http://schemas.microsoft.com/office/drawing/2014/main" id="{AD4E5D8B-12B4-19F3-17D4-D12BF368FC85}"/>
                </a:ext>
              </a:extLst>
            </p:cNvPr>
            <p:cNvSpPr/>
            <p:nvPr/>
          </p:nvSpPr>
          <p:spPr>
            <a:xfrm>
              <a:off x="485775" y="6164633"/>
              <a:ext cx="405765" cy="81280"/>
            </a:xfrm>
            <a:custGeom>
              <a:avLst/>
              <a:gdLst>
                <a:gd name="connsiteX0" fmla="*/ 324485 w 405765"/>
                <a:gd name="connsiteY0" fmla="*/ 0 h 81280"/>
                <a:gd name="connsiteX1" fmla="*/ 405765 w 405765"/>
                <a:gd name="connsiteY1" fmla="*/ 0 h 81280"/>
                <a:gd name="connsiteX2" fmla="*/ 405765 w 405765"/>
                <a:gd name="connsiteY2" fmla="*/ 81280 h 81280"/>
                <a:gd name="connsiteX3" fmla="*/ 324485 w 405765"/>
                <a:gd name="connsiteY3" fmla="*/ 81280 h 81280"/>
                <a:gd name="connsiteX4" fmla="*/ 161925 w 405765"/>
                <a:gd name="connsiteY4" fmla="*/ 0 h 81280"/>
                <a:gd name="connsiteX5" fmla="*/ 243205 w 405765"/>
                <a:gd name="connsiteY5" fmla="*/ 0 h 81280"/>
                <a:gd name="connsiteX6" fmla="*/ 243205 w 405765"/>
                <a:gd name="connsiteY6" fmla="*/ 81280 h 81280"/>
                <a:gd name="connsiteX7" fmla="*/ 161925 w 405765"/>
                <a:gd name="connsiteY7" fmla="*/ 81280 h 81280"/>
                <a:gd name="connsiteX8" fmla="*/ 0 w 405765"/>
                <a:gd name="connsiteY8" fmla="*/ 0 h 81280"/>
                <a:gd name="connsiteX9" fmla="*/ 81280 w 405765"/>
                <a:gd name="connsiteY9" fmla="*/ 0 h 81280"/>
                <a:gd name="connsiteX10" fmla="*/ 81280 w 405765"/>
                <a:gd name="connsiteY10" fmla="*/ 81280 h 81280"/>
                <a:gd name="connsiteX11" fmla="*/ 0 w 405765"/>
                <a:gd name="connsiteY11" fmla="*/ 81280 h 81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05765" h="81280">
                  <a:moveTo>
                    <a:pt x="324485" y="0"/>
                  </a:moveTo>
                  <a:lnTo>
                    <a:pt x="405765" y="0"/>
                  </a:lnTo>
                  <a:lnTo>
                    <a:pt x="405765" y="81280"/>
                  </a:lnTo>
                  <a:lnTo>
                    <a:pt x="324485" y="81280"/>
                  </a:lnTo>
                  <a:close/>
                  <a:moveTo>
                    <a:pt x="161925" y="0"/>
                  </a:moveTo>
                  <a:lnTo>
                    <a:pt x="243205" y="0"/>
                  </a:lnTo>
                  <a:lnTo>
                    <a:pt x="243205" y="81280"/>
                  </a:lnTo>
                  <a:lnTo>
                    <a:pt x="161925" y="81280"/>
                  </a:lnTo>
                  <a:close/>
                  <a:moveTo>
                    <a:pt x="0" y="0"/>
                  </a:moveTo>
                  <a:lnTo>
                    <a:pt x="81280" y="0"/>
                  </a:lnTo>
                  <a:lnTo>
                    <a:pt x="81280" y="81280"/>
                  </a:lnTo>
                  <a:lnTo>
                    <a:pt x="0" y="81280"/>
                  </a:lnTo>
                  <a:close/>
                </a:path>
              </a:pathLst>
            </a:custGeom>
            <a:solidFill>
              <a:srgbClr val="FFE600"/>
            </a:solidFill>
            <a:ln w="63500" cap="flat">
              <a:noFill/>
              <a:prstDash val="solid"/>
              <a:miter/>
            </a:ln>
          </p:spPr>
          <p:txBody>
            <a:bodyPr rtlCol="0" anchor="ctr"/>
            <a:lstStyle/>
            <a:p>
              <a:endParaRPr lang="en-US" sz="3600"/>
            </a:p>
          </p:txBody>
        </p:sp>
        <p:sp>
          <p:nvSpPr>
            <p:cNvPr id="298" name="Freeform 297">
              <a:extLst>
                <a:ext uri="{FF2B5EF4-FFF2-40B4-BE49-F238E27FC236}">
                  <a16:creationId xmlns:a16="http://schemas.microsoft.com/office/drawing/2014/main" id="{219789D6-6B07-F2E6-06BE-8CA9DC83E385}"/>
                </a:ext>
              </a:extLst>
            </p:cNvPr>
            <p:cNvSpPr/>
            <p:nvPr/>
          </p:nvSpPr>
          <p:spPr bwMode="black">
            <a:xfrm>
              <a:off x="485779" y="6344974"/>
              <a:ext cx="4940931" cy="138429"/>
            </a:xfrm>
            <a:custGeom>
              <a:avLst/>
              <a:gdLst>
                <a:gd name="connsiteX0" fmla="*/ 1032512 w 4940931"/>
                <a:gd name="connsiteY0" fmla="*/ 137477 h 138429"/>
                <a:gd name="connsiteX1" fmla="*/ 1032512 w 4940931"/>
                <a:gd name="connsiteY1" fmla="*/ 137794 h 138429"/>
                <a:gd name="connsiteX2" fmla="*/ 1030607 w 4940931"/>
                <a:gd name="connsiteY2" fmla="*/ 138429 h 138429"/>
                <a:gd name="connsiteX3" fmla="*/ 4929501 w 4940931"/>
                <a:gd name="connsiteY3" fmla="*/ 87629 h 138429"/>
                <a:gd name="connsiteX4" fmla="*/ 4933946 w 4940931"/>
                <a:gd name="connsiteY4" fmla="*/ 88264 h 138429"/>
                <a:gd name="connsiteX5" fmla="*/ 4937756 w 4940931"/>
                <a:gd name="connsiteY5" fmla="*/ 90804 h 138429"/>
                <a:gd name="connsiteX6" fmla="*/ 4940296 w 4940931"/>
                <a:gd name="connsiteY6" fmla="*/ 94614 h 138429"/>
                <a:gd name="connsiteX7" fmla="*/ 4940931 w 4940931"/>
                <a:gd name="connsiteY7" fmla="*/ 99059 h 138429"/>
                <a:gd name="connsiteX8" fmla="*/ 4940296 w 4940931"/>
                <a:gd name="connsiteY8" fmla="*/ 103504 h 138429"/>
                <a:gd name="connsiteX9" fmla="*/ 4937756 w 4940931"/>
                <a:gd name="connsiteY9" fmla="*/ 107314 h 138429"/>
                <a:gd name="connsiteX10" fmla="*/ 4933946 w 4940931"/>
                <a:gd name="connsiteY10" fmla="*/ 109854 h 138429"/>
                <a:gd name="connsiteX11" fmla="*/ 4929501 w 4940931"/>
                <a:gd name="connsiteY11" fmla="*/ 110489 h 138429"/>
                <a:gd name="connsiteX12" fmla="*/ 4925056 w 4940931"/>
                <a:gd name="connsiteY12" fmla="*/ 109854 h 138429"/>
                <a:gd name="connsiteX13" fmla="*/ 4921246 w 4940931"/>
                <a:gd name="connsiteY13" fmla="*/ 107314 h 138429"/>
                <a:gd name="connsiteX14" fmla="*/ 4918706 w 4940931"/>
                <a:gd name="connsiteY14" fmla="*/ 103504 h 138429"/>
                <a:gd name="connsiteX15" fmla="*/ 4918071 w 4940931"/>
                <a:gd name="connsiteY15" fmla="*/ 99059 h 138429"/>
                <a:gd name="connsiteX16" fmla="*/ 4918706 w 4940931"/>
                <a:gd name="connsiteY16" fmla="*/ 94614 h 138429"/>
                <a:gd name="connsiteX17" fmla="*/ 4921246 w 4940931"/>
                <a:gd name="connsiteY17" fmla="*/ 90804 h 138429"/>
                <a:gd name="connsiteX18" fmla="*/ 4925056 w 4940931"/>
                <a:gd name="connsiteY18" fmla="*/ 88264 h 138429"/>
                <a:gd name="connsiteX19" fmla="*/ 4929501 w 4940931"/>
                <a:gd name="connsiteY19" fmla="*/ 87629 h 138429"/>
                <a:gd name="connsiteX20" fmla="*/ 3079110 w 4940931"/>
                <a:gd name="connsiteY20" fmla="*/ 87629 h 138429"/>
                <a:gd name="connsiteX21" fmla="*/ 3083555 w 4940931"/>
                <a:gd name="connsiteY21" fmla="*/ 88264 h 138429"/>
                <a:gd name="connsiteX22" fmla="*/ 3087365 w 4940931"/>
                <a:gd name="connsiteY22" fmla="*/ 90804 h 138429"/>
                <a:gd name="connsiteX23" fmla="*/ 3089905 w 4940931"/>
                <a:gd name="connsiteY23" fmla="*/ 94614 h 138429"/>
                <a:gd name="connsiteX24" fmla="*/ 3090540 w 4940931"/>
                <a:gd name="connsiteY24" fmla="*/ 99059 h 138429"/>
                <a:gd name="connsiteX25" fmla="*/ 3089905 w 4940931"/>
                <a:gd name="connsiteY25" fmla="*/ 103504 h 138429"/>
                <a:gd name="connsiteX26" fmla="*/ 3087365 w 4940931"/>
                <a:gd name="connsiteY26" fmla="*/ 107314 h 138429"/>
                <a:gd name="connsiteX27" fmla="*/ 3083555 w 4940931"/>
                <a:gd name="connsiteY27" fmla="*/ 109854 h 138429"/>
                <a:gd name="connsiteX28" fmla="*/ 3079110 w 4940931"/>
                <a:gd name="connsiteY28" fmla="*/ 110489 h 138429"/>
                <a:gd name="connsiteX29" fmla="*/ 3074665 w 4940931"/>
                <a:gd name="connsiteY29" fmla="*/ 109854 h 138429"/>
                <a:gd name="connsiteX30" fmla="*/ 3070855 w 4940931"/>
                <a:gd name="connsiteY30" fmla="*/ 107314 h 138429"/>
                <a:gd name="connsiteX31" fmla="*/ 3068315 w 4940931"/>
                <a:gd name="connsiteY31" fmla="*/ 103504 h 138429"/>
                <a:gd name="connsiteX32" fmla="*/ 3067680 w 4940931"/>
                <a:gd name="connsiteY32" fmla="*/ 99059 h 138429"/>
                <a:gd name="connsiteX33" fmla="*/ 3068315 w 4940931"/>
                <a:gd name="connsiteY33" fmla="*/ 94614 h 138429"/>
                <a:gd name="connsiteX34" fmla="*/ 3070855 w 4940931"/>
                <a:gd name="connsiteY34" fmla="*/ 90804 h 138429"/>
                <a:gd name="connsiteX35" fmla="*/ 3074665 w 4940931"/>
                <a:gd name="connsiteY35" fmla="*/ 88264 h 138429"/>
                <a:gd name="connsiteX36" fmla="*/ 3079110 w 4940931"/>
                <a:gd name="connsiteY36" fmla="*/ 87629 h 138429"/>
                <a:gd name="connsiteX37" fmla="*/ 1565275 w 4940931"/>
                <a:gd name="connsiteY37" fmla="*/ 87629 h 138429"/>
                <a:gd name="connsiteX38" fmla="*/ 1569720 w 4940931"/>
                <a:gd name="connsiteY38" fmla="*/ 88264 h 138429"/>
                <a:gd name="connsiteX39" fmla="*/ 1573529 w 4940931"/>
                <a:gd name="connsiteY39" fmla="*/ 90804 h 138429"/>
                <a:gd name="connsiteX40" fmla="*/ 1576069 w 4940931"/>
                <a:gd name="connsiteY40" fmla="*/ 94614 h 138429"/>
                <a:gd name="connsiteX41" fmla="*/ 1576705 w 4940931"/>
                <a:gd name="connsiteY41" fmla="*/ 99059 h 138429"/>
                <a:gd name="connsiteX42" fmla="*/ 1576069 w 4940931"/>
                <a:gd name="connsiteY42" fmla="*/ 103504 h 138429"/>
                <a:gd name="connsiteX43" fmla="*/ 1573529 w 4940931"/>
                <a:gd name="connsiteY43" fmla="*/ 107314 h 138429"/>
                <a:gd name="connsiteX44" fmla="*/ 1569720 w 4940931"/>
                <a:gd name="connsiteY44" fmla="*/ 109854 h 138429"/>
                <a:gd name="connsiteX45" fmla="*/ 1565275 w 4940931"/>
                <a:gd name="connsiteY45" fmla="*/ 110489 h 138429"/>
                <a:gd name="connsiteX46" fmla="*/ 1560830 w 4940931"/>
                <a:gd name="connsiteY46" fmla="*/ 109854 h 138429"/>
                <a:gd name="connsiteX47" fmla="*/ 1557020 w 4940931"/>
                <a:gd name="connsiteY47" fmla="*/ 107314 h 138429"/>
                <a:gd name="connsiteX48" fmla="*/ 1554479 w 4940931"/>
                <a:gd name="connsiteY48" fmla="*/ 103504 h 138429"/>
                <a:gd name="connsiteX49" fmla="*/ 1553844 w 4940931"/>
                <a:gd name="connsiteY49" fmla="*/ 99059 h 138429"/>
                <a:gd name="connsiteX50" fmla="*/ 1554479 w 4940931"/>
                <a:gd name="connsiteY50" fmla="*/ 94614 h 138429"/>
                <a:gd name="connsiteX51" fmla="*/ 1557020 w 4940931"/>
                <a:gd name="connsiteY51" fmla="*/ 90804 h 138429"/>
                <a:gd name="connsiteX52" fmla="*/ 1560830 w 4940931"/>
                <a:gd name="connsiteY52" fmla="*/ 88264 h 138429"/>
                <a:gd name="connsiteX53" fmla="*/ 1565275 w 4940931"/>
                <a:gd name="connsiteY53" fmla="*/ 87629 h 138429"/>
                <a:gd name="connsiteX54" fmla="*/ 2642230 w 4940931"/>
                <a:gd name="connsiteY54" fmla="*/ 73024 h 138429"/>
                <a:gd name="connsiteX55" fmla="*/ 2630800 w 4940931"/>
                <a:gd name="connsiteY55" fmla="*/ 76199 h 138429"/>
                <a:gd name="connsiteX56" fmla="*/ 2626355 w 4940931"/>
                <a:gd name="connsiteY56" fmla="*/ 84454 h 138429"/>
                <a:gd name="connsiteX57" fmla="*/ 2627625 w 4940931"/>
                <a:gd name="connsiteY57" fmla="*/ 90169 h 138429"/>
                <a:gd name="connsiteX58" fmla="*/ 2630800 w 4940931"/>
                <a:gd name="connsiteY58" fmla="*/ 93979 h 138429"/>
                <a:gd name="connsiteX59" fmla="*/ 2635245 w 4940931"/>
                <a:gd name="connsiteY59" fmla="*/ 96519 h 138429"/>
                <a:gd name="connsiteX60" fmla="*/ 2641595 w 4940931"/>
                <a:gd name="connsiteY60" fmla="*/ 97154 h 138429"/>
                <a:gd name="connsiteX61" fmla="*/ 2647310 w 4940931"/>
                <a:gd name="connsiteY61" fmla="*/ 96519 h 138429"/>
                <a:gd name="connsiteX62" fmla="*/ 2652390 w 4940931"/>
                <a:gd name="connsiteY62" fmla="*/ 93979 h 138429"/>
                <a:gd name="connsiteX63" fmla="*/ 2656835 w 4940931"/>
                <a:gd name="connsiteY63" fmla="*/ 90804 h 138429"/>
                <a:gd name="connsiteX64" fmla="*/ 2660010 w 4940931"/>
                <a:gd name="connsiteY64" fmla="*/ 86994 h 138429"/>
                <a:gd name="connsiteX65" fmla="*/ 2660010 w 4940931"/>
                <a:gd name="connsiteY65" fmla="*/ 75564 h 138429"/>
                <a:gd name="connsiteX66" fmla="*/ 2656200 w 4940931"/>
                <a:gd name="connsiteY66" fmla="*/ 74294 h 138429"/>
                <a:gd name="connsiteX67" fmla="*/ 2652390 w 4940931"/>
                <a:gd name="connsiteY67" fmla="*/ 73659 h 138429"/>
                <a:gd name="connsiteX68" fmla="*/ 2647945 w 4940931"/>
                <a:gd name="connsiteY68" fmla="*/ 73024 h 138429"/>
                <a:gd name="connsiteX69" fmla="*/ 2642230 w 4940931"/>
                <a:gd name="connsiteY69" fmla="*/ 73024 h 138429"/>
                <a:gd name="connsiteX70" fmla="*/ 4664706 w 4940931"/>
                <a:gd name="connsiteY70" fmla="*/ 43814 h 138429"/>
                <a:gd name="connsiteX71" fmla="*/ 4657086 w 4940931"/>
                <a:gd name="connsiteY71" fmla="*/ 45719 h 138429"/>
                <a:gd name="connsiteX72" fmla="*/ 4651371 w 4940931"/>
                <a:gd name="connsiteY72" fmla="*/ 50799 h 138429"/>
                <a:gd name="connsiteX73" fmla="*/ 4647561 w 4940931"/>
                <a:gd name="connsiteY73" fmla="*/ 59054 h 138429"/>
                <a:gd name="connsiteX74" fmla="*/ 4646291 w 4940931"/>
                <a:gd name="connsiteY74" fmla="*/ 69849 h 138429"/>
                <a:gd name="connsiteX75" fmla="*/ 4647561 w 4940931"/>
                <a:gd name="connsiteY75" fmla="*/ 81279 h 138429"/>
                <a:gd name="connsiteX76" fmla="*/ 4651371 w 4940931"/>
                <a:gd name="connsiteY76" fmla="*/ 89534 h 138429"/>
                <a:gd name="connsiteX77" fmla="*/ 4657721 w 4940931"/>
                <a:gd name="connsiteY77" fmla="*/ 94614 h 138429"/>
                <a:gd name="connsiteX78" fmla="*/ 4665341 w 4940931"/>
                <a:gd name="connsiteY78" fmla="*/ 96519 h 138429"/>
                <a:gd name="connsiteX79" fmla="*/ 4672961 w 4940931"/>
                <a:gd name="connsiteY79" fmla="*/ 94614 h 138429"/>
                <a:gd name="connsiteX80" fmla="*/ 4678676 w 4940931"/>
                <a:gd name="connsiteY80" fmla="*/ 88899 h 138429"/>
                <a:gd name="connsiteX81" fmla="*/ 4682486 w 4940931"/>
                <a:gd name="connsiteY81" fmla="*/ 80644 h 138429"/>
                <a:gd name="connsiteX82" fmla="*/ 4683756 w 4940931"/>
                <a:gd name="connsiteY82" fmla="*/ 70484 h 138429"/>
                <a:gd name="connsiteX83" fmla="*/ 4684391 w 4940931"/>
                <a:gd name="connsiteY83" fmla="*/ 69849 h 138429"/>
                <a:gd name="connsiteX84" fmla="*/ 4683121 w 4940931"/>
                <a:gd name="connsiteY84" fmla="*/ 59054 h 138429"/>
                <a:gd name="connsiteX85" fmla="*/ 4679311 w 4940931"/>
                <a:gd name="connsiteY85" fmla="*/ 50799 h 138429"/>
                <a:gd name="connsiteX86" fmla="*/ 4672961 w 4940931"/>
                <a:gd name="connsiteY86" fmla="*/ 45719 h 138429"/>
                <a:gd name="connsiteX87" fmla="*/ 4664706 w 4940931"/>
                <a:gd name="connsiteY87" fmla="*/ 43814 h 138429"/>
                <a:gd name="connsiteX88" fmla="*/ 4264020 w 4940931"/>
                <a:gd name="connsiteY88" fmla="*/ 43814 h 138429"/>
                <a:gd name="connsiteX89" fmla="*/ 4256400 w 4940931"/>
                <a:gd name="connsiteY89" fmla="*/ 45719 h 138429"/>
                <a:gd name="connsiteX90" fmla="*/ 4250685 w 4940931"/>
                <a:gd name="connsiteY90" fmla="*/ 50799 h 138429"/>
                <a:gd name="connsiteX91" fmla="*/ 4246875 w 4940931"/>
                <a:gd name="connsiteY91" fmla="*/ 59054 h 138429"/>
                <a:gd name="connsiteX92" fmla="*/ 4245605 w 4940931"/>
                <a:gd name="connsiteY92" fmla="*/ 69849 h 138429"/>
                <a:gd name="connsiteX93" fmla="*/ 4246875 w 4940931"/>
                <a:gd name="connsiteY93" fmla="*/ 81279 h 138429"/>
                <a:gd name="connsiteX94" fmla="*/ 4250685 w 4940931"/>
                <a:gd name="connsiteY94" fmla="*/ 89534 h 138429"/>
                <a:gd name="connsiteX95" fmla="*/ 4257035 w 4940931"/>
                <a:gd name="connsiteY95" fmla="*/ 94614 h 138429"/>
                <a:gd name="connsiteX96" fmla="*/ 4264655 w 4940931"/>
                <a:gd name="connsiteY96" fmla="*/ 96519 h 138429"/>
                <a:gd name="connsiteX97" fmla="*/ 4272275 w 4940931"/>
                <a:gd name="connsiteY97" fmla="*/ 94614 h 138429"/>
                <a:gd name="connsiteX98" fmla="*/ 4277990 w 4940931"/>
                <a:gd name="connsiteY98" fmla="*/ 88899 h 138429"/>
                <a:gd name="connsiteX99" fmla="*/ 4281800 w 4940931"/>
                <a:gd name="connsiteY99" fmla="*/ 80644 h 138429"/>
                <a:gd name="connsiteX100" fmla="*/ 4283070 w 4940931"/>
                <a:gd name="connsiteY100" fmla="*/ 70484 h 138429"/>
                <a:gd name="connsiteX101" fmla="*/ 4283705 w 4940931"/>
                <a:gd name="connsiteY101" fmla="*/ 69849 h 138429"/>
                <a:gd name="connsiteX102" fmla="*/ 4282435 w 4940931"/>
                <a:gd name="connsiteY102" fmla="*/ 59054 h 138429"/>
                <a:gd name="connsiteX103" fmla="*/ 4278625 w 4940931"/>
                <a:gd name="connsiteY103" fmla="*/ 50799 h 138429"/>
                <a:gd name="connsiteX104" fmla="*/ 4272275 w 4940931"/>
                <a:gd name="connsiteY104" fmla="*/ 45719 h 138429"/>
                <a:gd name="connsiteX105" fmla="*/ 4264020 w 4940931"/>
                <a:gd name="connsiteY105" fmla="*/ 43814 h 138429"/>
                <a:gd name="connsiteX106" fmla="*/ 1420495 w 4940931"/>
                <a:gd name="connsiteY106" fmla="*/ 43814 h 138429"/>
                <a:gd name="connsiteX107" fmla="*/ 1412875 w 4940931"/>
                <a:gd name="connsiteY107" fmla="*/ 45719 h 138429"/>
                <a:gd name="connsiteX108" fmla="*/ 1407160 w 4940931"/>
                <a:gd name="connsiteY108" fmla="*/ 50799 h 138429"/>
                <a:gd name="connsiteX109" fmla="*/ 1403350 w 4940931"/>
                <a:gd name="connsiteY109" fmla="*/ 59054 h 138429"/>
                <a:gd name="connsiteX110" fmla="*/ 1402080 w 4940931"/>
                <a:gd name="connsiteY110" fmla="*/ 69849 h 138429"/>
                <a:gd name="connsiteX111" fmla="*/ 1403350 w 4940931"/>
                <a:gd name="connsiteY111" fmla="*/ 81279 h 138429"/>
                <a:gd name="connsiteX112" fmla="*/ 1407160 w 4940931"/>
                <a:gd name="connsiteY112" fmla="*/ 89534 h 138429"/>
                <a:gd name="connsiteX113" fmla="*/ 1413510 w 4940931"/>
                <a:gd name="connsiteY113" fmla="*/ 94614 h 138429"/>
                <a:gd name="connsiteX114" fmla="*/ 1421130 w 4940931"/>
                <a:gd name="connsiteY114" fmla="*/ 96519 h 138429"/>
                <a:gd name="connsiteX115" fmla="*/ 1428750 w 4940931"/>
                <a:gd name="connsiteY115" fmla="*/ 94614 h 138429"/>
                <a:gd name="connsiteX116" fmla="*/ 1434465 w 4940931"/>
                <a:gd name="connsiteY116" fmla="*/ 88899 h 138429"/>
                <a:gd name="connsiteX117" fmla="*/ 1438275 w 4940931"/>
                <a:gd name="connsiteY117" fmla="*/ 80644 h 138429"/>
                <a:gd name="connsiteX118" fmla="*/ 1439545 w 4940931"/>
                <a:gd name="connsiteY118" fmla="*/ 70484 h 138429"/>
                <a:gd name="connsiteX119" fmla="*/ 1440180 w 4940931"/>
                <a:gd name="connsiteY119" fmla="*/ 69849 h 138429"/>
                <a:gd name="connsiteX120" fmla="*/ 1438910 w 4940931"/>
                <a:gd name="connsiteY120" fmla="*/ 59054 h 138429"/>
                <a:gd name="connsiteX121" fmla="*/ 1435100 w 4940931"/>
                <a:gd name="connsiteY121" fmla="*/ 50799 h 138429"/>
                <a:gd name="connsiteX122" fmla="*/ 1428750 w 4940931"/>
                <a:gd name="connsiteY122" fmla="*/ 45719 h 138429"/>
                <a:gd name="connsiteX123" fmla="*/ 1420495 w 4940931"/>
                <a:gd name="connsiteY123" fmla="*/ 43814 h 138429"/>
                <a:gd name="connsiteX124" fmla="*/ 4041770 w 4940931"/>
                <a:gd name="connsiteY124" fmla="*/ 43180 h 138429"/>
                <a:gd name="connsiteX125" fmla="*/ 4034785 w 4940931"/>
                <a:gd name="connsiteY125" fmla="*/ 44450 h 138429"/>
                <a:gd name="connsiteX126" fmla="*/ 4029705 w 4940931"/>
                <a:gd name="connsiteY126" fmla="*/ 48260 h 138429"/>
                <a:gd name="connsiteX127" fmla="*/ 4025895 w 4940931"/>
                <a:gd name="connsiteY127" fmla="*/ 54610 h 138429"/>
                <a:gd name="connsiteX128" fmla="*/ 4023990 w 4940931"/>
                <a:gd name="connsiteY128" fmla="*/ 62865 h 138429"/>
                <a:gd name="connsiteX129" fmla="*/ 4060185 w 4940931"/>
                <a:gd name="connsiteY129" fmla="*/ 62865 h 138429"/>
                <a:gd name="connsiteX130" fmla="*/ 4058915 w 4940931"/>
                <a:gd name="connsiteY130" fmla="*/ 55245 h 138429"/>
                <a:gd name="connsiteX131" fmla="*/ 4055740 w 4940931"/>
                <a:gd name="connsiteY131" fmla="*/ 48895 h 138429"/>
                <a:gd name="connsiteX132" fmla="*/ 4050025 w 4940931"/>
                <a:gd name="connsiteY132" fmla="*/ 44450 h 138429"/>
                <a:gd name="connsiteX133" fmla="*/ 4041770 w 4940931"/>
                <a:gd name="connsiteY133" fmla="*/ 43180 h 138429"/>
                <a:gd name="connsiteX134" fmla="*/ 3728081 w 4940931"/>
                <a:gd name="connsiteY134" fmla="*/ 43180 h 138429"/>
                <a:gd name="connsiteX135" fmla="*/ 3721096 w 4940931"/>
                <a:gd name="connsiteY135" fmla="*/ 44450 h 138429"/>
                <a:gd name="connsiteX136" fmla="*/ 3716016 w 4940931"/>
                <a:gd name="connsiteY136" fmla="*/ 48260 h 138429"/>
                <a:gd name="connsiteX137" fmla="*/ 3712206 w 4940931"/>
                <a:gd name="connsiteY137" fmla="*/ 54610 h 138429"/>
                <a:gd name="connsiteX138" fmla="*/ 3710301 w 4940931"/>
                <a:gd name="connsiteY138" fmla="*/ 62865 h 138429"/>
                <a:gd name="connsiteX139" fmla="*/ 3746496 w 4940931"/>
                <a:gd name="connsiteY139" fmla="*/ 62865 h 138429"/>
                <a:gd name="connsiteX140" fmla="*/ 3745226 w 4940931"/>
                <a:gd name="connsiteY140" fmla="*/ 55245 h 138429"/>
                <a:gd name="connsiteX141" fmla="*/ 3742051 w 4940931"/>
                <a:gd name="connsiteY141" fmla="*/ 48895 h 138429"/>
                <a:gd name="connsiteX142" fmla="*/ 3736336 w 4940931"/>
                <a:gd name="connsiteY142" fmla="*/ 44450 h 138429"/>
                <a:gd name="connsiteX143" fmla="*/ 3728081 w 4940931"/>
                <a:gd name="connsiteY143" fmla="*/ 43180 h 138429"/>
                <a:gd name="connsiteX144" fmla="*/ 3541391 w 4940931"/>
                <a:gd name="connsiteY144" fmla="*/ 43180 h 138429"/>
                <a:gd name="connsiteX145" fmla="*/ 3534406 w 4940931"/>
                <a:gd name="connsiteY145" fmla="*/ 44450 h 138429"/>
                <a:gd name="connsiteX146" fmla="*/ 3529326 w 4940931"/>
                <a:gd name="connsiteY146" fmla="*/ 48260 h 138429"/>
                <a:gd name="connsiteX147" fmla="*/ 3525516 w 4940931"/>
                <a:gd name="connsiteY147" fmla="*/ 54610 h 138429"/>
                <a:gd name="connsiteX148" fmla="*/ 3523611 w 4940931"/>
                <a:gd name="connsiteY148" fmla="*/ 62865 h 138429"/>
                <a:gd name="connsiteX149" fmla="*/ 3559806 w 4940931"/>
                <a:gd name="connsiteY149" fmla="*/ 62865 h 138429"/>
                <a:gd name="connsiteX150" fmla="*/ 3558536 w 4940931"/>
                <a:gd name="connsiteY150" fmla="*/ 55245 h 138429"/>
                <a:gd name="connsiteX151" fmla="*/ 3555361 w 4940931"/>
                <a:gd name="connsiteY151" fmla="*/ 48895 h 138429"/>
                <a:gd name="connsiteX152" fmla="*/ 3549646 w 4940931"/>
                <a:gd name="connsiteY152" fmla="*/ 44450 h 138429"/>
                <a:gd name="connsiteX153" fmla="*/ 3541391 w 4940931"/>
                <a:gd name="connsiteY153" fmla="*/ 43180 h 138429"/>
                <a:gd name="connsiteX154" fmla="*/ 3463285 w 4940931"/>
                <a:gd name="connsiteY154" fmla="*/ 43180 h 138429"/>
                <a:gd name="connsiteX155" fmla="*/ 3458205 w 4940931"/>
                <a:gd name="connsiteY155" fmla="*/ 43815 h 138429"/>
                <a:gd name="connsiteX156" fmla="*/ 3453125 w 4940931"/>
                <a:gd name="connsiteY156" fmla="*/ 45720 h 138429"/>
                <a:gd name="connsiteX157" fmla="*/ 3448680 w 4940931"/>
                <a:gd name="connsiteY157" fmla="*/ 48895 h 138429"/>
                <a:gd name="connsiteX158" fmla="*/ 3445505 w 4940931"/>
                <a:gd name="connsiteY158" fmla="*/ 52705 h 138429"/>
                <a:gd name="connsiteX159" fmla="*/ 3445505 w 4940931"/>
                <a:gd name="connsiteY159" fmla="*/ 85725 h 138429"/>
                <a:gd name="connsiteX160" fmla="*/ 3448680 w 4940931"/>
                <a:gd name="connsiteY160" fmla="*/ 89535 h 138429"/>
                <a:gd name="connsiteX161" fmla="*/ 3453125 w 4940931"/>
                <a:gd name="connsiteY161" fmla="*/ 92710 h 138429"/>
                <a:gd name="connsiteX162" fmla="*/ 3458205 w 4940931"/>
                <a:gd name="connsiteY162" fmla="*/ 95250 h 138429"/>
                <a:gd name="connsiteX163" fmla="*/ 3463920 w 4940931"/>
                <a:gd name="connsiteY163" fmla="*/ 95885 h 138429"/>
                <a:gd name="connsiteX164" fmla="*/ 3476620 w 4940931"/>
                <a:gd name="connsiteY164" fmla="*/ 89535 h 138429"/>
                <a:gd name="connsiteX165" fmla="*/ 3481065 w 4940931"/>
                <a:gd name="connsiteY165" fmla="*/ 71120 h 138429"/>
                <a:gd name="connsiteX166" fmla="*/ 3480430 w 4940931"/>
                <a:gd name="connsiteY166" fmla="*/ 71755 h 138429"/>
                <a:gd name="connsiteX167" fmla="*/ 3475985 w 4940931"/>
                <a:gd name="connsiteY167" fmla="*/ 50165 h 138429"/>
                <a:gd name="connsiteX168" fmla="*/ 3463285 w 4940931"/>
                <a:gd name="connsiteY168" fmla="*/ 43180 h 138429"/>
                <a:gd name="connsiteX169" fmla="*/ 3343271 w 4940931"/>
                <a:gd name="connsiteY169" fmla="*/ 43180 h 138429"/>
                <a:gd name="connsiteX170" fmla="*/ 3336286 w 4940931"/>
                <a:gd name="connsiteY170" fmla="*/ 44450 h 138429"/>
                <a:gd name="connsiteX171" fmla="*/ 3331206 w 4940931"/>
                <a:gd name="connsiteY171" fmla="*/ 48260 h 138429"/>
                <a:gd name="connsiteX172" fmla="*/ 3327396 w 4940931"/>
                <a:gd name="connsiteY172" fmla="*/ 54610 h 138429"/>
                <a:gd name="connsiteX173" fmla="*/ 3325491 w 4940931"/>
                <a:gd name="connsiteY173" fmla="*/ 62865 h 138429"/>
                <a:gd name="connsiteX174" fmla="*/ 3361686 w 4940931"/>
                <a:gd name="connsiteY174" fmla="*/ 62865 h 138429"/>
                <a:gd name="connsiteX175" fmla="*/ 3360416 w 4940931"/>
                <a:gd name="connsiteY175" fmla="*/ 55245 h 138429"/>
                <a:gd name="connsiteX176" fmla="*/ 3357241 w 4940931"/>
                <a:gd name="connsiteY176" fmla="*/ 48895 h 138429"/>
                <a:gd name="connsiteX177" fmla="*/ 3351526 w 4940931"/>
                <a:gd name="connsiteY177" fmla="*/ 44450 h 138429"/>
                <a:gd name="connsiteX178" fmla="*/ 3343271 w 4940931"/>
                <a:gd name="connsiteY178" fmla="*/ 43180 h 138429"/>
                <a:gd name="connsiteX179" fmla="*/ 2976876 w 4940931"/>
                <a:gd name="connsiteY179" fmla="*/ 43180 h 138429"/>
                <a:gd name="connsiteX180" fmla="*/ 2969891 w 4940931"/>
                <a:gd name="connsiteY180" fmla="*/ 44450 h 138429"/>
                <a:gd name="connsiteX181" fmla="*/ 2964811 w 4940931"/>
                <a:gd name="connsiteY181" fmla="*/ 48260 h 138429"/>
                <a:gd name="connsiteX182" fmla="*/ 2961001 w 4940931"/>
                <a:gd name="connsiteY182" fmla="*/ 54610 h 138429"/>
                <a:gd name="connsiteX183" fmla="*/ 2959096 w 4940931"/>
                <a:gd name="connsiteY183" fmla="*/ 62865 h 138429"/>
                <a:gd name="connsiteX184" fmla="*/ 2995291 w 4940931"/>
                <a:gd name="connsiteY184" fmla="*/ 62865 h 138429"/>
                <a:gd name="connsiteX185" fmla="*/ 2994021 w 4940931"/>
                <a:gd name="connsiteY185" fmla="*/ 55245 h 138429"/>
                <a:gd name="connsiteX186" fmla="*/ 2990846 w 4940931"/>
                <a:gd name="connsiteY186" fmla="*/ 48895 h 138429"/>
                <a:gd name="connsiteX187" fmla="*/ 2985131 w 4940931"/>
                <a:gd name="connsiteY187" fmla="*/ 44450 h 138429"/>
                <a:gd name="connsiteX188" fmla="*/ 2976876 w 4940931"/>
                <a:gd name="connsiteY188" fmla="*/ 43180 h 138429"/>
                <a:gd name="connsiteX189" fmla="*/ 2527930 w 4940931"/>
                <a:gd name="connsiteY189" fmla="*/ 43180 h 138429"/>
                <a:gd name="connsiteX190" fmla="*/ 2520945 w 4940931"/>
                <a:gd name="connsiteY190" fmla="*/ 44450 h 138429"/>
                <a:gd name="connsiteX191" fmla="*/ 2515865 w 4940931"/>
                <a:gd name="connsiteY191" fmla="*/ 48260 h 138429"/>
                <a:gd name="connsiteX192" fmla="*/ 2512055 w 4940931"/>
                <a:gd name="connsiteY192" fmla="*/ 54610 h 138429"/>
                <a:gd name="connsiteX193" fmla="*/ 2510150 w 4940931"/>
                <a:gd name="connsiteY193" fmla="*/ 62865 h 138429"/>
                <a:gd name="connsiteX194" fmla="*/ 2546345 w 4940931"/>
                <a:gd name="connsiteY194" fmla="*/ 62865 h 138429"/>
                <a:gd name="connsiteX195" fmla="*/ 2545075 w 4940931"/>
                <a:gd name="connsiteY195" fmla="*/ 55245 h 138429"/>
                <a:gd name="connsiteX196" fmla="*/ 2541900 w 4940931"/>
                <a:gd name="connsiteY196" fmla="*/ 48895 h 138429"/>
                <a:gd name="connsiteX197" fmla="*/ 2536185 w 4940931"/>
                <a:gd name="connsiteY197" fmla="*/ 44450 h 138429"/>
                <a:gd name="connsiteX198" fmla="*/ 2527930 w 4940931"/>
                <a:gd name="connsiteY198" fmla="*/ 43180 h 138429"/>
                <a:gd name="connsiteX199" fmla="*/ 2214240 w 4940931"/>
                <a:gd name="connsiteY199" fmla="*/ 43180 h 138429"/>
                <a:gd name="connsiteX200" fmla="*/ 2207255 w 4940931"/>
                <a:gd name="connsiteY200" fmla="*/ 44450 h 138429"/>
                <a:gd name="connsiteX201" fmla="*/ 2202175 w 4940931"/>
                <a:gd name="connsiteY201" fmla="*/ 48260 h 138429"/>
                <a:gd name="connsiteX202" fmla="*/ 2198365 w 4940931"/>
                <a:gd name="connsiteY202" fmla="*/ 54610 h 138429"/>
                <a:gd name="connsiteX203" fmla="*/ 2196460 w 4940931"/>
                <a:gd name="connsiteY203" fmla="*/ 62865 h 138429"/>
                <a:gd name="connsiteX204" fmla="*/ 2232655 w 4940931"/>
                <a:gd name="connsiteY204" fmla="*/ 62865 h 138429"/>
                <a:gd name="connsiteX205" fmla="*/ 2231385 w 4940931"/>
                <a:gd name="connsiteY205" fmla="*/ 55245 h 138429"/>
                <a:gd name="connsiteX206" fmla="*/ 2228210 w 4940931"/>
                <a:gd name="connsiteY206" fmla="*/ 48895 h 138429"/>
                <a:gd name="connsiteX207" fmla="*/ 2222495 w 4940931"/>
                <a:gd name="connsiteY207" fmla="*/ 44450 h 138429"/>
                <a:gd name="connsiteX208" fmla="*/ 2214240 w 4940931"/>
                <a:gd name="connsiteY208" fmla="*/ 43180 h 138429"/>
                <a:gd name="connsiteX209" fmla="*/ 2027551 w 4940931"/>
                <a:gd name="connsiteY209" fmla="*/ 43180 h 138429"/>
                <a:gd name="connsiteX210" fmla="*/ 2020566 w 4940931"/>
                <a:gd name="connsiteY210" fmla="*/ 44450 h 138429"/>
                <a:gd name="connsiteX211" fmla="*/ 2015486 w 4940931"/>
                <a:gd name="connsiteY211" fmla="*/ 48260 h 138429"/>
                <a:gd name="connsiteX212" fmla="*/ 2011676 w 4940931"/>
                <a:gd name="connsiteY212" fmla="*/ 54610 h 138429"/>
                <a:gd name="connsiteX213" fmla="*/ 2009771 w 4940931"/>
                <a:gd name="connsiteY213" fmla="*/ 62865 h 138429"/>
                <a:gd name="connsiteX214" fmla="*/ 2045966 w 4940931"/>
                <a:gd name="connsiteY214" fmla="*/ 62865 h 138429"/>
                <a:gd name="connsiteX215" fmla="*/ 2044696 w 4940931"/>
                <a:gd name="connsiteY215" fmla="*/ 55245 h 138429"/>
                <a:gd name="connsiteX216" fmla="*/ 2041521 w 4940931"/>
                <a:gd name="connsiteY216" fmla="*/ 48895 h 138429"/>
                <a:gd name="connsiteX217" fmla="*/ 2035806 w 4940931"/>
                <a:gd name="connsiteY217" fmla="*/ 44450 h 138429"/>
                <a:gd name="connsiteX218" fmla="*/ 2027551 w 4940931"/>
                <a:gd name="connsiteY218" fmla="*/ 43180 h 138429"/>
                <a:gd name="connsiteX219" fmla="*/ 1949445 w 4940931"/>
                <a:gd name="connsiteY219" fmla="*/ 43180 h 138429"/>
                <a:gd name="connsiteX220" fmla="*/ 1944365 w 4940931"/>
                <a:gd name="connsiteY220" fmla="*/ 43815 h 138429"/>
                <a:gd name="connsiteX221" fmla="*/ 1939285 w 4940931"/>
                <a:gd name="connsiteY221" fmla="*/ 45720 h 138429"/>
                <a:gd name="connsiteX222" fmla="*/ 1934840 w 4940931"/>
                <a:gd name="connsiteY222" fmla="*/ 48895 h 138429"/>
                <a:gd name="connsiteX223" fmla="*/ 1931665 w 4940931"/>
                <a:gd name="connsiteY223" fmla="*/ 52705 h 138429"/>
                <a:gd name="connsiteX224" fmla="*/ 1931665 w 4940931"/>
                <a:gd name="connsiteY224" fmla="*/ 85725 h 138429"/>
                <a:gd name="connsiteX225" fmla="*/ 1934840 w 4940931"/>
                <a:gd name="connsiteY225" fmla="*/ 89535 h 138429"/>
                <a:gd name="connsiteX226" fmla="*/ 1939285 w 4940931"/>
                <a:gd name="connsiteY226" fmla="*/ 92710 h 138429"/>
                <a:gd name="connsiteX227" fmla="*/ 1944365 w 4940931"/>
                <a:gd name="connsiteY227" fmla="*/ 95250 h 138429"/>
                <a:gd name="connsiteX228" fmla="*/ 1950080 w 4940931"/>
                <a:gd name="connsiteY228" fmla="*/ 95885 h 138429"/>
                <a:gd name="connsiteX229" fmla="*/ 1962780 w 4940931"/>
                <a:gd name="connsiteY229" fmla="*/ 89535 h 138429"/>
                <a:gd name="connsiteX230" fmla="*/ 1967225 w 4940931"/>
                <a:gd name="connsiteY230" fmla="*/ 71120 h 138429"/>
                <a:gd name="connsiteX231" fmla="*/ 1966590 w 4940931"/>
                <a:gd name="connsiteY231" fmla="*/ 71755 h 138429"/>
                <a:gd name="connsiteX232" fmla="*/ 1962145 w 4940931"/>
                <a:gd name="connsiteY232" fmla="*/ 50165 h 138429"/>
                <a:gd name="connsiteX233" fmla="*/ 1949445 w 4940931"/>
                <a:gd name="connsiteY233" fmla="*/ 43180 h 138429"/>
                <a:gd name="connsiteX234" fmla="*/ 1829431 w 4940931"/>
                <a:gd name="connsiteY234" fmla="*/ 43180 h 138429"/>
                <a:gd name="connsiteX235" fmla="*/ 1822446 w 4940931"/>
                <a:gd name="connsiteY235" fmla="*/ 44450 h 138429"/>
                <a:gd name="connsiteX236" fmla="*/ 1817366 w 4940931"/>
                <a:gd name="connsiteY236" fmla="*/ 48260 h 138429"/>
                <a:gd name="connsiteX237" fmla="*/ 1813556 w 4940931"/>
                <a:gd name="connsiteY237" fmla="*/ 54610 h 138429"/>
                <a:gd name="connsiteX238" fmla="*/ 1811651 w 4940931"/>
                <a:gd name="connsiteY238" fmla="*/ 62865 h 138429"/>
                <a:gd name="connsiteX239" fmla="*/ 1847846 w 4940931"/>
                <a:gd name="connsiteY239" fmla="*/ 62865 h 138429"/>
                <a:gd name="connsiteX240" fmla="*/ 1846576 w 4940931"/>
                <a:gd name="connsiteY240" fmla="*/ 55245 h 138429"/>
                <a:gd name="connsiteX241" fmla="*/ 1843401 w 4940931"/>
                <a:gd name="connsiteY241" fmla="*/ 48895 h 138429"/>
                <a:gd name="connsiteX242" fmla="*/ 1837686 w 4940931"/>
                <a:gd name="connsiteY242" fmla="*/ 44450 h 138429"/>
                <a:gd name="connsiteX243" fmla="*/ 1829431 w 4940931"/>
                <a:gd name="connsiteY243" fmla="*/ 43180 h 138429"/>
                <a:gd name="connsiteX244" fmla="*/ 1178561 w 4940931"/>
                <a:gd name="connsiteY244" fmla="*/ 43180 h 138429"/>
                <a:gd name="connsiteX245" fmla="*/ 1171576 w 4940931"/>
                <a:gd name="connsiteY245" fmla="*/ 44450 h 138429"/>
                <a:gd name="connsiteX246" fmla="*/ 1166496 w 4940931"/>
                <a:gd name="connsiteY246" fmla="*/ 48260 h 138429"/>
                <a:gd name="connsiteX247" fmla="*/ 1162686 w 4940931"/>
                <a:gd name="connsiteY247" fmla="*/ 54610 h 138429"/>
                <a:gd name="connsiteX248" fmla="*/ 1160781 w 4940931"/>
                <a:gd name="connsiteY248" fmla="*/ 62865 h 138429"/>
                <a:gd name="connsiteX249" fmla="*/ 1196976 w 4940931"/>
                <a:gd name="connsiteY249" fmla="*/ 62865 h 138429"/>
                <a:gd name="connsiteX250" fmla="*/ 1195706 w 4940931"/>
                <a:gd name="connsiteY250" fmla="*/ 55245 h 138429"/>
                <a:gd name="connsiteX251" fmla="*/ 1192531 w 4940931"/>
                <a:gd name="connsiteY251" fmla="*/ 48895 h 138429"/>
                <a:gd name="connsiteX252" fmla="*/ 1186816 w 4940931"/>
                <a:gd name="connsiteY252" fmla="*/ 44450 h 138429"/>
                <a:gd name="connsiteX253" fmla="*/ 1178561 w 4940931"/>
                <a:gd name="connsiteY253" fmla="*/ 43180 h 138429"/>
                <a:gd name="connsiteX254" fmla="*/ 898525 w 4940931"/>
                <a:gd name="connsiteY254" fmla="*/ 43180 h 138429"/>
                <a:gd name="connsiteX255" fmla="*/ 891540 w 4940931"/>
                <a:gd name="connsiteY255" fmla="*/ 44450 h 138429"/>
                <a:gd name="connsiteX256" fmla="*/ 886460 w 4940931"/>
                <a:gd name="connsiteY256" fmla="*/ 48260 h 138429"/>
                <a:gd name="connsiteX257" fmla="*/ 882650 w 4940931"/>
                <a:gd name="connsiteY257" fmla="*/ 54610 h 138429"/>
                <a:gd name="connsiteX258" fmla="*/ 880745 w 4940931"/>
                <a:gd name="connsiteY258" fmla="*/ 62865 h 138429"/>
                <a:gd name="connsiteX259" fmla="*/ 916940 w 4940931"/>
                <a:gd name="connsiteY259" fmla="*/ 62865 h 138429"/>
                <a:gd name="connsiteX260" fmla="*/ 915670 w 4940931"/>
                <a:gd name="connsiteY260" fmla="*/ 55245 h 138429"/>
                <a:gd name="connsiteX261" fmla="*/ 912495 w 4940931"/>
                <a:gd name="connsiteY261" fmla="*/ 48895 h 138429"/>
                <a:gd name="connsiteX262" fmla="*/ 906780 w 4940931"/>
                <a:gd name="connsiteY262" fmla="*/ 44450 h 138429"/>
                <a:gd name="connsiteX263" fmla="*/ 898525 w 4940931"/>
                <a:gd name="connsiteY263" fmla="*/ 43180 h 138429"/>
                <a:gd name="connsiteX264" fmla="*/ 584834 w 4940931"/>
                <a:gd name="connsiteY264" fmla="*/ 43180 h 138429"/>
                <a:gd name="connsiteX265" fmla="*/ 577849 w 4940931"/>
                <a:gd name="connsiteY265" fmla="*/ 44450 h 138429"/>
                <a:gd name="connsiteX266" fmla="*/ 572769 w 4940931"/>
                <a:gd name="connsiteY266" fmla="*/ 48260 h 138429"/>
                <a:gd name="connsiteX267" fmla="*/ 568959 w 4940931"/>
                <a:gd name="connsiteY267" fmla="*/ 54610 h 138429"/>
                <a:gd name="connsiteX268" fmla="*/ 567054 w 4940931"/>
                <a:gd name="connsiteY268" fmla="*/ 62865 h 138429"/>
                <a:gd name="connsiteX269" fmla="*/ 603249 w 4940931"/>
                <a:gd name="connsiteY269" fmla="*/ 62865 h 138429"/>
                <a:gd name="connsiteX270" fmla="*/ 601979 w 4940931"/>
                <a:gd name="connsiteY270" fmla="*/ 55245 h 138429"/>
                <a:gd name="connsiteX271" fmla="*/ 598804 w 4940931"/>
                <a:gd name="connsiteY271" fmla="*/ 48895 h 138429"/>
                <a:gd name="connsiteX272" fmla="*/ 593089 w 4940931"/>
                <a:gd name="connsiteY272" fmla="*/ 44450 h 138429"/>
                <a:gd name="connsiteX273" fmla="*/ 584834 w 4940931"/>
                <a:gd name="connsiteY273" fmla="*/ 43180 h 138429"/>
                <a:gd name="connsiteX274" fmla="*/ 398145 w 4940931"/>
                <a:gd name="connsiteY274" fmla="*/ 43180 h 138429"/>
                <a:gd name="connsiteX275" fmla="*/ 391160 w 4940931"/>
                <a:gd name="connsiteY275" fmla="*/ 44450 h 138429"/>
                <a:gd name="connsiteX276" fmla="*/ 386080 w 4940931"/>
                <a:gd name="connsiteY276" fmla="*/ 48260 h 138429"/>
                <a:gd name="connsiteX277" fmla="*/ 382270 w 4940931"/>
                <a:gd name="connsiteY277" fmla="*/ 54610 h 138429"/>
                <a:gd name="connsiteX278" fmla="*/ 380365 w 4940931"/>
                <a:gd name="connsiteY278" fmla="*/ 62865 h 138429"/>
                <a:gd name="connsiteX279" fmla="*/ 416560 w 4940931"/>
                <a:gd name="connsiteY279" fmla="*/ 62865 h 138429"/>
                <a:gd name="connsiteX280" fmla="*/ 415290 w 4940931"/>
                <a:gd name="connsiteY280" fmla="*/ 55245 h 138429"/>
                <a:gd name="connsiteX281" fmla="*/ 412115 w 4940931"/>
                <a:gd name="connsiteY281" fmla="*/ 48895 h 138429"/>
                <a:gd name="connsiteX282" fmla="*/ 406400 w 4940931"/>
                <a:gd name="connsiteY282" fmla="*/ 44450 h 138429"/>
                <a:gd name="connsiteX283" fmla="*/ 398145 w 4940931"/>
                <a:gd name="connsiteY283" fmla="*/ 43180 h 138429"/>
                <a:gd name="connsiteX284" fmla="*/ 320039 w 4940931"/>
                <a:gd name="connsiteY284" fmla="*/ 43180 h 138429"/>
                <a:gd name="connsiteX285" fmla="*/ 314959 w 4940931"/>
                <a:gd name="connsiteY285" fmla="*/ 43815 h 138429"/>
                <a:gd name="connsiteX286" fmla="*/ 309879 w 4940931"/>
                <a:gd name="connsiteY286" fmla="*/ 45720 h 138429"/>
                <a:gd name="connsiteX287" fmla="*/ 305434 w 4940931"/>
                <a:gd name="connsiteY287" fmla="*/ 48895 h 138429"/>
                <a:gd name="connsiteX288" fmla="*/ 302259 w 4940931"/>
                <a:gd name="connsiteY288" fmla="*/ 52705 h 138429"/>
                <a:gd name="connsiteX289" fmla="*/ 302259 w 4940931"/>
                <a:gd name="connsiteY289" fmla="*/ 85725 h 138429"/>
                <a:gd name="connsiteX290" fmla="*/ 305434 w 4940931"/>
                <a:gd name="connsiteY290" fmla="*/ 89535 h 138429"/>
                <a:gd name="connsiteX291" fmla="*/ 309879 w 4940931"/>
                <a:gd name="connsiteY291" fmla="*/ 92710 h 138429"/>
                <a:gd name="connsiteX292" fmla="*/ 314959 w 4940931"/>
                <a:gd name="connsiteY292" fmla="*/ 95250 h 138429"/>
                <a:gd name="connsiteX293" fmla="*/ 320674 w 4940931"/>
                <a:gd name="connsiteY293" fmla="*/ 95885 h 138429"/>
                <a:gd name="connsiteX294" fmla="*/ 333374 w 4940931"/>
                <a:gd name="connsiteY294" fmla="*/ 89535 h 138429"/>
                <a:gd name="connsiteX295" fmla="*/ 337819 w 4940931"/>
                <a:gd name="connsiteY295" fmla="*/ 71120 h 138429"/>
                <a:gd name="connsiteX296" fmla="*/ 337184 w 4940931"/>
                <a:gd name="connsiteY296" fmla="*/ 71755 h 138429"/>
                <a:gd name="connsiteX297" fmla="*/ 332739 w 4940931"/>
                <a:gd name="connsiteY297" fmla="*/ 50165 h 138429"/>
                <a:gd name="connsiteX298" fmla="*/ 320039 w 4940931"/>
                <a:gd name="connsiteY298" fmla="*/ 43180 h 138429"/>
                <a:gd name="connsiteX299" fmla="*/ 200025 w 4940931"/>
                <a:gd name="connsiteY299" fmla="*/ 43180 h 138429"/>
                <a:gd name="connsiteX300" fmla="*/ 193040 w 4940931"/>
                <a:gd name="connsiteY300" fmla="*/ 44450 h 138429"/>
                <a:gd name="connsiteX301" fmla="*/ 187960 w 4940931"/>
                <a:gd name="connsiteY301" fmla="*/ 48260 h 138429"/>
                <a:gd name="connsiteX302" fmla="*/ 184150 w 4940931"/>
                <a:gd name="connsiteY302" fmla="*/ 54610 h 138429"/>
                <a:gd name="connsiteX303" fmla="*/ 182245 w 4940931"/>
                <a:gd name="connsiteY303" fmla="*/ 62865 h 138429"/>
                <a:gd name="connsiteX304" fmla="*/ 218440 w 4940931"/>
                <a:gd name="connsiteY304" fmla="*/ 62865 h 138429"/>
                <a:gd name="connsiteX305" fmla="*/ 217170 w 4940931"/>
                <a:gd name="connsiteY305" fmla="*/ 55245 h 138429"/>
                <a:gd name="connsiteX306" fmla="*/ 213995 w 4940931"/>
                <a:gd name="connsiteY306" fmla="*/ 48895 h 138429"/>
                <a:gd name="connsiteX307" fmla="*/ 208280 w 4940931"/>
                <a:gd name="connsiteY307" fmla="*/ 44450 h 138429"/>
                <a:gd name="connsiteX308" fmla="*/ 200025 w 4940931"/>
                <a:gd name="connsiteY308" fmla="*/ 43180 h 138429"/>
                <a:gd name="connsiteX309" fmla="*/ 4439281 w 4940931"/>
                <a:gd name="connsiteY309" fmla="*/ 43179 h 138429"/>
                <a:gd name="connsiteX310" fmla="*/ 4426581 w 4940931"/>
                <a:gd name="connsiteY310" fmla="*/ 49529 h 138429"/>
                <a:gd name="connsiteX311" fmla="*/ 4422136 w 4940931"/>
                <a:gd name="connsiteY311" fmla="*/ 67944 h 138429"/>
                <a:gd name="connsiteX312" fmla="*/ 4423406 w 4940931"/>
                <a:gd name="connsiteY312" fmla="*/ 80644 h 138429"/>
                <a:gd name="connsiteX313" fmla="*/ 4426581 w 4940931"/>
                <a:gd name="connsiteY313" fmla="*/ 89534 h 138429"/>
                <a:gd name="connsiteX314" fmla="*/ 4432296 w 4940931"/>
                <a:gd name="connsiteY314" fmla="*/ 94614 h 138429"/>
                <a:gd name="connsiteX315" fmla="*/ 4439916 w 4940931"/>
                <a:gd name="connsiteY315" fmla="*/ 96519 h 138429"/>
                <a:gd name="connsiteX316" fmla="*/ 4444996 w 4940931"/>
                <a:gd name="connsiteY316" fmla="*/ 95884 h 138429"/>
                <a:gd name="connsiteX317" fmla="*/ 4450076 w 4940931"/>
                <a:gd name="connsiteY317" fmla="*/ 93344 h 138429"/>
                <a:gd name="connsiteX318" fmla="*/ 4454521 w 4940931"/>
                <a:gd name="connsiteY318" fmla="*/ 90169 h 138429"/>
                <a:gd name="connsiteX319" fmla="*/ 4457696 w 4940931"/>
                <a:gd name="connsiteY319" fmla="*/ 86359 h 138429"/>
                <a:gd name="connsiteX320" fmla="*/ 4457696 w 4940931"/>
                <a:gd name="connsiteY320" fmla="*/ 53339 h 138429"/>
                <a:gd name="connsiteX321" fmla="*/ 4454521 w 4940931"/>
                <a:gd name="connsiteY321" fmla="*/ 49529 h 138429"/>
                <a:gd name="connsiteX322" fmla="*/ 4450076 w 4940931"/>
                <a:gd name="connsiteY322" fmla="*/ 46354 h 138429"/>
                <a:gd name="connsiteX323" fmla="*/ 4444996 w 4940931"/>
                <a:gd name="connsiteY323" fmla="*/ 43814 h 138429"/>
                <a:gd name="connsiteX324" fmla="*/ 4439281 w 4940931"/>
                <a:gd name="connsiteY324" fmla="*/ 43179 h 138429"/>
                <a:gd name="connsiteX325" fmla="*/ 1014731 w 4940931"/>
                <a:gd name="connsiteY325" fmla="*/ 43179 h 138429"/>
                <a:gd name="connsiteX326" fmla="*/ 1002032 w 4940931"/>
                <a:gd name="connsiteY326" fmla="*/ 49529 h 138429"/>
                <a:gd name="connsiteX327" fmla="*/ 997587 w 4940931"/>
                <a:gd name="connsiteY327" fmla="*/ 67944 h 138429"/>
                <a:gd name="connsiteX328" fmla="*/ 1002032 w 4940931"/>
                <a:gd name="connsiteY328" fmla="*/ 88899 h 138429"/>
                <a:gd name="connsiteX329" fmla="*/ 1015367 w 4940931"/>
                <a:gd name="connsiteY329" fmla="*/ 95884 h 138429"/>
                <a:gd name="connsiteX330" fmla="*/ 1024891 w 4940931"/>
                <a:gd name="connsiteY330" fmla="*/ 93344 h 138429"/>
                <a:gd name="connsiteX331" fmla="*/ 1033147 w 4940931"/>
                <a:gd name="connsiteY331" fmla="*/ 86359 h 138429"/>
                <a:gd name="connsiteX332" fmla="*/ 1033147 w 4940931"/>
                <a:gd name="connsiteY332" fmla="*/ 53339 h 138429"/>
                <a:gd name="connsiteX333" fmla="*/ 1029971 w 4940931"/>
                <a:gd name="connsiteY333" fmla="*/ 49529 h 138429"/>
                <a:gd name="connsiteX334" fmla="*/ 1025526 w 4940931"/>
                <a:gd name="connsiteY334" fmla="*/ 46354 h 138429"/>
                <a:gd name="connsiteX335" fmla="*/ 1020446 w 4940931"/>
                <a:gd name="connsiteY335" fmla="*/ 43814 h 138429"/>
                <a:gd name="connsiteX336" fmla="*/ 1014731 w 4940931"/>
                <a:gd name="connsiteY336" fmla="*/ 43179 h 138429"/>
                <a:gd name="connsiteX337" fmla="*/ 4524370 w 4940931"/>
                <a:gd name="connsiteY337" fmla="*/ 31114 h 138429"/>
                <a:gd name="connsiteX338" fmla="*/ 4538975 w 4940931"/>
                <a:gd name="connsiteY338" fmla="*/ 31114 h 138429"/>
                <a:gd name="connsiteX339" fmla="*/ 4552310 w 4940931"/>
                <a:gd name="connsiteY339" fmla="*/ 84454 h 138429"/>
                <a:gd name="connsiteX340" fmla="*/ 4566915 w 4940931"/>
                <a:gd name="connsiteY340" fmla="*/ 31114 h 138429"/>
                <a:gd name="connsiteX341" fmla="*/ 4579615 w 4940931"/>
                <a:gd name="connsiteY341" fmla="*/ 31114 h 138429"/>
                <a:gd name="connsiteX342" fmla="*/ 4594220 w 4940931"/>
                <a:gd name="connsiteY342" fmla="*/ 84454 h 138429"/>
                <a:gd name="connsiteX343" fmla="*/ 4606920 w 4940931"/>
                <a:gd name="connsiteY343" fmla="*/ 31114 h 138429"/>
                <a:gd name="connsiteX344" fmla="*/ 4622160 w 4940931"/>
                <a:gd name="connsiteY344" fmla="*/ 31114 h 138429"/>
                <a:gd name="connsiteX345" fmla="*/ 4600570 w 4940931"/>
                <a:gd name="connsiteY345" fmla="*/ 108584 h 138429"/>
                <a:gd name="connsiteX346" fmla="*/ 4587235 w 4940931"/>
                <a:gd name="connsiteY346" fmla="*/ 108584 h 138429"/>
                <a:gd name="connsiteX347" fmla="*/ 4572630 w 4940931"/>
                <a:gd name="connsiteY347" fmla="*/ 54609 h 138429"/>
                <a:gd name="connsiteX348" fmla="*/ 4558660 w 4940931"/>
                <a:gd name="connsiteY348" fmla="*/ 108584 h 138429"/>
                <a:gd name="connsiteX349" fmla="*/ 4545325 w 4940931"/>
                <a:gd name="connsiteY349" fmla="*/ 108584 h 138429"/>
                <a:gd name="connsiteX350" fmla="*/ 4123686 w 4940931"/>
                <a:gd name="connsiteY350" fmla="*/ 31114 h 138429"/>
                <a:gd name="connsiteX351" fmla="*/ 4138926 w 4940931"/>
                <a:gd name="connsiteY351" fmla="*/ 31114 h 138429"/>
                <a:gd name="connsiteX352" fmla="*/ 4152261 w 4940931"/>
                <a:gd name="connsiteY352" fmla="*/ 84454 h 138429"/>
                <a:gd name="connsiteX353" fmla="*/ 4166866 w 4940931"/>
                <a:gd name="connsiteY353" fmla="*/ 31114 h 138429"/>
                <a:gd name="connsiteX354" fmla="*/ 4178931 w 4940931"/>
                <a:gd name="connsiteY354" fmla="*/ 31114 h 138429"/>
                <a:gd name="connsiteX355" fmla="*/ 4193536 w 4940931"/>
                <a:gd name="connsiteY355" fmla="*/ 84454 h 138429"/>
                <a:gd name="connsiteX356" fmla="*/ 4206871 w 4940931"/>
                <a:gd name="connsiteY356" fmla="*/ 31114 h 138429"/>
                <a:gd name="connsiteX357" fmla="*/ 4222111 w 4940931"/>
                <a:gd name="connsiteY357" fmla="*/ 31114 h 138429"/>
                <a:gd name="connsiteX358" fmla="*/ 4200521 w 4940931"/>
                <a:gd name="connsiteY358" fmla="*/ 108584 h 138429"/>
                <a:gd name="connsiteX359" fmla="*/ 4187186 w 4940931"/>
                <a:gd name="connsiteY359" fmla="*/ 108584 h 138429"/>
                <a:gd name="connsiteX360" fmla="*/ 4172581 w 4940931"/>
                <a:gd name="connsiteY360" fmla="*/ 54609 h 138429"/>
                <a:gd name="connsiteX361" fmla="*/ 4157976 w 4940931"/>
                <a:gd name="connsiteY361" fmla="*/ 108584 h 138429"/>
                <a:gd name="connsiteX362" fmla="*/ 4145276 w 4940931"/>
                <a:gd name="connsiteY362" fmla="*/ 108584 h 138429"/>
                <a:gd name="connsiteX363" fmla="*/ 2837811 w 4940931"/>
                <a:gd name="connsiteY363" fmla="*/ 31114 h 138429"/>
                <a:gd name="connsiteX364" fmla="*/ 2852416 w 4940931"/>
                <a:gd name="connsiteY364" fmla="*/ 31114 h 138429"/>
                <a:gd name="connsiteX365" fmla="*/ 2865751 w 4940931"/>
                <a:gd name="connsiteY365" fmla="*/ 84454 h 138429"/>
                <a:gd name="connsiteX366" fmla="*/ 2880356 w 4940931"/>
                <a:gd name="connsiteY366" fmla="*/ 31114 h 138429"/>
                <a:gd name="connsiteX367" fmla="*/ 2893056 w 4940931"/>
                <a:gd name="connsiteY367" fmla="*/ 31114 h 138429"/>
                <a:gd name="connsiteX368" fmla="*/ 2907661 w 4940931"/>
                <a:gd name="connsiteY368" fmla="*/ 84454 h 138429"/>
                <a:gd name="connsiteX369" fmla="*/ 2920361 w 4940931"/>
                <a:gd name="connsiteY369" fmla="*/ 31114 h 138429"/>
                <a:gd name="connsiteX370" fmla="*/ 2935601 w 4940931"/>
                <a:gd name="connsiteY370" fmla="*/ 31114 h 138429"/>
                <a:gd name="connsiteX371" fmla="*/ 2914011 w 4940931"/>
                <a:gd name="connsiteY371" fmla="*/ 108584 h 138429"/>
                <a:gd name="connsiteX372" fmla="*/ 2900676 w 4940931"/>
                <a:gd name="connsiteY372" fmla="*/ 108584 h 138429"/>
                <a:gd name="connsiteX373" fmla="*/ 2886706 w 4940931"/>
                <a:gd name="connsiteY373" fmla="*/ 54609 h 138429"/>
                <a:gd name="connsiteX374" fmla="*/ 2872101 w 4940931"/>
                <a:gd name="connsiteY374" fmla="*/ 108584 h 138429"/>
                <a:gd name="connsiteX375" fmla="*/ 2858766 w 4940931"/>
                <a:gd name="connsiteY375" fmla="*/ 108584 h 138429"/>
                <a:gd name="connsiteX376" fmla="*/ 1354455 w 4940931"/>
                <a:gd name="connsiteY376" fmla="*/ 31114 h 138429"/>
                <a:gd name="connsiteX377" fmla="*/ 1369695 w 4940931"/>
                <a:gd name="connsiteY377" fmla="*/ 31114 h 138429"/>
                <a:gd name="connsiteX378" fmla="*/ 1369695 w 4940931"/>
                <a:gd name="connsiteY378" fmla="*/ 109219 h 138429"/>
                <a:gd name="connsiteX379" fmla="*/ 1354455 w 4940931"/>
                <a:gd name="connsiteY379" fmla="*/ 109219 h 138429"/>
                <a:gd name="connsiteX380" fmla="*/ 2646040 w 4940931"/>
                <a:gd name="connsiteY380" fmla="*/ 29844 h 138429"/>
                <a:gd name="connsiteX381" fmla="*/ 2658105 w 4940931"/>
                <a:gd name="connsiteY381" fmla="*/ 31749 h 138429"/>
                <a:gd name="connsiteX382" fmla="*/ 2667630 w 4940931"/>
                <a:gd name="connsiteY382" fmla="*/ 36829 h 138429"/>
                <a:gd name="connsiteX383" fmla="*/ 2673345 w 4940931"/>
                <a:gd name="connsiteY383" fmla="*/ 45084 h 138429"/>
                <a:gd name="connsiteX384" fmla="*/ 2675250 w 4940931"/>
                <a:gd name="connsiteY384" fmla="*/ 56514 h 138429"/>
                <a:gd name="connsiteX385" fmla="*/ 2675250 w 4940931"/>
                <a:gd name="connsiteY385" fmla="*/ 109854 h 138429"/>
                <a:gd name="connsiteX386" fmla="*/ 2660010 w 4940931"/>
                <a:gd name="connsiteY386" fmla="*/ 109854 h 138429"/>
                <a:gd name="connsiteX387" fmla="*/ 2660010 w 4940931"/>
                <a:gd name="connsiteY387" fmla="*/ 108584 h 138429"/>
                <a:gd name="connsiteX388" fmla="*/ 2660010 w 4940931"/>
                <a:gd name="connsiteY388" fmla="*/ 100964 h 138429"/>
                <a:gd name="connsiteX389" fmla="*/ 2654930 w 4940931"/>
                <a:gd name="connsiteY389" fmla="*/ 104774 h 138429"/>
                <a:gd name="connsiteX390" fmla="*/ 2651120 w 4940931"/>
                <a:gd name="connsiteY390" fmla="*/ 107314 h 138429"/>
                <a:gd name="connsiteX391" fmla="*/ 2646040 w 4940931"/>
                <a:gd name="connsiteY391" fmla="*/ 109219 h 138429"/>
                <a:gd name="connsiteX392" fmla="*/ 2639055 w 4940931"/>
                <a:gd name="connsiteY392" fmla="*/ 109854 h 138429"/>
                <a:gd name="connsiteX393" fmla="*/ 2629530 w 4940931"/>
                <a:gd name="connsiteY393" fmla="*/ 108584 h 138429"/>
                <a:gd name="connsiteX394" fmla="*/ 2620640 w 4940931"/>
                <a:gd name="connsiteY394" fmla="*/ 104139 h 138429"/>
                <a:gd name="connsiteX395" fmla="*/ 2614290 w 4940931"/>
                <a:gd name="connsiteY395" fmla="*/ 95884 h 138429"/>
                <a:gd name="connsiteX396" fmla="*/ 2611750 w 4940931"/>
                <a:gd name="connsiteY396" fmla="*/ 83819 h 138429"/>
                <a:gd name="connsiteX397" fmla="*/ 2614290 w 4940931"/>
                <a:gd name="connsiteY397" fmla="*/ 72389 h 138429"/>
                <a:gd name="connsiteX398" fmla="*/ 2620640 w 4940931"/>
                <a:gd name="connsiteY398" fmla="*/ 64769 h 138429"/>
                <a:gd name="connsiteX399" fmla="*/ 2630800 w 4940931"/>
                <a:gd name="connsiteY399" fmla="*/ 60324 h 138429"/>
                <a:gd name="connsiteX400" fmla="*/ 2642865 w 4940931"/>
                <a:gd name="connsiteY400" fmla="*/ 59054 h 138429"/>
                <a:gd name="connsiteX401" fmla="*/ 2653025 w 4940931"/>
                <a:gd name="connsiteY401" fmla="*/ 59689 h 138429"/>
                <a:gd name="connsiteX402" fmla="*/ 2660010 w 4940931"/>
                <a:gd name="connsiteY402" fmla="*/ 61594 h 138429"/>
                <a:gd name="connsiteX403" fmla="*/ 2660010 w 4940931"/>
                <a:gd name="connsiteY403" fmla="*/ 55879 h 138429"/>
                <a:gd name="connsiteX404" fmla="*/ 2656200 w 4940931"/>
                <a:gd name="connsiteY404" fmla="*/ 46354 h 138429"/>
                <a:gd name="connsiteX405" fmla="*/ 2645405 w 4940931"/>
                <a:gd name="connsiteY405" fmla="*/ 43179 h 138429"/>
                <a:gd name="connsiteX406" fmla="*/ 2634610 w 4940931"/>
                <a:gd name="connsiteY406" fmla="*/ 44449 h 138429"/>
                <a:gd name="connsiteX407" fmla="*/ 2625085 w 4940931"/>
                <a:gd name="connsiteY407" fmla="*/ 48259 h 138429"/>
                <a:gd name="connsiteX408" fmla="*/ 2619370 w 4940931"/>
                <a:gd name="connsiteY408" fmla="*/ 36829 h 138429"/>
                <a:gd name="connsiteX409" fmla="*/ 2631435 w 4940931"/>
                <a:gd name="connsiteY409" fmla="*/ 31749 h 138429"/>
                <a:gd name="connsiteX410" fmla="*/ 2646040 w 4940931"/>
                <a:gd name="connsiteY410" fmla="*/ 29844 h 138429"/>
                <a:gd name="connsiteX411" fmla="*/ 1114426 w 4940931"/>
                <a:gd name="connsiteY411" fmla="*/ 29844 h 138429"/>
                <a:gd name="connsiteX412" fmla="*/ 1129666 w 4940931"/>
                <a:gd name="connsiteY412" fmla="*/ 29844 h 138429"/>
                <a:gd name="connsiteX413" fmla="*/ 1129666 w 4940931"/>
                <a:gd name="connsiteY413" fmla="*/ 107949 h 138429"/>
                <a:gd name="connsiteX414" fmla="*/ 1114426 w 4940931"/>
                <a:gd name="connsiteY414" fmla="*/ 107949 h 138429"/>
                <a:gd name="connsiteX415" fmla="*/ 1114426 w 4940931"/>
                <a:gd name="connsiteY415" fmla="*/ 100964 h 138429"/>
                <a:gd name="connsiteX416" fmla="*/ 1106171 w 4940931"/>
                <a:gd name="connsiteY416" fmla="*/ 107314 h 138429"/>
                <a:gd name="connsiteX417" fmla="*/ 1094741 w 4940931"/>
                <a:gd name="connsiteY417" fmla="*/ 109854 h 138429"/>
                <a:gd name="connsiteX418" fmla="*/ 1073786 w 4940931"/>
                <a:gd name="connsiteY418" fmla="*/ 100964 h 138429"/>
                <a:gd name="connsiteX419" fmla="*/ 1066800 w 4940931"/>
                <a:gd name="connsiteY419" fmla="*/ 74929 h 138429"/>
                <a:gd name="connsiteX420" fmla="*/ 1066800 w 4940931"/>
                <a:gd name="connsiteY420" fmla="*/ 30479 h 138429"/>
                <a:gd name="connsiteX421" fmla="*/ 1082040 w 4940931"/>
                <a:gd name="connsiteY421" fmla="*/ 30479 h 138429"/>
                <a:gd name="connsiteX422" fmla="*/ 1082040 w 4940931"/>
                <a:gd name="connsiteY422" fmla="*/ 74294 h 138429"/>
                <a:gd name="connsiteX423" fmla="*/ 1085851 w 4940931"/>
                <a:gd name="connsiteY423" fmla="*/ 90169 h 138429"/>
                <a:gd name="connsiteX424" fmla="*/ 1097916 w 4940931"/>
                <a:gd name="connsiteY424" fmla="*/ 95249 h 138429"/>
                <a:gd name="connsiteX425" fmla="*/ 1109981 w 4940931"/>
                <a:gd name="connsiteY425" fmla="*/ 90169 h 138429"/>
                <a:gd name="connsiteX426" fmla="*/ 1114426 w 4940931"/>
                <a:gd name="connsiteY426" fmla="*/ 75564 h 138429"/>
                <a:gd name="connsiteX427" fmla="*/ 1011556 w 4940931"/>
                <a:gd name="connsiteY427" fmla="*/ 29844 h 138429"/>
                <a:gd name="connsiteX428" fmla="*/ 1017272 w 4940931"/>
                <a:gd name="connsiteY428" fmla="*/ 30479 h 138429"/>
                <a:gd name="connsiteX429" fmla="*/ 1022352 w 4940931"/>
                <a:gd name="connsiteY429" fmla="*/ 32384 h 138429"/>
                <a:gd name="connsiteX430" fmla="*/ 1026797 w 4940931"/>
                <a:gd name="connsiteY430" fmla="*/ 35559 h 138429"/>
                <a:gd name="connsiteX431" fmla="*/ 1030607 w 4940931"/>
                <a:gd name="connsiteY431" fmla="*/ 38734 h 138429"/>
                <a:gd name="connsiteX432" fmla="*/ 1030607 w 4940931"/>
                <a:gd name="connsiteY432" fmla="*/ 31749 h 138429"/>
                <a:gd name="connsiteX433" fmla="*/ 1045847 w 4940931"/>
                <a:gd name="connsiteY433" fmla="*/ 31749 h 138429"/>
                <a:gd name="connsiteX434" fmla="*/ 1045847 w 4940931"/>
                <a:gd name="connsiteY434" fmla="*/ 130809 h 138429"/>
                <a:gd name="connsiteX435" fmla="*/ 1032512 w 4940931"/>
                <a:gd name="connsiteY435" fmla="*/ 137477 h 138429"/>
                <a:gd name="connsiteX436" fmla="*/ 1032512 w 4940931"/>
                <a:gd name="connsiteY436" fmla="*/ 101599 h 138429"/>
                <a:gd name="connsiteX437" fmla="*/ 1022986 w 4940931"/>
                <a:gd name="connsiteY437" fmla="*/ 107949 h 138429"/>
                <a:gd name="connsiteX438" fmla="*/ 1011556 w 4940931"/>
                <a:gd name="connsiteY438" fmla="*/ 110489 h 138429"/>
                <a:gd name="connsiteX439" fmla="*/ 999491 w 4940931"/>
                <a:gd name="connsiteY439" fmla="*/ 107949 h 138429"/>
                <a:gd name="connsiteX440" fmla="*/ 989966 w 4940931"/>
                <a:gd name="connsiteY440" fmla="*/ 100329 h 138429"/>
                <a:gd name="connsiteX441" fmla="*/ 983616 w 4940931"/>
                <a:gd name="connsiteY441" fmla="*/ 87629 h 138429"/>
                <a:gd name="connsiteX442" fmla="*/ 981076 w 4940931"/>
                <a:gd name="connsiteY442" fmla="*/ 68579 h 138429"/>
                <a:gd name="connsiteX443" fmla="*/ 983616 w 4940931"/>
                <a:gd name="connsiteY443" fmla="*/ 51434 h 138429"/>
                <a:gd name="connsiteX444" fmla="*/ 990601 w 4940931"/>
                <a:gd name="connsiteY444" fmla="*/ 39369 h 138429"/>
                <a:gd name="connsiteX445" fmla="*/ 1000126 w 4940931"/>
                <a:gd name="connsiteY445" fmla="*/ 32384 h 138429"/>
                <a:gd name="connsiteX446" fmla="*/ 1011556 w 4940931"/>
                <a:gd name="connsiteY446" fmla="*/ 29844 h 138429"/>
                <a:gd name="connsiteX447" fmla="*/ 4871716 w 4940931"/>
                <a:gd name="connsiteY447" fmla="*/ 29210 h 138429"/>
                <a:gd name="connsiteX448" fmla="*/ 4885686 w 4940931"/>
                <a:gd name="connsiteY448" fmla="*/ 31750 h 138429"/>
                <a:gd name="connsiteX449" fmla="*/ 4897751 w 4940931"/>
                <a:gd name="connsiteY449" fmla="*/ 38100 h 138429"/>
                <a:gd name="connsiteX450" fmla="*/ 4899021 w 4940931"/>
                <a:gd name="connsiteY450" fmla="*/ 38100 h 138429"/>
                <a:gd name="connsiteX451" fmla="*/ 4892036 w 4940931"/>
                <a:gd name="connsiteY451" fmla="*/ 50165 h 138429"/>
                <a:gd name="connsiteX452" fmla="*/ 4882511 w 4940931"/>
                <a:gd name="connsiteY452" fmla="*/ 45085 h 138429"/>
                <a:gd name="connsiteX453" fmla="*/ 4872351 w 4940931"/>
                <a:gd name="connsiteY453" fmla="*/ 43180 h 138429"/>
                <a:gd name="connsiteX454" fmla="*/ 4864096 w 4940931"/>
                <a:gd name="connsiteY454" fmla="*/ 45085 h 138429"/>
                <a:gd name="connsiteX455" fmla="*/ 4861556 w 4940931"/>
                <a:gd name="connsiteY455" fmla="*/ 50165 h 138429"/>
                <a:gd name="connsiteX456" fmla="*/ 4861556 w 4940931"/>
                <a:gd name="connsiteY456" fmla="*/ 52705 h 138429"/>
                <a:gd name="connsiteX457" fmla="*/ 4863461 w 4940931"/>
                <a:gd name="connsiteY457" fmla="*/ 55245 h 138429"/>
                <a:gd name="connsiteX458" fmla="*/ 4867906 w 4940931"/>
                <a:gd name="connsiteY458" fmla="*/ 57785 h 138429"/>
                <a:gd name="connsiteX459" fmla="*/ 4874891 w 4940931"/>
                <a:gd name="connsiteY459" fmla="*/ 60960 h 138429"/>
                <a:gd name="connsiteX460" fmla="*/ 4886321 w 4940931"/>
                <a:gd name="connsiteY460" fmla="*/ 66040 h 138429"/>
                <a:gd name="connsiteX461" fmla="*/ 4894576 w 4940931"/>
                <a:gd name="connsiteY461" fmla="*/ 71120 h 138429"/>
                <a:gd name="connsiteX462" fmla="*/ 4899656 w 4940931"/>
                <a:gd name="connsiteY462" fmla="*/ 78105 h 138429"/>
                <a:gd name="connsiteX463" fmla="*/ 4901561 w 4940931"/>
                <a:gd name="connsiteY463" fmla="*/ 87630 h 138429"/>
                <a:gd name="connsiteX464" fmla="*/ 4899021 w 4940931"/>
                <a:gd name="connsiteY464" fmla="*/ 98425 h 138429"/>
                <a:gd name="connsiteX465" fmla="*/ 4892671 w 4940931"/>
                <a:gd name="connsiteY465" fmla="*/ 105410 h 138429"/>
                <a:gd name="connsiteX466" fmla="*/ 4883146 w 4940931"/>
                <a:gd name="connsiteY466" fmla="*/ 109220 h 138429"/>
                <a:gd name="connsiteX467" fmla="*/ 4872351 w 4940931"/>
                <a:gd name="connsiteY467" fmla="*/ 110490 h 138429"/>
                <a:gd name="connsiteX468" fmla="*/ 4857111 w 4940931"/>
                <a:gd name="connsiteY468" fmla="*/ 107950 h 138429"/>
                <a:gd name="connsiteX469" fmla="*/ 4842506 w 4940931"/>
                <a:gd name="connsiteY469" fmla="*/ 100965 h 138429"/>
                <a:gd name="connsiteX470" fmla="*/ 4849491 w 4940931"/>
                <a:gd name="connsiteY470" fmla="*/ 89535 h 138429"/>
                <a:gd name="connsiteX471" fmla="*/ 4860921 w 4940931"/>
                <a:gd name="connsiteY471" fmla="*/ 95250 h 138429"/>
                <a:gd name="connsiteX472" fmla="*/ 4872351 w 4940931"/>
                <a:gd name="connsiteY472" fmla="*/ 97155 h 138429"/>
                <a:gd name="connsiteX473" fmla="*/ 4883146 w 4940931"/>
                <a:gd name="connsiteY473" fmla="*/ 94615 h 138429"/>
                <a:gd name="connsiteX474" fmla="*/ 4886321 w 4940931"/>
                <a:gd name="connsiteY474" fmla="*/ 88265 h 138429"/>
                <a:gd name="connsiteX475" fmla="*/ 4885051 w 4940931"/>
                <a:gd name="connsiteY475" fmla="*/ 84455 h 138429"/>
                <a:gd name="connsiteX476" fmla="*/ 4881241 w 4940931"/>
                <a:gd name="connsiteY476" fmla="*/ 81280 h 138429"/>
                <a:gd name="connsiteX477" fmla="*/ 4875526 w 4940931"/>
                <a:gd name="connsiteY477" fmla="*/ 78105 h 138429"/>
                <a:gd name="connsiteX478" fmla="*/ 4867906 w 4940931"/>
                <a:gd name="connsiteY478" fmla="*/ 74930 h 138429"/>
                <a:gd name="connsiteX479" fmla="*/ 4857111 w 4940931"/>
                <a:gd name="connsiteY479" fmla="*/ 69850 h 138429"/>
                <a:gd name="connsiteX480" fmla="*/ 4850126 w 4940931"/>
                <a:gd name="connsiteY480" fmla="*/ 64770 h 138429"/>
                <a:gd name="connsiteX481" fmla="*/ 4846316 w 4940931"/>
                <a:gd name="connsiteY481" fmla="*/ 58420 h 138429"/>
                <a:gd name="connsiteX482" fmla="*/ 4845046 w 4940931"/>
                <a:gd name="connsiteY482" fmla="*/ 50165 h 138429"/>
                <a:gd name="connsiteX483" fmla="*/ 4846951 w 4940931"/>
                <a:gd name="connsiteY483" fmla="*/ 40640 h 138429"/>
                <a:gd name="connsiteX484" fmla="*/ 4852666 w 4940931"/>
                <a:gd name="connsiteY484" fmla="*/ 34290 h 138429"/>
                <a:gd name="connsiteX485" fmla="*/ 4860921 w 4940931"/>
                <a:gd name="connsiteY485" fmla="*/ 30480 h 138429"/>
                <a:gd name="connsiteX486" fmla="*/ 4871716 w 4940931"/>
                <a:gd name="connsiteY486" fmla="*/ 29210 h 138429"/>
                <a:gd name="connsiteX487" fmla="*/ 4749796 w 4940931"/>
                <a:gd name="connsiteY487" fmla="*/ 29210 h 138429"/>
                <a:gd name="connsiteX488" fmla="*/ 4757416 w 4940931"/>
                <a:gd name="connsiteY488" fmla="*/ 29845 h 138429"/>
                <a:gd name="connsiteX489" fmla="*/ 4763131 w 4940931"/>
                <a:gd name="connsiteY489" fmla="*/ 32385 h 138429"/>
                <a:gd name="connsiteX490" fmla="*/ 4759321 w 4940931"/>
                <a:gd name="connsiteY490" fmla="*/ 46990 h 138429"/>
                <a:gd name="connsiteX491" fmla="*/ 4758051 w 4940931"/>
                <a:gd name="connsiteY491" fmla="*/ 46990 h 138429"/>
                <a:gd name="connsiteX492" fmla="*/ 4752971 w 4940931"/>
                <a:gd name="connsiteY492" fmla="*/ 45085 h 138429"/>
                <a:gd name="connsiteX493" fmla="*/ 4746621 w 4940931"/>
                <a:gd name="connsiteY493" fmla="*/ 44450 h 138429"/>
                <a:gd name="connsiteX494" fmla="*/ 4735191 w 4940931"/>
                <a:gd name="connsiteY494" fmla="*/ 49530 h 138429"/>
                <a:gd name="connsiteX495" fmla="*/ 4731381 w 4940931"/>
                <a:gd name="connsiteY495" fmla="*/ 64770 h 138429"/>
                <a:gd name="connsiteX496" fmla="*/ 4731381 w 4940931"/>
                <a:gd name="connsiteY496" fmla="*/ 109220 h 138429"/>
                <a:gd name="connsiteX497" fmla="*/ 4716141 w 4940931"/>
                <a:gd name="connsiteY497" fmla="*/ 109220 h 138429"/>
                <a:gd name="connsiteX498" fmla="*/ 4716141 w 4940931"/>
                <a:gd name="connsiteY498" fmla="*/ 31115 h 138429"/>
                <a:gd name="connsiteX499" fmla="*/ 4731381 w 4940931"/>
                <a:gd name="connsiteY499" fmla="*/ 31115 h 138429"/>
                <a:gd name="connsiteX500" fmla="*/ 4731381 w 4940931"/>
                <a:gd name="connsiteY500" fmla="*/ 38735 h 138429"/>
                <a:gd name="connsiteX501" fmla="*/ 4734556 w 4940931"/>
                <a:gd name="connsiteY501" fmla="*/ 34925 h 138429"/>
                <a:gd name="connsiteX502" fmla="*/ 4739001 w 4940931"/>
                <a:gd name="connsiteY502" fmla="*/ 31750 h 138429"/>
                <a:gd name="connsiteX503" fmla="*/ 4744081 w 4940931"/>
                <a:gd name="connsiteY503" fmla="*/ 29845 h 138429"/>
                <a:gd name="connsiteX504" fmla="*/ 4749796 w 4940931"/>
                <a:gd name="connsiteY504" fmla="*/ 29210 h 138429"/>
                <a:gd name="connsiteX505" fmla="*/ 4349110 w 4940931"/>
                <a:gd name="connsiteY505" fmla="*/ 29210 h 138429"/>
                <a:gd name="connsiteX506" fmla="*/ 4356730 w 4940931"/>
                <a:gd name="connsiteY506" fmla="*/ 29845 h 138429"/>
                <a:gd name="connsiteX507" fmla="*/ 4362445 w 4940931"/>
                <a:gd name="connsiteY507" fmla="*/ 32385 h 138429"/>
                <a:gd name="connsiteX508" fmla="*/ 4358635 w 4940931"/>
                <a:gd name="connsiteY508" fmla="*/ 46990 h 138429"/>
                <a:gd name="connsiteX509" fmla="*/ 4357365 w 4940931"/>
                <a:gd name="connsiteY509" fmla="*/ 46990 h 138429"/>
                <a:gd name="connsiteX510" fmla="*/ 4352285 w 4940931"/>
                <a:gd name="connsiteY510" fmla="*/ 45085 h 138429"/>
                <a:gd name="connsiteX511" fmla="*/ 4345935 w 4940931"/>
                <a:gd name="connsiteY511" fmla="*/ 44450 h 138429"/>
                <a:gd name="connsiteX512" fmla="*/ 4334505 w 4940931"/>
                <a:gd name="connsiteY512" fmla="*/ 49530 h 138429"/>
                <a:gd name="connsiteX513" fmla="*/ 4330695 w 4940931"/>
                <a:gd name="connsiteY513" fmla="*/ 64770 h 138429"/>
                <a:gd name="connsiteX514" fmla="*/ 4330695 w 4940931"/>
                <a:gd name="connsiteY514" fmla="*/ 109220 h 138429"/>
                <a:gd name="connsiteX515" fmla="*/ 4315455 w 4940931"/>
                <a:gd name="connsiteY515" fmla="*/ 109220 h 138429"/>
                <a:gd name="connsiteX516" fmla="*/ 4315455 w 4940931"/>
                <a:gd name="connsiteY516" fmla="*/ 31115 h 138429"/>
                <a:gd name="connsiteX517" fmla="*/ 4330695 w 4940931"/>
                <a:gd name="connsiteY517" fmla="*/ 31115 h 138429"/>
                <a:gd name="connsiteX518" fmla="*/ 4330695 w 4940931"/>
                <a:gd name="connsiteY518" fmla="*/ 38735 h 138429"/>
                <a:gd name="connsiteX519" fmla="*/ 4333870 w 4940931"/>
                <a:gd name="connsiteY519" fmla="*/ 34925 h 138429"/>
                <a:gd name="connsiteX520" fmla="*/ 4338315 w 4940931"/>
                <a:gd name="connsiteY520" fmla="*/ 31750 h 138429"/>
                <a:gd name="connsiteX521" fmla="*/ 4343395 w 4940931"/>
                <a:gd name="connsiteY521" fmla="*/ 29845 h 138429"/>
                <a:gd name="connsiteX522" fmla="*/ 4349110 w 4940931"/>
                <a:gd name="connsiteY522" fmla="*/ 29210 h 138429"/>
                <a:gd name="connsiteX523" fmla="*/ 4044310 w 4940931"/>
                <a:gd name="connsiteY523" fmla="*/ 29210 h 138429"/>
                <a:gd name="connsiteX524" fmla="*/ 4058915 w 4940931"/>
                <a:gd name="connsiteY524" fmla="*/ 32385 h 138429"/>
                <a:gd name="connsiteX525" fmla="*/ 4069075 w 4940931"/>
                <a:gd name="connsiteY525" fmla="*/ 40640 h 138429"/>
                <a:gd name="connsiteX526" fmla="*/ 4075425 w 4940931"/>
                <a:gd name="connsiteY526" fmla="*/ 53340 h 138429"/>
                <a:gd name="connsiteX527" fmla="*/ 4077330 w 4940931"/>
                <a:gd name="connsiteY527" fmla="*/ 68580 h 138429"/>
                <a:gd name="connsiteX528" fmla="*/ 4076060 w 4940931"/>
                <a:gd name="connsiteY528" fmla="*/ 68580 h 138429"/>
                <a:gd name="connsiteX529" fmla="*/ 4076060 w 4940931"/>
                <a:gd name="connsiteY529" fmla="*/ 72390 h 138429"/>
                <a:gd name="connsiteX530" fmla="*/ 4076060 w 4940931"/>
                <a:gd name="connsiteY530" fmla="*/ 75565 h 138429"/>
                <a:gd name="connsiteX531" fmla="*/ 4024625 w 4940931"/>
                <a:gd name="connsiteY531" fmla="*/ 75565 h 138429"/>
                <a:gd name="connsiteX532" fmla="*/ 4027165 w 4940931"/>
                <a:gd name="connsiteY532" fmla="*/ 85090 h 138429"/>
                <a:gd name="connsiteX533" fmla="*/ 4031610 w 4940931"/>
                <a:gd name="connsiteY533" fmla="*/ 91440 h 138429"/>
                <a:gd name="connsiteX534" fmla="*/ 4037325 w 4940931"/>
                <a:gd name="connsiteY534" fmla="*/ 95250 h 138429"/>
                <a:gd name="connsiteX535" fmla="*/ 4044310 w 4940931"/>
                <a:gd name="connsiteY535" fmla="*/ 96520 h 138429"/>
                <a:gd name="connsiteX536" fmla="*/ 4049390 w 4940931"/>
                <a:gd name="connsiteY536" fmla="*/ 96520 h 138429"/>
                <a:gd name="connsiteX537" fmla="*/ 4053835 w 4940931"/>
                <a:gd name="connsiteY537" fmla="*/ 95250 h 138429"/>
                <a:gd name="connsiteX538" fmla="*/ 4057645 w 4940931"/>
                <a:gd name="connsiteY538" fmla="*/ 93345 h 138429"/>
                <a:gd name="connsiteX539" fmla="*/ 4062090 w 4940931"/>
                <a:gd name="connsiteY539" fmla="*/ 90805 h 138429"/>
                <a:gd name="connsiteX540" fmla="*/ 4070980 w 4940931"/>
                <a:gd name="connsiteY540" fmla="*/ 100330 h 138429"/>
                <a:gd name="connsiteX541" fmla="*/ 4065265 w 4940931"/>
                <a:gd name="connsiteY541" fmla="*/ 104775 h 138429"/>
                <a:gd name="connsiteX542" fmla="*/ 4059550 w 4940931"/>
                <a:gd name="connsiteY542" fmla="*/ 107950 h 138429"/>
                <a:gd name="connsiteX543" fmla="*/ 4052565 w 4940931"/>
                <a:gd name="connsiteY543" fmla="*/ 109855 h 138429"/>
                <a:gd name="connsiteX544" fmla="*/ 4043675 w 4940931"/>
                <a:gd name="connsiteY544" fmla="*/ 110490 h 138429"/>
                <a:gd name="connsiteX545" fmla="*/ 4034150 w 4940931"/>
                <a:gd name="connsiteY545" fmla="*/ 109220 h 138429"/>
                <a:gd name="connsiteX546" fmla="*/ 4026530 w 4940931"/>
                <a:gd name="connsiteY546" fmla="*/ 105410 h 138429"/>
                <a:gd name="connsiteX547" fmla="*/ 4020180 w 4940931"/>
                <a:gd name="connsiteY547" fmla="*/ 100330 h 138429"/>
                <a:gd name="connsiteX548" fmla="*/ 4015100 w 4940931"/>
                <a:gd name="connsiteY548" fmla="*/ 92710 h 138429"/>
                <a:gd name="connsiteX549" fmla="*/ 4011290 w 4940931"/>
                <a:gd name="connsiteY549" fmla="*/ 82550 h 138429"/>
                <a:gd name="connsiteX550" fmla="*/ 4010020 w 4940931"/>
                <a:gd name="connsiteY550" fmla="*/ 69850 h 138429"/>
                <a:gd name="connsiteX551" fmla="*/ 4012560 w 4940931"/>
                <a:gd name="connsiteY551" fmla="*/ 52070 h 138429"/>
                <a:gd name="connsiteX552" fmla="*/ 4019545 w 4940931"/>
                <a:gd name="connsiteY552" fmla="*/ 39370 h 138429"/>
                <a:gd name="connsiteX553" fmla="*/ 4030340 w 4940931"/>
                <a:gd name="connsiteY553" fmla="*/ 31750 h 138429"/>
                <a:gd name="connsiteX554" fmla="*/ 4044310 w 4940931"/>
                <a:gd name="connsiteY554" fmla="*/ 29210 h 138429"/>
                <a:gd name="connsiteX555" fmla="*/ 3811900 w 4940931"/>
                <a:gd name="connsiteY555" fmla="*/ 29210 h 138429"/>
                <a:gd name="connsiteX556" fmla="*/ 3819520 w 4940931"/>
                <a:gd name="connsiteY556" fmla="*/ 29845 h 138429"/>
                <a:gd name="connsiteX557" fmla="*/ 3825235 w 4940931"/>
                <a:gd name="connsiteY557" fmla="*/ 32385 h 138429"/>
                <a:gd name="connsiteX558" fmla="*/ 3821425 w 4940931"/>
                <a:gd name="connsiteY558" fmla="*/ 46990 h 138429"/>
                <a:gd name="connsiteX559" fmla="*/ 3820155 w 4940931"/>
                <a:gd name="connsiteY559" fmla="*/ 46990 h 138429"/>
                <a:gd name="connsiteX560" fmla="*/ 3815075 w 4940931"/>
                <a:gd name="connsiteY560" fmla="*/ 45085 h 138429"/>
                <a:gd name="connsiteX561" fmla="*/ 3808725 w 4940931"/>
                <a:gd name="connsiteY561" fmla="*/ 44450 h 138429"/>
                <a:gd name="connsiteX562" fmla="*/ 3797295 w 4940931"/>
                <a:gd name="connsiteY562" fmla="*/ 49530 h 138429"/>
                <a:gd name="connsiteX563" fmla="*/ 3793485 w 4940931"/>
                <a:gd name="connsiteY563" fmla="*/ 64770 h 138429"/>
                <a:gd name="connsiteX564" fmla="*/ 3793485 w 4940931"/>
                <a:gd name="connsiteY564" fmla="*/ 109220 h 138429"/>
                <a:gd name="connsiteX565" fmla="*/ 3778245 w 4940931"/>
                <a:gd name="connsiteY565" fmla="*/ 109220 h 138429"/>
                <a:gd name="connsiteX566" fmla="*/ 3778245 w 4940931"/>
                <a:gd name="connsiteY566" fmla="*/ 31115 h 138429"/>
                <a:gd name="connsiteX567" fmla="*/ 3793485 w 4940931"/>
                <a:gd name="connsiteY567" fmla="*/ 31115 h 138429"/>
                <a:gd name="connsiteX568" fmla="*/ 3793485 w 4940931"/>
                <a:gd name="connsiteY568" fmla="*/ 38735 h 138429"/>
                <a:gd name="connsiteX569" fmla="*/ 3796660 w 4940931"/>
                <a:gd name="connsiteY569" fmla="*/ 34925 h 138429"/>
                <a:gd name="connsiteX570" fmla="*/ 3801105 w 4940931"/>
                <a:gd name="connsiteY570" fmla="*/ 31750 h 138429"/>
                <a:gd name="connsiteX571" fmla="*/ 3806185 w 4940931"/>
                <a:gd name="connsiteY571" fmla="*/ 29845 h 138429"/>
                <a:gd name="connsiteX572" fmla="*/ 3811900 w 4940931"/>
                <a:gd name="connsiteY572" fmla="*/ 29210 h 138429"/>
                <a:gd name="connsiteX573" fmla="*/ 3729986 w 4940931"/>
                <a:gd name="connsiteY573" fmla="*/ 29210 h 138429"/>
                <a:gd name="connsiteX574" fmla="*/ 3744591 w 4940931"/>
                <a:gd name="connsiteY574" fmla="*/ 32385 h 138429"/>
                <a:gd name="connsiteX575" fmla="*/ 3754751 w 4940931"/>
                <a:gd name="connsiteY575" fmla="*/ 40640 h 138429"/>
                <a:gd name="connsiteX576" fmla="*/ 3761101 w 4940931"/>
                <a:gd name="connsiteY576" fmla="*/ 53340 h 138429"/>
                <a:gd name="connsiteX577" fmla="*/ 3763006 w 4940931"/>
                <a:gd name="connsiteY577" fmla="*/ 68580 h 138429"/>
                <a:gd name="connsiteX578" fmla="*/ 3761736 w 4940931"/>
                <a:gd name="connsiteY578" fmla="*/ 68580 h 138429"/>
                <a:gd name="connsiteX579" fmla="*/ 3761736 w 4940931"/>
                <a:gd name="connsiteY579" fmla="*/ 72390 h 138429"/>
                <a:gd name="connsiteX580" fmla="*/ 3761736 w 4940931"/>
                <a:gd name="connsiteY580" fmla="*/ 75565 h 138429"/>
                <a:gd name="connsiteX581" fmla="*/ 3710301 w 4940931"/>
                <a:gd name="connsiteY581" fmla="*/ 75565 h 138429"/>
                <a:gd name="connsiteX582" fmla="*/ 3712841 w 4940931"/>
                <a:gd name="connsiteY582" fmla="*/ 85090 h 138429"/>
                <a:gd name="connsiteX583" fmla="*/ 3717286 w 4940931"/>
                <a:gd name="connsiteY583" fmla="*/ 91440 h 138429"/>
                <a:gd name="connsiteX584" fmla="*/ 3723001 w 4940931"/>
                <a:gd name="connsiteY584" fmla="*/ 95250 h 138429"/>
                <a:gd name="connsiteX585" fmla="*/ 3729986 w 4940931"/>
                <a:gd name="connsiteY585" fmla="*/ 96520 h 138429"/>
                <a:gd name="connsiteX586" fmla="*/ 3735066 w 4940931"/>
                <a:gd name="connsiteY586" fmla="*/ 96520 h 138429"/>
                <a:gd name="connsiteX587" fmla="*/ 3739511 w 4940931"/>
                <a:gd name="connsiteY587" fmla="*/ 95250 h 138429"/>
                <a:gd name="connsiteX588" fmla="*/ 3743321 w 4940931"/>
                <a:gd name="connsiteY588" fmla="*/ 93345 h 138429"/>
                <a:gd name="connsiteX589" fmla="*/ 3747766 w 4940931"/>
                <a:gd name="connsiteY589" fmla="*/ 90805 h 138429"/>
                <a:gd name="connsiteX590" fmla="*/ 3756656 w 4940931"/>
                <a:gd name="connsiteY590" fmla="*/ 100330 h 138429"/>
                <a:gd name="connsiteX591" fmla="*/ 3750941 w 4940931"/>
                <a:gd name="connsiteY591" fmla="*/ 104775 h 138429"/>
                <a:gd name="connsiteX592" fmla="*/ 3745226 w 4940931"/>
                <a:gd name="connsiteY592" fmla="*/ 107950 h 138429"/>
                <a:gd name="connsiteX593" fmla="*/ 3738241 w 4940931"/>
                <a:gd name="connsiteY593" fmla="*/ 109855 h 138429"/>
                <a:gd name="connsiteX594" fmla="*/ 3729351 w 4940931"/>
                <a:gd name="connsiteY594" fmla="*/ 110490 h 138429"/>
                <a:gd name="connsiteX595" fmla="*/ 3719826 w 4940931"/>
                <a:gd name="connsiteY595" fmla="*/ 109220 h 138429"/>
                <a:gd name="connsiteX596" fmla="*/ 3712206 w 4940931"/>
                <a:gd name="connsiteY596" fmla="*/ 105410 h 138429"/>
                <a:gd name="connsiteX597" fmla="*/ 3705856 w 4940931"/>
                <a:gd name="connsiteY597" fmla="*/ 100330 h 138429"/>
                <a:gd name="connsiteX598" fmla="*/ 3700776 w 4940931"/>
                <a:gd name="connsiteY598" fmla="*/ 92710 h 138429"/>
                <a:gd name="connsiteX599" fmla="*/ 3696966 w 4940931"/>
                <a:gd name="connsiteY599" fmla="*/ 82550 h 138429"/>
                <a:gd name="connsiteX600" fmla="*/ 3695696 w 4940931"/>
                <a:gd name="connsiteY600" fmla="*/ 69850 h 138429"/>
                <a:gd name="connsiteX601" fmla="*/ 3698236 w 4940931"/>
                <a:gd name="connsiteY601" fmla="*/ 52070 h 138429"/>
                <a:gd name="connsiteX602" fmla="*/ 3705221 w 4940931"/>
                <a:gd name="connsiteY602" fmla="*/ 39370 h 138429"/>
                <a:gd name="connsiteX603" fmla="*/ 3716016 w 4940931"/>
                <a:gd name="connsiteY603" fmla="*/ 31750 h 138429"/>
                <a:gd name="connsiteX604" fmla="*/ 3729986 w 4940931"/>
                <a:gd name="connsiteY604" fmla="*/ 29210 h 138429"/>
                <a:gd name="connsiteX605" fmla="*/ 3543296 w 4940931"/>
                <a:gd name="connsiteY605" fmla="*/ 29210 h 138429"/>
                <a:gd name="connsiteX606" fmla="*/ 3557901 w 4940931"/>
                <a:gd name="connsiteY606" fmla="*/ 32385 h 138429"/>
                <a:gd name="connsiteX607" fmla="*/ 3568061 w 4940931"/>
                <a:gd name="connsiteY607" fmla="*/ 40640 h 138429"/>
                <a:gd name="connsiteX608" fmla="*/ 3574411 w 4940931"/>
                <a:gd name="connsiteY608" fmla="*/ 53340 h 138429"/>
                <a:gd name="connsiteX609" fmla="*/ 3576316 w 4940931"/>
                <a:gd name="connsiteY609" fmla="*/ 68580 h 138429"/>
                <a:gd name="connsiteX610" fmla="*/ 3575046 w 4940931"/>
                <a:gd name="connsiteY610" fmla="*/ 68580 h 138429"/>
                <a:gd name="connsiteX611" fmla="*/ 3575046 w 4940931"/>
                <a:gd name="connsiteY611" fmla="*/ 72390 h 138429"/>
                <a:gd name="connsiteX612" fmla="*/ 3575046 w 4940931"/>
                <a:gd name="connsiteY612" fmla="*/ 75565 h 138429"/>
                <a:gd name="connsiteX613" fmla="*/ 3523611 w 4940931"/>
                <a:gd name="connsiteY613" fmla="*/ 75565 h 138429"/>
                <a:gd name="connsiteX614" fmla="*/ 3526151 w 4940931"/>
                <a:gd name="connsiteY614" fmla="*/ 85090 h 138429"/>
                <a:gd name="connsiteX615" fmla="*/ 3530596 w 4940931"/>
                <a:gd name="connsiteY615" fmla="*/ 91440 h 138429"/>
                <a:gd name="connsiteX616" fmla="*/ 3536311 w 4940931"/>
                <a:gd name="connsiteY616" fmla="*/ 95250 h 138429"/>
                <a:gd name="connsiteX617" fmla="*/ 3543296 w 4940931"/>
                <a:gd name="connsiteY617" fmla="*/ 96520 h 138429"/>
                <a:gd name="connsiteX618" fmla="*/ 3548376 w 4940931"/>
                <a:gd name="connsiteY618" fmla="*/ 96520 h 138429"/>
                <a:gd name="connsiteX619" fmla="*/ 3552821 w 4940931"/>
                <a:gd name="connsiteY619" fmla="*/ 95250 h 138429"/>
                <a:gd name="connsiteX620" fmla="*/ 3556631 w 4940931"/>
                <a:gd name="connsiteY620" fmla="*/ 93345 h 138429"/>
                <a:gd name="connsiteX621" fmla="*/ 3561076 w 4940931"/>
                <a:gd name="connsiteY621" fmla="*/ 90805 h 138429"/>
                <a:gd name="connsiteX622" fmla="*/ 3569966 w 4940931"/>
                <a:gd name="connsiteY622" fmla="*/ 100330 h 138429"/>
                <a:gd name="connsiteX623" fmla="*/ 3564251 w 4940931"/>
                <a:gd name="connsiteY623" fmla="*/ 104775 h 138429"/>
                <a:gd name="connsiteX624" fmla="*/ 3558536 w 4940931"/>
                <a:gd name="connsiteY624" fmla="*/ 107950 h 138429"/>
                <a:gd name="connsiteX625" fmla="*/ 3551551 w 4940931"/>
                <a:gd name="connsiteY625" fmla="*/ 109855 h 138429"/>
                <a:gd name="connsiteX626" fmla="*/ 3542661 w 4940931"/>
                <a:gd name="connsiteY626" fmla="*/ 110490 h 138429"/>
                <a:gd name="connsiteX627" fmla="*/ 3533136 w 4940931"/>
                <a:gd name="connsiteY627" fmla="*/ 109220 h 138429"/>
                <a:gd name="connsiteX628" fmla="*/ 3525516 w 4940931"/>
                <a:gd name="connsiteY628" fmla="*/ 105410 h 138429"/>
                <a:gd name="connsiteX629" fmla="*/ 3519166 w 4940931"/>
                <a:gd name="connsiteY629" fmla="*/ 100330 h 138429"/>
                <a:gd name="connsiteX630" fmla="*/ 3514086 w 4940931"/>
                <a:gd name="connsiteY630" fmla="*/ 92710 h 138429"/>
                <a:gd name="connsiteX631" fmla="*/ 3510276 w 4940931"/>
                <a:gd name="connsiteY631" fmla="*/ 82550 h 138429"/>
                <a:gd name="connsiteX632" fmla="*/ 3509006 w 4940931"/>
                <a:gd name="connsiteY632" fmla="*/ 69850 h 138429"/>
                <a:gd name="connsiteX633" fmla="*/ 3511546 w 4940931"/>
                <a:gd name="connsiteY633" fmla="*/ 52070 h 138429"/>
                <a:gd name="connsiteX634" fmla="*/ 3518531 w 4940931"/>
                <a:gd name="connsiteY634" fmla="*/ 39370 h 138429"/>
                <a:gd name="connsiteX635" fmla="*/ 3529326 w 4940931"/>
                <a:gd name="connsiteY635" fmla="*/ 31750 h 138429"/>
                <a:gd name="connsiteX636" fmla="*/ 3543296 w 4940931"/>
                <a:gd name="connsiteY636" fmla="*/ 29210 h 138429"/>
                <a:gd name="connsiteX637" fmla="*/ 3345176 w 4940931"/>
                <a:gd name="connsiteY637" fmla="*/ 29210 h 138429"/>
                <a:gd name="connsiteX638" fmla="*/ 3359781 w 4940931"/>
                <a:gd name="connsiteY638" fmla="*/ 32385 h 138429"/>
                <a:gd name="connsiteX639" fmla="*/ 3369941 w 4940931"/>
                <a:gd name="connsiteY639" fmla="*/ 40640 h 138429"/>
                <a:gd name="connsiteX640" fmla="*/ 3376291 w 4940931"/>
                <a:gd name="connsiteY640" fmla="*/ 53340 h 138429"/>
                <a:gd name="connsiteX641" fmla="*/ 3378196 w 4940931"/>
                <a:gd name="connsiteY641" fmla="*/ 68580 h 138429"/>
                <a:gd name="connsiteX642" fmla="*/ 3376926 w 4940931"/>
                <a:gd name="connsiteY642" fmla="*/ 68580 h 138429"/>
                <a:gd name="connsiteX643" fmla="*/ 3376926 w 4940931"/>
                <a:gd name="connsiteY643" fmla="*/ 72390 h 138429"/>
                <a:gd name="connsiteX644" fmla="*/ 3376926 w 4940931"/>
                <a:gd name="connsiteY644" fmla="*/ 75565 h 138429"/>
                <a:gd name="connsiteX645" fmla="*/ 3325491 w 4940931"/>
                <a:gd name="connsiteY645" fmla="*/ 75565 h 138429"/>
                <a:gd name="connsiteX646" fmla="*/ 3328031 w 4940931"/>
                <a:gd name="connsiteY646" fmla="*/ 85090 h 138429"/>
                <a:gd name="connsiteX647" fmla="*/ 3332476 w 4940931"/>
                <a:gd name="connsiteY647" fmla="*/ 91440 h 138429"/>
                <a:gd name="connsiteX648" fmla="*/ 3338191 w 4940931"/>
                <a:gd name="connsiteY648" fmla="*/ 95250 h 138429"/>
                <a:gd name="connsiteX649" fmla="*/ 3345176 w 4940931"/>
                <a:gd name="connsiteY649" fmla="*/ 96520 h 138429"/>
                <a:gd name="connsiteX650" fmla="*/ 3350256 w 4940931"/>
                <a:gd name="connsiteY650" fmla="*/ 96520 h 138429"/>
                <a:gd name="connsiteX651" fmla="*/ 3354701 w 4940931"/>
                <a:gd name="connsiteY651" fmla="*/ 95250 h 138429"/>
                <a:gd name="connsiteX652" fmla="*/ 3358511 w 4940931"/>
                <a:gd name="connsiteY652" fmla="*/ 93345 h 138429"/>
                <a:gd name="connsiteX653" fmla="*/ 3362956 w 4940931"/>
                <a:gd name="connsiteY653" fmla="*/ 90805 h 138429"/>
                <a:gd name="connsiteX654" fmla="*/ 3371846 w 4940931"/>
                <a:gd name="connsiteY654" fmla="*/ 100330 h 138429"/>
                <a:gd name="connsiteX655" fmla="*/ 3366131 w 4940931"/>
                <a:gd name="connsiteY655" fmla="*/ 104775 h 138429"/>
                <a:gd name="connsiteX656" fmla="*/ 3360416 w 4940931"/>
                <a:gd name="connsiteY656" fmla="*/ 107950 h 138429"/>
                <a:gd name="connsiteX657" fmla="*/ 3353431 w 4940931"/>
                <a:gd name="connsiteY657" fmla="*/ 109855 h 138429"/>
                <a:gd name="connsiteX658" fmla="*/ 3344541 w 4940931"/>
                <a:gd name="connsiteY658" fmla="*/ 110490 h 138429"/>
                <a:gd name="connsiteX659" fmla="*/ 3335016 w 4940931"/>
                <a:gd name="connsiteY659" fmla="*/ 109220 h 138429"/>
                <a:gd name="connsiteX660" fmla="*/ 3327396 w 4940931"/>
                <a:gd name="connsiteY660" fmla="*/ 105410 h 138429"/>
                <a:gd name="connsiteX661" fmla="*/ 3321046 w 4940931"/>
                <a:gd name="connsiteY661" fmla="*/ 100330 h 138429"/>
                <a:gd name="connsiteX662" fmla="*/ 3315966 w 4940931"/>
                <a:gd name="connsiteY662" fmla="*/ 92710 h 138429"/>
                <a:gd name="connsiteX663" fmla="*/ 3312156 w 4940931"/>
                <a:gd name="connsiteY663" fmla="*/ 82550 h 138429"/>
                <a:gd name="connsiteX664" fmla="*/ 3310886 w 4940931"/>
                <a:gd name="connsiteY664" fmla="*/ 69850 h 138429"/>
                <a:gd name="connsiteX665" fmla="*/ 3313426 w 4940931"/>
                <a:gd name="connsiteY665" fmla="*/ 52070 h 138429"/>
                <a:gd name="connsiteX666" fmla="*/ 3320411 w 4940931"/>
                <a:gd name="connsiteY666" fmla="*/ 39370 h 138429"/>
                <a:gd name="connsiteX667" fmla="*/ 3331206 w 4940931"/>
                <a:gd name="connsiteY667" fmla="*/ 31750 h 138429"/>
                <a:gd name="connsiteX668" fmla="*/ 3345176 w 4940931"/>
                <a:gd name="connsiteY668" fmla="*/ 29210 h 138429"/>
                <a:gd name="connsiteX669" fmla="*/ 3060696 w 4940931"/>
                <a:gd name="connsiteY669" fmla="*/ 29210 h 138429"/>
                <a:gd name="connsiteX670" fmla="*/ 3068316 w 4940931"/>
                <a:gd name="connsiteY670" fmla="*/ 29845 h 138429"/>
                <a:gd name="connsiteX671" fmla="*/ 3074031 w 4940931"/>
                <a:gd name="connsiteY671" fmla="*/ 32385 h 138429"/>
                <a:gd name="connsiteX672" fmla="*/ 3070221 w 4940931"/>
                <a:gd name="connsiteY672" fmla="*/ 46990 h 138429"/>
                <a:gd name="connsiteX673" fmla="*/ 3068951 w 4940931"/>
                <a:gd name="connsiteY673" fmla="*/ 46990 h 138429"/>
                <a:gd name="connsiteX674" fmla="*/ 3063871 w 4940931"/>
                <a:gd name="connsiteY674" fmla="*/ 45085 h 138429"/>
                <a:gd name="connsiteX675" fmla="*/ 3057521 w 4940931"/>
                <a:gd name="connsiteY675" fmla="*/ 44450 h 138429"/>
                <a:gd name="connsiteX676" fmla="*/ 3046091 w 4940931"/>
                <a:gd name="connsiteY676" fmla="*/ 49530 h 138429"/>
                <a:gd name="connsiteX677" fmla="*/ 3042281 w 4940931"/>
                <a:gd name="connsiteY677" fmla="*/ 64770 h 138429"/>
                <a:gd name="connsiteX678" fmla="*/ 3042281 w 4940931"/>
                <a:gd name="connsiteY678" fmla="*/ 109220 h 138429"/>
                <a:gd name="connsiteX679" fmla="*/ 3027041 w 4940931"/>
                <a:gd name="connsiteY679" fmla="*/ 109220 h 138429"/>
                <a:gd name="connsiteX680" fmla="*/ 3027041 w 4940931"/>
                <a:gd name="connsiteY680" fmla="*/ 31115 h 138429"/>
                <a:gd name="connsiteX681" fmla="*/ 3042281 w 4940931"/>
                <a:gd name="connsiteY681" fmla="*/ 31115 h 138429"/>
                <a:gd name="connsiteX682" fmla="*/ 3042281 w 4940931"/>
                <a:gd name="connsiteY682" fmla="*/ 38735 h 138429"/>
                <a:gd name="connsiteX683" fmla="*/ 3045456 w 4940931"/>
                <a:gd name="connsiteY683" fmla="*/ 34925 h 138429"/>
                <a:gd name="connsiteX684" fmla="*/ 3049901 w 4940931"/>
                <a:gd name="connsiteY684" fmla="*/ 31750 h 138429"/>
                <a:gd name="connsiteX685" fmla="*/ 3054981 w 4940931"/>
                <a:gd name="connsiteY685" fmla="*/ 29845 h 138429"/>
                <a:gd name="connsiteX686" fmla="*/ 3060696 w 4940931"/>
                <a:gd name="connsiteY686" fmla="*/ 29210 h 138429"/>
                <a:gd name="connsiteX687" fmla="*/ 2978781 w 4940931"/>
                <a:gd name="connsiteY687" fmla="*/ 29210 h 138429"/>
                <a:gd name="connsiteX688" fmla="*/ 2993386 w 4940931"/>
                <a:gd name="connsiteY688" fmla="*/ 32385 h 138429"/>
                <a:gd name="connsiteX689" fmla="*/ 3003546 w 4940931"/>
                <a:gd name="connsiteY689" fmla="*/ 40640 h 138429"/>
                <a:gd name="connsiteX690" fmla="*/ 3009896 w 4940931"/>
                <a:gd name="connsiteY690" fmla="*/ 53340 h 138429"/>
                <a:gd name="connsiteX691" fmla="*/ 3011801 w 4940931"/>
                <a:gd name="connsiteY691" fmla="*/ 68580 h 138429"/>
                <a:gd name="connsiteX692" fmla="*/ 3010531 w 4940931"/>
                <a:gd name="connsiteY692" fmla="*/ 68580 h 138429"/>
                <a:gd name="connsiteX693" fmla="*/ 3010531 w 4940931"/>
                <a:gd name="connsiteY693" fmla="*/ 72390 h 138429"/>
                <a:gd name="connsiteX694" fmla="*/ 3010531 w 4940931"/>
                <a:gd name="connsiteY694" fmla="*/ 75565 h 138429"/>
                <a:gd name="connsiteX695" fmla="*/ 2959096 w 4940931"/>
                <a:gd name="connsiteY695" fmla="*/ 75565 h 138429"/>
                <a:gd name="connsiteX696" fmla="*/ 2961636 w 4940931"/>
                <a:gd name="connsiteY696" fmla="*/ 85090 h 138429"/>
                <a:gd name="connsiteX697" fmla="*/ 2966081 w 4940931"/>
                <a:gd name="connsiteY697" fmla="*/ 91440 h 138429"/>
                <a:gd name="connsiteX698" fmla="*/ 2971796 w 4940931"/>
                <a:gd name="connsiteY698" fmla="*/ 95250 h 138429"/>
                <a:gd name="connsiteX699" fmla="*/ 2978781 w 4940931"/>
                <a:gd name="connsiteY699" fmla="*/ 96520 h 138429"/>
                <a:gd name="connsiteX700" fmla="*/ 2983861 w 4940931"/>
                <a:gd name="connsiteY700" fmla="*/ 96520 h 138429"/>
                <a:gd name="connsiteX701" fmla="*/ 2988306 w 4940931"/>
                <a:gd name="connsiteY701" fmla="*/ 95250 h 138429"/>
                <a:gd name="connsiteX702" fmla="*/ 2992116 w 4940931"/>
                <a:gd name="connsiteY702" fmla="*/ 93345 h 138429"/>
                <a:gd name="connsiteX703" fmla="*/ 2996561 w 4940931"/>
                <a:gd name="connsiteY703" fmla="*/ 90805 h 138429"/>
                <a:gd name="connsiteX704" fmla="*/ 3005451 w 4940931"/>
                <a:gd name="connsiteY704" fmla="*/ 100330 h 138429"/>
                <a:gd name="connsiteX705" fmla="*/ 2999736 w 4940931"/>
                <a:gd name="connsiteY705" fmla="*/ 104775 h 138429"/>
                <a:gd name="connsiteX706" fmla="*/ 2994021 w 4940931"/>
                <a:gd name="connsiteY706" fmla="*/ 107950 h 138429"/>
                <a:gd name="connsiteX707" fmla="*/ 2987036 w 4940931"/>
                <a:gd name="connsiteY707" fmla="*/ 109855 h 138429"/>
                <a:gd name="connsiteX708" fmla="*/ 2978146 w 4940931"/>
                <a:gd name="connsiteY708" fmla="*/ 110490 h 138429"/>
                <a:gd name="connsiteX709" fmla="*/ 2968621 w 4940931"/>
                <a:gd name="connsiteY709" fmla="*/ 109220 h 138429"/>
                <a:gd name="connsiteX710" fmla="*/ 2961001 w 4940931"/>
                <a:gd name="connsiteY710" fmla="*/ 105410 h 138429"/>
                <a:gd name="connsiteX711" fmla="*/ 2954651 w 4940931"/>
                <a:gd name="connsiteY711" fmla="*/ 100330 h 138429"/>
                <a:gd name="connsiteX712" fmla="*/ 2949571 w 4940931"/>
                <a:gd name="connsiteY712" fmla="*/ 92710 h 138429"/>
                <a:gd name="connsiteX713" fmla="*/ 2945761 w 4940931"/>
                <a:gd name="connsiteY713" fmla="*/ 82550 h 138429"/>
                <a:gd name="connsiteX714" fmla="*/ 2944491 w 4940931"/>
                <a:gd name="connsiteY714" fmla="*/ 69850 h 138429"/>
                <a:gd name="connsiteX715" fmla="*/ 2947031 w 4940931"/>
                <a:gd name="connsiteY715" fmla="*/ 52070 h 138429"/>
                <a:gd name="connsiteX716" fmla="*/ 2954016 w 4940931"/>
                <a:gd name="connsiteY716" fmla="*/ 39370 h 138429"/>
                <a:gd name="connsiteX717" fmla="*/ 2964811 w 4940931"/>
                <a:gd name="connsiteY717" fmla="*/ 31750 h 138429"/>
                <a:gd name="connsiteX718" fmla="*/ 2978781 w 4940931"/>
                <a:gd name="connsiteY718" fmla="*/ 29210 h 138429"/>
                <a:gd name="connsiteX719" fmla="*/ 2798440 w 4940931"/>
                <a:gd name="connsiteY719" fmla="*/ 29210 h 138429"/>
                <a:gd name="connsiteX720" fmla="*/ 2813045 w 4940931"/>
                <a:gd name="connsiteY720" fmla="*/ 31750 h 138429"/>
                <a:gd name="connsiteX721" fmla="*/ 2825110 w 4940931"/>
                <a:gd name="connsiteY721" fmla="*/ 38100 h 138429"/>
                <a:gd name="connsiteX722" fmla="*/ 2827015 w 4940931"/>
                <a:gd name="connsiteY722" fmla="*/ 38100 h 138429"/>
                <a:gd name="connsiteX723" fmla="*/ 2820030 w 4940931"/>
                <a:gd name="connsiteY723" fmla="*/ 50165 h 138429"/>
                <a:gd name="connsiteX724" fmla="*/ 2810505 w 4940931"/>
                <a:gd name="connsiteY724" fmla="*/ 45085 h 138429"/>
                <a:gd name="connsiteX725" fmla="*/ 2799710 w 4940931"/>
                <a:gd name="connsiteY725" fmla="*/ 43180 h 138429"/>
                <a:gd name="connsiteX726" fmla="*/ 2791455 w 4940931"/>
                <a:gd name="connsiteY726" fmla="*/ 45085 h 138429"/>
                <a:gd name="connsiteX727" fmla="*/ 2788915 w 4940931"/>
                <a:gd name="connsiteY727" fmla="*/ 50165 h 138429"/>
                <a:gd name="connsiteX728" fmla="*/ 2788915 w 4940931"/>
                <a:gd name="connsiteY728" fmla="*/ 52705 h 138429"/>
                <a:gd name="connsiteX729" fmla="*/ 2790820 w 4940931"/>
                <a:gd name="connsiteY729" fmla="*/ 55245 h 138429"/>
                <a:gd name="connsiteX730" fmla="*/ 2795265 w 4940931"/>
                <a:gd name="connsiteY730" fmla="*/ 57785 h 138429"/>
                <a:gd name="connsiteX731" fmla="*/ 2802250 w 4940931"/>
                <a:gd name="connsiteY731" fmla="*/ 60960 h 138429"/>
                <a:gd name="connsiteX732" fmla="*/ 2813680 w 4940931"/>
                <a:gd name="connsiteY732" fmla="*/ 66040 h 138429"/>
                <a:gd name="connsiteX733" fmla="*/ 2821935 w 4940931"/>
                <a:gd name="connsiteY733" fmla="*/ 71120 h 138429"/>
                <a:gd name="connsiteX734" fmla="*/ 2827015 w 4940931"/>
                <a:gd name="connsiteY734" fmla="*/ 78105 h 138429"/>
                <a:gd name="connsiteX735" fmla="*/ 2828920 w 4940931"/>
                <a:gd name="connsiteY735" fmla="*/ 87630 h 138429"/>
                <a:gd name="connsiteX736" fmla="*/ 2826380 w 4940931"/>
                <a:gd name="connsiteY736" fmla="*/ 98425 h 138429"/>
                <a:gd name="connsiteX737" fmla="*/ 2820030 w 4940931"/>
                <a:gd name="connsiteY737" fmla="*/ 105410 h 138429"/>
                <a:gd name="connsiteX738" fmla="*/ 2810505 w 4940931"/>
                <a:gd name="connsiteY738" fmla="*/ 109220 h 138429"/>
                <a:gd name="connsiteX739" fmla="*/ 2799710 w 4940931"/>
                <a:gd name="connsiteY739" fmla="*/ 110490 h 138429"/>
                <a:gd name="connsiteX740" fmla="*/ 2783835 w 4940931"/>
                <a:gd name="connsiteY740" fmla="*/ 107950 h 138429"/>
                <a:gd name="connsiteX741" fmla="*/ 2769230 w 4940931"/>
                <a:gd name="connsiteY741" fmla="*/ 100965 h 138429"/>
                <a:gd name="connsiteX742" fmla="*/ 2776215 w 4940931"/>
                <a:gd name="connsiteY742" fmla="*/ 89535 h 138429"/>
                <a:gd name="connsiteX743" fmla="*/ 2787645 w 4940931"/>
                <a:gd name="connsiteY743" fmla="*/ 95250 h 138429"/>
                <a:gd name="connsiteX744" fmla="*/ 2799075 w 4940931"/>
                <a:gd name="connsiteY744" fmla="*/ 97155 h 138429"/>
                <a:gd name="connsiteX745" fmla="*/ 2809870 w 4940931"/>
                <a:gd name="connsiteY745" fmla="*/ 94615 h 138429"/>
                <a:gd name="connsiteX746" fmla="*/ 2813045 w 4940931"/>
                <a:gd name="connsiteY746" fmla="*/ 88265 h 138429"/>
                <a:gd name="connsiteX747" fmla="*/ 2811775 w 4940931"/>
                <a:gd name="connsiteY747" fmla="*/ 84455 h 138429"/>
                <a:gd name="connsiteX748" fmla="*/ 2807965 w 4940931"/>
                <a:gd name="connsiteY748" fmla="*/ 81280 h 138429"/>
                <a:gd name="connsiteX749" fmla="*/ 2802250 w 4940931"/>
                <a:gd name="connsiteY749" fmla="*/ 78105 h 138429"/>
                <a:gd name="connsiteX750" fmla="*/ 2794630 w 4940931"/>
                <a:gd name="connsiteY750" fmla="*/ 74930 h 138429"/>
                <a:gd name="connsiteX751" fmla="*/ 2783835 w 4940931"/>
                <a:gd name="connsiteY751" fmla="*/ 69850 h 138429"/>
                <a:gd name="connsiteX752" fmla="*/ 2776850 w 4940931"/>
                <a:gd name="connsiteY752" fmla="*/ 64770 h 138429"/>
                <a:gd name="connsiteX753" fmla="*/ 2773040 w 4940931"/>
                <a:gd name="connsiteY753" fmla="*/ 58420 h 138429"/>
                <a:gd name="connsiteX754" fmla="*/ 2771770 w 4940931"/>
                <a:gd name="connsiteY754" fmla="*/ 50165 h 138429"/>
                <a:gd name="connsiteX755" fmla="*/ 2773675 w 4940931"/>
                <a:gd name="connsiteY755" fmla="*/ 40640 h 138429"/>
                <a:gd name="connsiteX756" fmla="*/ 2779390 w 4940931"/>
                <a:gd name="connsiteY756" fmla="*/ 34290 h 138429"/>
                <a:gd name="connsiteX757" fmla="*/ 2787645 w 4940931"/>
                <a:gd name="connsiteY757" fmla="*/ 30480 h 138429"/>
                <a:gd name="connsiteX758" fmla="*/ 2798440 w 4940931"/>
                <a:gd name="connsiteY758" fmla="*/ 29210 h 138429"/>
                <a:gd name="connsiteX759" fmla="*/ 2723510 w 4940931"/>
                <a:gd name="connsiteY759" fmla="*/ 29210 h 138429"/>
                <a:gd name="connsiteX760" fmla="*/ 2729225 w 4940931"/>
                <a:gd name="connsiteY760" fmla="*/ 29210 h 138429"/>
                <a:gd name="connsiteX761" fmla="*/ 2741290 w 4940931"/>
                <a:gd name="connsiteY761" fmla="*/ 31750 h 138429"/>
                <a:gd name="connsiteX762" fmla="*/ 2750180 w 4940931"/>
                <a:gd name="connsiteY762" fmla="*/ 38100 h 138429"/>
                <a:gd name="connsiteX763" fmla="*/ 2755260 w 4940931"/>
                <a:gd name="connsiteY763" fmla="*/ 48895 h 138429"/>
                <a:gd name="connsiteX764" fmla="*/ 2757165 w 4940931"/>
                <a:gd name="connsiteY764" fmla="*/ 64135 h 138429"/>
                <a:gd name="connsiteX765" fmla="*/ 2757165 w 4940931"/>
                <a:gd name="connsiteY765" fmla="*/ 108585 h 138429"/>
                <a:gd name="connsiteX766" fmla="*/ 2741925 w 4940931"/>
                <a:gd name="connsiteY766" fmla="*/ 108585 h 138429"/>
                <a:gd name="connsiteX767" fmla="*/ 2741290 w 4940931"/>
                <a:gd name="connsiteY767" fmla="*/ 108585 h 138429"/>
                <a:gd name="connsiteX768" fmla="*/ 2741290 w 4940931"/>
                <a:gd name="connsiteY768" fmla="*/ 64770 h 138429"/>
                <a:gd name="connsiteX769" fmla="*/ 2737480 w 4940931"/>
                <a:gd name="connsiteY769" fmla="*/ 48895 h 138429"/>
                <a:gd name="connsiteX770" fmla="*/ 2725415 w 4940931"/>
                <a:gd name="connsiteY770" fmla="*/ 43180 h 138429"/>
                <a:gd name="connsiteX771" fmla="*/ 2718430 w 4940931"/>
                <a:gd name="connsiteY771" fmla="*/ 44450 h 138429"/>
                <a:gd name="connsiteX772" fmla="*/ 2713350 w 4940931"/>
                <a:gd name="connsiteY772" fmla="*/ 48260 h 138429"/>
                <a:gd name="connsiteX773" fmla="*/ 2710175 w 4940931"/>
                <a:gd name="connsiteY773" fmla="*/ 54610 h 138429"/>
                <a:gd name="connsiteX774" fmla="*/ 2709540 w 4940931"/>
                <a:gd name="connsiteY774" fmla="*/ 62865 h 138429"/>
                <a:gd name="connsiteX775" fmla="*/ 2709540 w 4940931"/>
                <a:gd name="connsiteY775" fmla="*/ 108585 h 138429"/>
                <a:gd name="connsiteX776" fmla="*/ 2694300 w 4940931"/>
                <a:gd name="connsiteY776" fmla="*/ 108585 h 138429"/>
                <a:gd name="connsiteX777" fmla="*/ 2694300 w 4940931"/>
                <a:gd name="connsiteY777" fmla="*/ 30480 h 138429"/>
                <a:gd name="connsiteX778" fmla="*/ 2709540 w 4940931"/>
                <a:gd name="connsiteY778" fmla="*/ 30480 h 138429"/>
                <a:gd name="connsiteX779" fmla="*/ 2709540 w 4940931"/>
                <a:gd name="connsiteY779" fmla="*/ 38100 h 138429"/>
                <a:gd name="connsiteX780" fmla="*/ 2713350 w 4940931"/>
                <a:gd name="connsiteY780" fmla="*/ 34290 h 138429"/>
                <a:gd name="connsiteX781" fmla="*/ 2717795 w 4940931"/>
                <a:gd name="connsiteY781" fmla="*/ 31115 h 138429"/>
                <a:gd name="connsiteX782" fmla="*/ 2723510 w 4940931"/>
                <a:gd name="connsiteY782" fmla="*/ 29210 h 138429"/>
                <a:gd name="connsiteX783" fmla="*/ 2530470 w 4940931"/>
                <a:gd name="connsiteY783" fmla="*/ 29210 h 138429"/>
                <a:gd name="connsiteX784" fmla="*/ 2545075 w 4940931"/>
                <a:gd name="connsiteY784" fmla="*/ 32385 h 138429"/>
                <a:gd name="connsiteX785" fmla="*/ 2555235 w 4940931"/>
                <a:gd name="connsiteY785" fmla="*/ 40640 h 138429"/>
                <a:gd name="connsiteX786" fmla="*/ 2561585 w 4940931"/>
                <a:gd name="connsiteY786" fmla="*/ 53340 h 138429"/>
                <a:gd name="connsiteX787" fmla="*/ 2563490 w 4940931"/>
                <a:gd name="connsiteY787" fmla="*/ 68580 h 138429"/>
                <a:gd name="connsiteX788" fmla="*/ 2562220 w 4940931"/>
                <a:gd name="connsiteY788" fmla="*/ 68580 h 138429"/>
                <a:gd name="connsiteX789" fmla="*/ 2562220 w 4940931"/>
                <a:gd name="connsiteY789" fmla="*/ 72390 h 138429"/>
                <a:gd name="connsiteX790" fmla="*/ 2562220 w 4940931"/>
                <a:gd name="connsiteY790" fmla="*/ 75565 h 138429"/>
                <a:gd name="connsiteX791" fmla="*/ 2510785 w 4940931"/>
                <a:gd name="connsiteY791" fmla="*/ 75565 h 138429"/>
                <a:gd name="connsiteX792" fmla="*/ 2513325 w 4940931"/>
                <a:gd name="connsiteY792" fmla="*/ 85090 h 138429"/>
                <a:gd name="connsiteX793" fmla="*/ 2517770 w 4940931"/>
                <a:gd name="connsiteY793" fmla="*/ 91440 h 138429"/>
                <a:gd name="connsiteX794" fmla="*/ 2523485 w 4940931"/>
                <a:gd name="connsiteY794" fmla="*/ 95250 h 138429"/>
                <a:gd name="connsiteX795" fmla="*/ 2530470 w 4940931"/>
                <a:gd name="connsiteY795" fmla="*/ 96520 h 138429"/>
                <a:gd name="connsiteX796" fmla="*/ 2535550 w 4940931"/>
                <a:gd name="connsiteY796" fmla="*/ 96520 h 138429"/>
                <a:gd name="connsiteX797" fmla="*/ 2539995 w 4940931"/>
                <a:gd name="connsiteY797" fmla="*/ 95250 h 138429"/>
                <a:gd name="connsiteX798" fmla="*/ 2543805 w 4940931"/>
                <a:gd name="connsiteY798" fmla="*/ 93345 h 138429"/>
                <a:gd name="connsiteX799" fmla="*/ 2548250 w 4940931"/>
                <a:gd name="connsiteY799" fmla="*/ 90805 h 138429"/>
                <a:gd name="connsiteX800" fmla="*/ 2557140 w 4940931"/>
                <a:gd name="connsiteY800" fmla="*/ 100330 h 138429"/>
                <a:gd name="connsiteX801" fmla="*/ 2551425 w 4940931"/>
                <a:gd name="connsiteY801" fmla="*/ 104775 h 138429"/>
                <a:gd name="connsiteX802" fmla="*/ 2545710 w 4940931"/>
                <a:gd name="connsiteY802" fmla="*/ 107950 h 138429"/>
                <a:gd name="connsiteX803" fmla="*/ 2538725 w 4940931"/>
                <a:gd name="connsiteY803" fmla="*/ 109855 h 138429"/>
                <a:gd name="connsiteX804" fmla="*/ 2529835 w 4940931"/>
                <a:gd name="connsiteY804" fmla="*/ 110490 h 138429"/>
                <a:gd name="connsiteX805" fmla="*/ 2520310 w 4940931"/>
                <a:gd name="connsiteY805" fmla="*/ 109220 h 138429"/>
                <a:gd name="connsiteX806" fmla="*/ 2512690 w 4940931"/>
                <a:gd name="connsiteY806" fmla="*/ 105410 h 138429"/>
                <a:gd name="connsiteX807" fmla="*/ 2506340 w 4940931"/>
                <a:gd name="connsiteY807" fmla="*/ 100330 h 138429"/>
                <a:gd name="connsiteX808" fmla="*/ 2501260 w 4940931"/>
                <a:gd name="connsiteY808" fmla="*/ 92710 h 138429"/>
                <a:gd name="connsiteX809" fmla="*/ 2497450 w 4940931"/>
                <a:gd name="connsiteY809" fmla="*/ 82550 h 138429"/>
                <a:gd name="connsiteX810" fmla="*/ 2496180 w 4940931"/>
                <a:gd name="connsiteY810" fmla="*/ 69850 h 138429"/>
                <a:gd name="connsiteX811" fmla="*/ 2498720 w 4940931"/>
                <a:gd name="connsiteY811" fmla="*/ 52070 h 138429"/>
                <a:gd name="connsiteX812" fmla="*/ 2505705 w 4940931"/>
                <a:gd name="connsiteY812" fmla="*/ 39370 h 138429"/>
                <a:gd name="connsiteX813" fmla="*/ 2516500 w 4940931"/>
                <a:gd name="connsiteY813" fmla="*/ 31750 h 138429"/>
                <a:gd name="connsiteX814" fmla="*/ 2530470 w 4940931"/>
                <a:gd name="connsiteY814" fmla="*/ 29210 h 138429"/>
                <a:gd name="connsiteX815" fmla="*/ 2298061 w 4940931"/>
                <a:gd name="connsiteY815" fmla="*/ 29210 h 138429"/>
                <a:gd name="connsiteX816" fmla="*/ 2305681 w 4940931"/>
                <a:gd name="connsiteY816" fmla="*/ 29845 h 138429"/>
                <a:gd name="connsiteX817" fmla="*/ 2311396 w 4940931"/>
                <a:gd name="connsiteY817" fmla="*/ 32385 h 138429"/>
                <a:gd name="connsiteX818" fmla="*/ 2307586 w 4940931"/>
                <a:gd name="connsiteY818" fmla="*/ 46990 h 138429"/>
                <a:gd name="connsiteX819" fmla="*/ 2306316 w 4940931"/>
                <a:gd name="connsiteY819" fmla="*/ 46990 h 138429"/>
                <a:gd name="connsiteX820" fmla="*/ 2301236 w 4940931"/>
                <a:gd name="connsiteY820" fmla="*/ 45085 h 138429"/>
                <a:gd name="connsiteX821" fmla="*/ 2294886 w 4940931"/>
                <a:gd name="connsiteY821" fmla="*/ 44450 h 138429"/>
                <a:gd name="connsiteX822" fmla="*/ 2283456 w 4940931"/>
                <a:gd name="connsiteY822" fmla="*/ 49530 h 138429"/>
                <a:gd name="connsiteX823" fmla="*/ 2279646 w 4940931"/>
                <a:gd name="connsiteY823" fmla="*/ 64770 h 138429"/>
                <a:gd name="connsiteX824" fmla="*/ 2279646 w 4940931"/>
                <a:gd name="connsiteY824" fmla="*/ 109220 h 138429"/>
                <a:gd name="connsiteX825" fmla="*/ 2264406 w 4940931"/>
                <a:gd name="connsiteY825" fmla="*/ 109220 h 138429"/>
                <a:gd name="connsiteX826" fmla="*/ 2264406 w 4940931"/>
                <a:gd name="connsiteY826" fmla="*/ 31115 h 138429"/>
                <a:gd name="connsiteX827" fmla="*/ 2279646 w 4940931"/>
                <a:gd name="connsiteY827" fmla="*/ 31115 h 138429"/>
                <a:gd name="connsiteX828" fmla="*/ 2279646 w 4940931"/>
                <a:gd name="connsiteY828" fmla="*/ 38735 h 138429"/>
                <a:gd name="connsiteX829" fmla="*/ 2282821 w 4940931"/>
                <a:gd name="connsiteY829" fmla="*/ 34925 h 138429"/>
                <a:gd name="connsiteX830" fmla="*/ 2287266 w 4940931"/>
                <a:gd name="connsiteY830" fmla="*/ 31750 h 138429"/>
                <a:gd name="connsiteX831" fmla="*/ 2292346 w 4940931"/>
                <a:gd name="connsiteY831" fmla="*/ 29845 h 138429"/>
                <a:gd name="connsiteX832" fmla="*/ 2298061 w 4940931"/>
                <a:gd name="connsiteY832" fmla="*/ 29210 h 138429"/>
                <a:gd name="connsiteX833" fmla="*/ 2216145 w 4940931"/>
                <a:gd name="connsiteY833" fmla="*/ 29210 h 138429"/>
                <a:gd name="connsiteX834" fmla="*/ 2230750 w 4940931"/>
                <a:gd name="connsiteY834" fmla="*/ 32385 h 138429"/>
                <a:gd name="connsiteX835" fmla="*/ 2240910 w 4940931"/>
                <a:gd name="connsiteY835" fmla="*/ 40640 h 138429"/>
                <a:gd name="connsiteX836" fmla="*/ 2247260 w 4940931"/>
                <a:gd name="connsiteY836" fmla="*/ 53340 h 138429"/>
                <a:gd name="connsiteX837" fmla="*/ 2249165 w 4940931"/>
                <a:gd name="connsiteY837" fmla="*/ 68580 h 138429"/>
                <a:gd name="connsiteX838" fmla="*/ 2247895 w 4940931"/>
                <a:gd name="connsiteY838" fmla="*/ 68580 h 138429"/>
                <a:gd name="connsiteX839" fmla="*/ 2247895 w 4940931"/>
                <a:gd name="connsiteY839" fmla="*/ 72390 h 138429"/>
                <a:gd name="connsiteX840" fmla="*/ 2247895 w 4940931"/>
                <a:gd name="connsiteY840" fmla="*/ 75565 h 138429"/>
                <a:gd name="connsiteX841" fmla="*/ 2196460 w 4940931"/>
                <a:gd name="connsiteY841" fmla="*/ 75565 h 138429"/>
                <a:gd name="connsiteX842" fmla="*/ 2199000 w 4940931"/>
                <a:gd name="connsiteY842" fmla="*/ 85090 h 138429"/>
                <a:gd name="connsiteX843" fmla="*/ 2203445 w 4940931"/>
                <a:gd name="connsiteY843" fmla="*/ 91440 h 138429"/>
                <a:gd name="connsiteX844" fmla="*/ 2209160 w 4940931"/>
                <a:gd name="connsiteY844" fmla="*/ 95250 h 138429"/>
                <a:gd name="connsiteX845" fmla="*/ 2216145 w 4940931"/>
                <a:gd name="connsiteY845" fmla="*/ 96520 h 138429"/>
                <a:gd name="connsiteX846" fmla="*/ 2221225 w 4940931"/>
                <a:gd name="connsiteY846" fmla="*/ 96520 h 138429"/>
                <a:gd name="connsiteX847" fmla="*/ 2225670 w 4940931"/>
                <a:gd name="connsiteY847" fmla="*/ 95250 h 138429"/>
                <a:gd name="connsiteX848" fmla="*/ 2229480 w 4940931"/>
                <a:gd name="connsiteY848" fmla="*/ 93345 h 138429"/>
                <a:gd name="connsiteX849" fmla="*/ 2233925 w 4940931"/>
                <a:gd name="connsiteY849" fmla="*/ 90805 h 138429"/>
                <a:gd name="connsiteX850" fmla="*/ 2242815 w 4940931"/>
                <a:gd name="connsiteY850" fmla="*/ 100330 h 138429"/>
                <a:gd name="connsiteX851" fmla="*/ 2237100 w 4940931"/>
                <a:gd name="connsiteY851" fmla="*/ 104775 h 138429"/>
                <a:gd name="connsiteX852" fmla="*/ 2231385 w 4940931"/>
                <a:gd name="connsiteY852" fmla="*/ 107950 h 138429"/>
                <a:gd name="connsiteX853" fmla="*/ 2224400 w 4940931"/>
                <a:gd name="connsiteY853" fmla="*/ 109855 h 138429"/>
                <a:gd name="connsiteX854" fmla="*/ 2215510 w 4940931"/>
                <a:gd name="connsiteY854" fmla="*/ 110490 h 138429"/>
                <a:gd name="connsiteX855" fmla="*/ 2205985 w 4940931"/>
                <a:gd name="connsiteY855" fmla="*/ 109220 h 138429"/>
                <a:gd name="connsiteX856" fmla="*/ 2198365 w 4940931"/>
                <a:gd name="connsiteY856" fmla="*/ 105410 h 138429"/>
                <a:gd name="connsiteX857" fmla="*/ 2192015 w 4940931"/>
                <a:gd name="connsiteY857" fmla="*/ 100330 h 138429"/>
                <a:gd name="connsiteX858" fmla="*/ 2186935 w 4940931"/>
                <a:gd name="connsiteY858" fmla="*/ 92710 h 138429"/>
                <a:gd name="connsiteX859" fmla="*/ 2183125 w 4940931"/>
                <a:gd name="connsiteY859" fmla="*/ 82550 h 138429"/>
                <a:gd name="connsiteX860" fmla="*/ 2181855 w 4940931"/>
                <a:gd name="connsiteY860" fmla="*/ 69850 h 138429"/>
                <a:gd name="connsiteX861" fmla="*/ 2184395 w 4940931"/>
                <a:gd name="connsiteY861" fmla="*/ 52070 h 138429"/>
                <a:gd name="connsiteX862" fmla="*/ 2191380 w 4940931"/>
                <a:gd name="connsiteY862" fmla="*/ 39370 h 138429"/>
                <a:gd name="connsiteX863" fmla="*/ 2202175 w 4940931"/>
                <a:gd name="connsiteY863" fmla="*/ 31750 h 138429"/>
                <a:gd name="connsiteX864" fmla="*/ 2216145 w 4940931"/>
                <a:gd name="connsiteY864" fmla="*/ 29210 h 138429"/>
                <a:gd name="connsiteX865" fmla="*/ 2029456 w 4940931"/>
                <a:gd name="connsiteY865" fmla="*/ 29210 h 138429"/>
                <a:gd name="connsiteX866" fmla="*/ 2044061 w 4940931"/>
                <a:gd name="connsiteY866" fmla="*/ 32385 h 138429"/>
                <a:gd name="connsiteX867" fmla="*/ 2054221 w 4940931"/>
                <a:gd name="connsiteY867" fmla="*/ 40640 h 138429"/>
                <a:gd name="connsiteX868" fmla="*/ 2060571 w 4940931"/>
                <a:gd name="connsiteY868" fmla="*/ 53340 h 138429"/>
                <a:gd name="connsiteX869" fmla="*/ 2062476 w 4940931"/>
                <a:gd name="connsiteY869" fmla="*/ 68580 h 138429"/>
                <a:gd name="connsiteX870" fmla="*/ 2061206 w 4940931"/>
                <a:gd name="connsiteY870" fmla="*/ 68580 h 138429"/>
                <a:gd name="connsiteX871" fmla="*/ 2061206 w 4940931"/>
                <a:gd name="connsiteY871" fmla="*/ 72390 h 138429"/>
                <a:gd name="connsiteX872" fmla="*/ 2061206 w 4940931"/>
                <a:gd name="connsiteY872" fmla="*/ 75565 h 138429"/>
                <a:gd name="connsiteX873" fmla="*/ 2009771 w 4940931"/>
                <a:gd name="connsiteY873" fmla="*/ 75565 h 138429"/>
                <a:gd name="connsiteX874" fmla="*/ 2012311 w 4940931"/>
                <a:gd name="connsiteY874" fmla="*/ 85090 h 138429"/>
                <a:gd name="connsiteX875" fmla="*/ 2016756 w 4940931"/>
                <a:gd name="connsiteY875" fmla="*/ 91440 h 138429"/>
                <a:gd name="connsiteX876" fmla="*/ 2022471 w 4940931"/>
                <a:gd name="connsiteY876" fmla="*/ 95250 h 138429"/>
                <a:gd name="connsiteX877" fmla="*/ 2029456 w 4940931"/>
                <a:gd name="connsiteY877" fmla="*/ 96520 h 138429"/>
                <a:gd name="connsiteX878" fmla="*/ 2034536 w 4940931"/>
                <a:gd name="connsiteY878" fmla="*/ 96520 h 138429"/>
                <a:gd name="connsiteX879" fmla="*/ 2038981 w 4940931"/>
                <a:gd name="connsiteY879" fmla="*/ 95250 h 138429"/>
                <a:gd name="connsiteX880" fmla="*/ 2042791 w 4940931"/>
                <a:gd name="connsiteY880" fmla="*/ 93345 h 138429"/>
                <a:gd name="connsiteX881" fmla="*/ 2047236 w 4940931"/>
                <a:gd name="connsiteY881" fmla="*/ 90805 h 138429"/>
                <a:gd name="connsiteX882" fmla="*/ 2056126 w 4940931"/>
                <a:gd name="connsiteY882" fmla="*/ 100330 h 138429"/>
                <a:gd name="connsiteX883" fmla="*/ 2050411 w 4940931"/>
                <a:gd name="connsiteY883" fmla="*/ 104775 h 138429"/>
                <a:gd name="connsiteX884" fmla="*/ 2044696 w 4940931"/>
                <a:gd name="connsiteY884" fmla="*/ 107950 h 138429"/>
                <a:gd name="connsiteX885" fmla="*/ 2037711 w 4940931"/>
                <a:gd name="connsiteY885" fmla="*/ 109855 h 138429"/>
                <a:gd name="connsiteX886" fmla="*/ 2028821 w 4940931"/>
                <a:gd name="connsiteY886" fmla="*/ 110490 h 138429"/>
                <a:gd name="connsiteX887" fmla="*/ 2019296 w 4940931"/>
                <a:gd name="connsiteY887" fmla="*/ 109220 h 138429"/>
                <a:gd name="connsiteX888" fmla="*/ 2011676 w 4940931"/>
                <a:gd name="connsiteY888" fmla="*/ 105410 h 138429"/>
                <a:gd name="connsiteX889" fmla="*/ 2005326 w 4940931"/>
                <a:gd name="connsiteY889" fmla="*/ 100330 h 138429"/>
                <a:gd name="connsiteX890" fmla="*/ 2000246 w 4940931"/>
                <a:gd name="connsiteY890" fmla="*/ 92710 h 138429"/>
                <a:gd name="connsiteX891" fmla="*/ 1996436 w 4940931"/>
                <a:gd name="connsiteY891" fmla="*/ 82550 h 138429"/>
                <a:gd name="connsiteX892" fmla="*/ 1995166 w 4940931"/>
                <a:gd name="connsiteY892" fmla="*/ 69850 h 138429"/>
                <a:gd name="connsiteX893" fmla="*/ 1997706 w 4940931"/>
                <a:gd name="connsiteY893" fmla="*/ 52070 h 138429"/>
                <a:gd name="connsiteX894" fmla="*/ 2004691 w 4940931"/>
                <a:gd name="connsiteY894" fmla="*/ 39370 h 138429"/>
                <a:gd name="connsiteX895" fmla="*/ 2015486 w 4940931"/>
                <a:gd name="connsiteY895" fmla="*/ 31750 h 138429"/>
                <a:gd name="connsiteX896" fmla="*/ 2029456 w 4940931"/>
                <a:gd name="connsiteY896" fmla="*/ 29210 h 138429"/>
                <a:gd name="connsiteX897" fmla="*/ 1831336 w 4940931"/>
                <a:gd name="connsiteY897" fmla="*/ 29210 h 138429"/>
                <a:gd name="connsiteX898" fmla="*/ 1845941 w 4940931"/>
                <a:gd name="connsiteY898" fmla="*/ 32385 h 138429"/>
                <a:gd name="connsiteX899" fmla="*/ 1856101 w 4940931"/>
                <a:gd name="connsiteY899" fmla="*/ 40640 h 138429"/>
                <a:gd name="connsiteX900" fmla="*/ 1862451 w 4940931"/>
                <a:gd name="connsiteY900" fmla="*/ 53340 h 138429"/>
                <a:gd name="connsiteX901" fmla="*/ 1864356 w 4940931"/>
                <a:gd name="connsiteY901" fmla="*/ 68580 h 138429"/>
                <a:gd name="connsiteX902" fmla="*/ 1863086 w 4940931"/>
                <a:gd name="connsiteY902" fmla="*/ 68580 h 138429"/>
                <a:gd name="connsiteX903" fmla="*/ 1863086 w 4940931"/>
                <a:gd name="connsiteY903" fmla="*/ 72390 h 138429"/>
                <a:gd name="connsiteX904" fmla="*/ 1863086 w 4940931"/>
                <a:gd name="connsiteY904" fmla="*/ 75565 h 138429"/>
                <a:gd name="connsiteX905" fmla="*/ 1811651 w 4940931"/>
                <a:gd name="connsiteY905" fmla="*/ 75565 h 138429"/>
                <a:gd name="connsiteX906" fmla="*/ 1814191 w 4940931"/>
                <a:gd name="connsiteY906" fmla="*/ 85090 h 138429"/>
                <a:gd name="connsiteX907" fmla="*/ 1818636 w 4940931"/>
                <a:gd name="connsiteY907" fmla="*/ 91440 h 138429"/>
                <a:gd name="connsiteX908" fmla="*/ 1824351 w 4940931"/>
                <a:gd name="connsiteY908" fmla="*/ 95250 h 138429"/>
                <a:gd name="connsiteX909" fmla="*/ 1831336 w 4940931"/>
                <a:gd name="connsiteY909" fmla="*/ 96520 h 138429"/>
                <a:gd name="connsiteX910" fmla="*/ 1836416 w 4940931"/>
                <a:gd name="connsiteY910" fmla="*/ 96520 h 138429"/>
                <a:gd name="connsiteX911" fmla="*/ 1840861 w 4940931"/>
                <a:gd name="connsiteY911" fmla="*/ 95250 h 138429"/>
                <a:gd name="connsiteX912" fmla="*/ 1844671 w 4940931"/>
                <a:gd name="connsiteY912" fmla="*/ 93345 h 138429"/>
                <a:gd name="connsiteX913" fmla="*/ 1849116 w 4940931"/>
                <a:gd name="connsiteY913" fmla="*/ 90805 h 138429"/>
                <a:gd name="connsiteX914" fmla="*/ 1858006 w 4940931"/>
                <a:gd name="connsiteY914" fmla="*/ 100330 h 138429"/>
                <a:gd name="connsiteX915" fmla="*/ 1852291 w 4940931"/>
                <a:gd name="connsiteY915" fmla="*/ 104775 h 138429"/>
                <a:gd name="connsiteX916" fmla="*/ 1846576 w 4940931"/>
                <a:gd name="connsiteY916" fmla="*/ 107950 h 138429"/>
                <a:gd name="connsiteX917" fmla="*/ 1839591 w 4940931"/>
                <a:gd name="connsiteY917" fmla="*/ 109855 h 138429"/>
                <a:gd name="connsiteX918" fmla="*/ 1830701 w 4940931"/>
                <a:gd name="connsiteY918" fmla="*/ 110490 h 138429"/>
                <a:gd name="connsiteX919" fmla="*/ 1821176 w 4940931"/>
                <a:gd name="connsiteY919" fmla="*/ 109220 h 138429"/>
                <a:gd name="connsiteX920" fmla="*/ 1813556 w 4940931"/>
                <a:gd name="connsiteY920" fmla="*/ 105410 h 138429"/>
                <a:gd name="connsiteX921" fmla="*/ 1807206 w 4940931"/>
                <a:gd name="connsiteY921" fmla="*/ 100330 h 138429"/>
                <a:gd name="connsiteX922" fmla="*/ 1802126 w 4940931"/>
                <a:gd name="connsiteY922" fmla="*/ 92710 h 138429"/>
                <a:gd name="connsiteX923" fmla="*/ 1798316 w 4940931"/>
                <a:gd name="connsiteY923" fmla="*/ 82550 h 138429"/>
                <a:gd name="connsiteX924" fmla="*/ 1797046 w 4940931"/>
                <a:gd name="connsiteY924" fmla="*/ 69850 h 138429"/>
                <a:gd name="connsiteX925" fmla="*/ 1799586 w 4940931"/>
                <a:gd name="connsiteY925" fmla="*/ 52070 h 138429"/>
                <a:gd name="connsiteX926" fmla="*/ 1806571 w 4940931"/>
                <a:gd name="connsiteY926" fmla="*/ 39370 h 138429"/>
                <a:gd name="connsiteX927" fmla="*/ 1817366 w 4940931"/>
                <a:gd name="connsiteY927" fmla="*/ 31750 h 138429"/>
                <a:gd name="connsiteX928" fmla="*/ 1831336 w 4940931"/>
                <a:gd name="connsiteY928" fmla="*/ 29210 h 138429"/>
                <a:gd name="connsiteX929" fmla="*/ 1501140 w 4940931"/>
                <a:gd name="connsiteY929" fmla="*/ 29210 h 138429"/>
                <a:gd name="connsiteX930" fmla="*/ 1506856 w 4940931"/>
                <a:gd name="connsiteY930" fmla="*/ 29210 h 138429"/>
                <a:gd name="connsiteX931" fmla="*/ 1518920 w 4940931"/>
                <a:gd name="connsiteY931" fmla="*/ 31750 h 138429"/>
                <a:gd name="connsiteX932" fmla="*/ 1527811 w 4940931"/>
                <a:gd name="connsiteY932" fmla="*/ 38100 h 138429"/>
                <a:gd name="connsiteX933" fmla="*/ 1532891 w 4940931"/>
                <a:gd name="connsiteY933" fmla="*/ 48895 h 138429"/>
                <a:gd name="connsiteX934" fmla="*/ 1534796 w 4940931"/>
                <a:gd name="connsiteY934" fmla="*/ 64135 h 138429"/>
                <a:gd name="connsiteX935" fmla="*/ 1534796 w 4940931"/>
                <a:gd name="connsiteY935" fmla="*/ 108585 h 138429"/>
                <a:gd name="connsiteX936" fmla="*/ 1519556 w 4940931"/>
                <a:gd name="connsiteY936" fmla="*/ 108585 h 138429"/>
                <a:gd name="connsiteX937" fmla="*/ 1518920 w 4940931"/>
                <a:gd name="connsiteY937" fmla="*/ 108585 h 138429"/>
                <a:gd name="connsiteX938" fmla="*/ 1518920 w 4940931"/>
                <a:gd name="connsiteY938" fmla="*/ 64770 h 138429"/>
                <a:gd name="connsiteX939" fmla="*/ 1515111 w 4940931"/>
                <a:gd name="connsiteY939" fmla="*/ 48895 h 138429"/>
                <a:gd name="connsiteX940" fmla="*/ 1503046 w 4940931"/>
                <a:gd name="connsiteY940" fmla="*/ 43180 h 138429"/>
                <a:gd name="connsiteX941" fmla="*/ 1496061 w 4940931"/>
                <a:gd name="connsiteY941" fmla="*/ 44450 h 138429"/>
                <a:gd name="connsiteX942" fmla="*/ 1490981 w 4940931"/>
                <a:gd name="connsiteY942" fmla="*/ 48260 h 138429"/>
                <a:gd name="connsiteX943" fmla="*/ 1487806 w 4940931"/>
                <a:gd name="connsiteY943" fmla="*/ 54610 h 138429"/>
                <a:gd name="connsiteX944" fmla="*/ 1487170 w 4940931"/>
                <a:gd name="connsiteY944" fmla="*/ 62865 h 138429"/>
                <a:gd name="connsiteX945" fmla="*/ 1487170 w 4940931"/>
                <a:gd name="connsiteY945" fmla="*/ 108585 h 138429"/>
                <a:gd name="connsiteX946" fmla="*/ 1471931 w 4940931"/>
                <a:gd name="connsiteY946" fmla="*/ 108585 h 138429"/>
                <a:gd name="connsiteX947" fmla="*/ 1471931 w 4940931"/>
                <a:gd name="connsiteY947" fmla="*/ 30480 h 138429"/>
                <a:gd name="connsiteX948" fmla="*/ 1487170 w 4940931"/>
                <a:gd name="connsiteY948" fmla="*/ 30480 h 138429"/>
                <a:gd name="connsiteX949" fmla="*/ 1487170 w 4940931"/>
                <a:gd name="connsiteY949" fmla="*/ 38100 h 138429"/>
                <a:gd name="connsiteX950" fmla="*/ 1490981 w 4940931"/>
                <a:gd name="connsiteY950" fmla="*/ 34290 h 138429"/>
                <a:gd name="connsiteX951" fmla="*/ 1495426 w 4940931"/>
                <a:gd name="connsiteY951" fmla="*/ 31115 h 138429"/>
                <a:gd name="connsiteX952" fmla="*/ 1501140 w 4940931"/>
                <a:gd name="connsiteY952" fmla="*/ 29210 h 138429"/>
                <a:gd name="connsiteX953" fmla="*/ 1250316 w 4940931"/>
                <a:gd name="connsiteY953" fmla="*/ 29210 h 138429"/>
                <a:gd name="connsiteX954" fmla="*/ 1264286 w 4940931"/>
                <a:gd name="connsiteY954" fmla="*/ 31750 h 138429"/>
                <a:gd name="connsiteX955" fmla="*/ 1276350 w 4940931"/>
                <a:gd name="connsiteY955" fmla="*/ 38100 h 138429"/>
                <a:gd name="connsiteX956" fmla="*/ 1278256 w 4940931"/>
                <a:gd name="connsiteY956" fmla="*/ 38100 h 138429"/>
                <a:gd name="connsiteX957" fmla="*/ 1271271 w 4940931"/>
                <a:gd name="connsiteY957" fmla="*/ 50165 h 138429"/>
                <a:gd name="connsiteX958" fmla="*/ 1261746 w 4940931"/>
                <a:gd name="connsiteY958" fmla="*/ 45085 h 138429"/>
                <a:gd name="connsiteX959" fmla="*/ 1250951 w 4940931"/>
                <a:gd name="connsiteY959" fmla="*/ 43180 h 138429"/>
                <a:gd name="connsiteX960" fmla="*/ 1242696 w 4940931"/>
                <a:gd name="connsiteY960" fmla="*/ 45085 h 138429"/>
                <a:gd name="connsiteX961" fmla="*/ 1240156 w 4940931"/>
                <a:gd name="connsiteY961" fmla="*/ 50165 h 138429"/>
                <a:gd name="connsiteX962" fmla="*/ 1240156 w 4940931"/>
                <a:gd name="connsiteY962" fmla="*/ 52705 h 138429"/>
                <a:gd name="connsiteX963" fmla="*/ 1242061 w 4940931"/>
                <a:gd name="connsiteY963" fmla="*/ 55245 h 138429"/>
                <a:gd name="connsiteX964" fmla="*/ 1246506 w 4940931"/>
                <a:gd name="connsiteY964" fmla="*/ 57785 h 138429"/>
                <a:gd name="connsiteX965" fmla="*/ 1253491 w 4940931"/>
                <a:gd name="connsiteY965" fmla="*/ 60960 h 138429"/>
                <a:gd name="connsiteX966" fmla="*/ 1264921 w 4940931"/>
                <a:gd name="connsiteY966" fmla="*/ 66040 h 138429"/>
                <a:gd name="connsiteX967" fmla="*/ 1273176 w 4940931"/>
                <a:gd name="connsiteY967" fmla="*/ 71120 h 138429"/>
                <a:gd name="connsiteX968" fmla="*/ 1278256 w 4940931"/>
                <a:gd name="connsiteY968" fmla="*/ 78105 h 138429"/>
                <a:gd name="connsiteX969" fmla="*/ 1280161 w 4940931"/>
                <a:gd name="connsiteY969" fmla="*/ 87630 h 138429"/>
                <a:gd name="connsiteX970" fmla="*/ 1277621 w 4940931"/>
                <a:gd name="connsiteY970" fmla="*/ 98425 h 138429"/>
                <a:gd name="connsiteX971" fmla="*/ 1271271 w 4940931"/>
                <a:gd name="connsiteY971" fmla="*/ 105410 h 138429"/>
                <a:gd name="connsiteX972" fmla="*/ 1261746 w 4940931"/>
                <a:gd name="connsiteY972" fmla="*/ 109220 h 138429"/>
                <a:gd name="connsiteX973" fmla="*/ 1250951 w 4940931"/>
                <a:gd name="connsiteY973" fmla="*/ 110490 h 138429"/>
                <a:gd name="connsiteX974" fmla="*/ 1235711 w 4940931"/>
                <a:gd name="connsiteY974" fmla="*/ 107950 h 138429"/>
                <a:gd name="connsiteX975" fmla="*/ 1221106 w 4940931"/>
                <a:gd name="connsiteY975" fmla="*/ 100965 h 138429"/>
                <a:gd name="connsiteX976" fmla="*/ 1228091 w 4940931"/>
                <a:gd name="connsiteY976" fmla="*/ 89535 h 138429"/>
                <a:gd name="connsiteX977" fmla="*/ 1239521 w 4940931"/>
                <a:gd name="connsiteY977" fmla="*/ 95250 h 138429"/>
                <a:gd name="connsiteX978" fmla="*/ 1250951 w 4940931"/>
                <a:gd name="connsiteY978" fmla="*/ 97155 h 138429"/>
                <a:gd name="connsiteX979" fmla="*/ 1261746 w 4940931"/>
                <a:gd name="connsiteY979" fmla="*/ 94615 h 138429"/>
                <a:gd name="connsiteX980" fmla="*/ 1264921 w 4940931"/>
                <a:gd name="connsiteY980" fmla="*/ 88265 h 138429"/>
                <a:gd name="connsiteX981" fmla="*/ 1263650 w 4940931"/>
                <a:gd name="connsiteY981" fmla="*/ 84455 h 138429"/>
                <a:gd name="connsiteX982" fmla="*/ 1259841 w 4940931"/>
                <a:gd name="connsiteY982" fmla="*/ 81280 h 138429"/>
                <a:gd name="connsiteX983" fmla="*/ 1254125 w 4940931"/>
                <a:gd name="connsiteY983" fmla="*/ 78105 h 138429"/>
                <a:gd name="connsiteX984" fmla="*/ 1246506 w 4940931"/>
                <a:gd name="connsiteY984" fmla="*/ 74930 h 138429"/>
                <a:gd name="connsiteX985" fmla="*/ 1235711 w 4940931"/>
                <a:gd name="connsiteY985" fmla="*/ 69850 h 138429"/>
                <a:gd name="connsiteX986" fmla="*/ 1228726 w 4940931"/>
                <a:gd name="connsiteY986" fmla="*/ 64770 h 138429"/>
                <a:gd name="connsiteX987" fmla="*/ 1224916 w 4940931"/>
                <a:gd name="connsiteY987" fmla="*/ 58420 h 138429"/>
                <a:gd name="connsiteX988" fmla="*/ 1223646 w 4940931"/>
                <a:gd name="connsiteY988" fmla="*/ 50165 h 138429"/>
                <a:gd name="connsiteX989" fmla="*/ 1225551 w 4940931"/>
                <a:gd name="connsiteY989" fmla="*/ 40640 h 138429"/>
                <a:gd name="connsiteX990" fmla="*/ 1231266 w 4940931"/>
                <a:gd name="connsiteY990" fmla="*/ 34290 h 138429"/>
                <a:gd name="connsiteX991" fmla="*/ 1239521 w 4940931"/>
                <a:gd name="connsiteY991" fmla="*/ 30480 h 138429"/>
                <a:gd name="connsiteX992" fmla="*/ 1250316 w 4940931"/>
                <a:gd name="connsiteY992" fmla="*/ 29210 h 138429"/>
                <a:gd name="connsiteX993" fmla="*/ 1180466 w 4940931"/>
                <a:gd name="connsiteY993" fmla="*/ 29210 h 138429"/>
                <a:gd name="connsiteX994" fmla="*/ 1195071 w 4940931"/>
                <a:gd name="connsiteY994" fmla="*/ 32385 h 138429"/>
                <a:gd name="connsiteX995" fmla="*/ 1205231 w 4940931"/>
                <a:gd name="connsiteY995" fmla="*/ 40640 h 138429"/>
                <a:gd name="connsiteX996" fmla="*/ 1211581 w 4940931"/>
                <a:gd name="connsiteY996" fmla="*/ 53340 h 138429"/>
                <a:gd name="connsiteX997" fmla="*/ 1213486 w 4940931"/>
                <a:gd name="connsiteY997" fmla="*/ 68580 h 138429"/>
                <a:gd name="connsiteX998" fmla="*/ 1212216 w 4940931"/>
                <a:gd name="connsiteY998" fmla="*/ 68580 h 138429"/>
                <a:gd name="connsiteX999" fmla="*/ 1212216 w 4940931"/>
                <a:gd name="connsiteY999" fmla="*/ 72390 h 138429"/>
                <a:gd name="connsiteX1000" fmla="*/ 1212216 w 4940931"/>
                <a:gd name="connsiteY1000" fmla="*/ 75565 h 138429"/>
                <a:gd name="connsiteX1001" fmla="*/ 1160781 w 4940931"/>
                <a:gd name="connsiteY1001" fmla="*/ 75565 h 138429"/>
                <a:gd name="connsiteX1002" fmla="*/ 1163321 w 4940931"/>
                <a:gd name="connsiteY1002" fmla="*/ 85090 h 138429"/>
                <a:gd name="connsiteX1003" fmla="*/ 1167766 w 4940931"/>
                <a:gd name="connsiteY1003" fmla="*/ 91440 h 138429"/>
                <a:gd name="connsiteX1004" fmla="*/ 1173481 w 4940931"/>
                <a:gd name="connsiteY1004" fmla="*/ 95250 h 138429"/>
                <a:gd name="connsiteX1005" fmla="*/ 1180466 w 4940931"/>
                <a:gd name="connsiteY1005" fmla="*/ 96520 h 138429"/>
                <a:gd name="connsiteX1006" fmla="*/ 1185546 w 4940931"/>
                <a:gd name="connsiteY1006" fmla="*/ 96520 h 138429"/>
                <a:gd name="connsiteX1007" fmla="*/ 1189991 w 4940931"/>
                <a:gd name="connsiteY1007" fmla="*/ 95250 h 138429"/>
                <a:gd name="connsiteX1008" fmla="*/ 1193801 w 4940931"/>
                <a:gd name="connsiteY1008" fmla="*/ 93345 h 138429"/>
                <a:gd name="connsiteX1009" fmla="*/ 1198246 w 4940931"/>
                <a:gd name="connsiteY1009" fmla="*/ 90805 h 138429"/>
                <a:gd name="connsiteX1010" fmla="*/ 1207136 w 4940931"/>
                <a:gd name="connsiteY1010" fmla="*/ 100330 h 138429"/>
                <a:gd name="connsiteX1011" fmla="*/ 1201421 w 4940931"/>
                <a:gd name="connsiteY1011" fmla="*/ 104775 h 138429"/>
                <a:gd name="connsiteX1012" fmla="*/ 1195706 w 4940931"/>
                <a:gd name="connsiteY1012" fmla="*/ 107950 h 138429"/>
                <a:gd name="connsiteX1013" fmla="*/ 1188721 w 4940931"/>
                <a:gd name="connsiteY1013" fmla="*/ 109855 h 138429"/>
                <a:gd name="connsiteX1014" fmla="*/ 1179831 w 4940931"/>
                <a:gd name="connsiteY1014" fmla="*/ 110490 h 138429"/>
                <a:gd name="connsiteX1015" fmla="*/ 1170306 w 4940931"/>
                <a:gd name="connsiteY1015" fmla="*/ 109220 h 138429"/>
                <a:gd name="connsiteX1016" fmla="*/ 1162686 w 4940931"/>
                <a:gd name="connsiteY1016" fmla="*/ 105410 h 138429"/>
                <a:gd name="connsiteX1017" fmla="*/ 1156336 w 4940931"/>
                <a:gd name="connsiteY1017" fmla="*/ 100330 h 138429"/>
                <a:gd name="connsiteX1018" fmla="*/ 1151256 w 4940931"/>
                <a:gd name="connsiteY1018" fmla="*/ 92710 h 138429"/>
                <a:gd name="connsiteX1019" fmla="*/ 1147446 w 4940931"/>
                <a:gd name="connsiteY1019" fmla="*/ 82550 h 138429"/>
                <a:gd name="connsiteX1020" fmla="*/ 1146176 w 4940931"/>
                <a:gd name="connsiteY1020" fmla="*/ 69850 h 138429"/>
                <a:gd name="connsiteX1021" fmla="*/ 1148716 w 4940931"/>
                <a:gd name="connsiteY1021" fmla="*/ 52070 h 138429"/>
                <a:gd name="connsiteX1022" fmla="*/ 1155701 w 4940931"/>
                <a:gd name="connsiteY1022" fmla="*/ 39370 h 138429"/>
                <a:gd name="connsiteX1023" fmla="*/ 1166496 w 4940931"/>
                <a:gd name="connsiteY1023" fmla="*/ 31750 h 138429"/>
                <a:gd name="connsiteX1024" fmla="*/ 1180466 w 4940931"/>
                <a:gd name="connsiteY1024" fmla="*/ 29210 h 138429"/>
                <a:gd name="connsiteX1025" fmla="*/ 901065 w 4940931"/>
                <a:gd name="connsiteY1025" fmla="*/ 29210 h 138429"/>
                <a:gd name="connsiteX1026" fmla="*/ 915670 w 4940931"/>
                <a:gd name="connsiteY1026" fmla="*/ 32385 h 138429"/>
                <a:gd name="connsiteX1027" fmla="*/ 925830 w 4940931"/>
                <a:gd name="connsiteY1027" fmla="*/ 40640 h 138429"/>
                <a:gd name="connsiteX1028" fmla="*/ 932180 w 4940931"/>
                <a:gd name="connsiteY1028" fmla="*/ 53340 h 138429"/>
                <a:gd name="connsiteX1029" fmla="*/ 934085 w 4940931"/>
                <a:gd name="connsiteY1029" fmla="*/ 68580 h 138429"/>
                <a:gd name="connsiteX1030" fmla="*/ 932815 w 4940931"/>
                <a:gd name="connsiteY1030" fmla="*/ 68580 h 138429"/>
                <a:gd name="connsiteX1031" fmla="*/ 932815 w 4940931"/>
                <a:gd name="connsiteY1031" fmla="*/ 72390 h 138429"/>
                <a:gd name="connsiteX1032" fmla="*/ 932815 w 4940931"/>
                <a:gd name="connsiteY1032" fmla="*/ 75565 h 138429"/>
                <a:gd name="connsiteX1033" fmla="*/ 881380 w 4940931"/>
                <a:gd name="connsiteY1033" fmla="*/ 75565 h 138429"/>
                <a:gd name="connsiteX1034" fmla="*/ 883920 w 4940931"/>
                <a:gd name="connsiteY1034" fmla="*/ 85090 h 138429"/>
                <a:gd name="connsiteX1035" fmla="*/ 888365 w 4940931"/>
                <a:gd name="connsiteY1035" fmla="*/ 91440 h 138429"/>
                <a:gd name="connsiteX1036" fmla="*/ 894080 w 4940931"/>
                <a:gd name="connsiteY1036" fmla="*/ 95250 h 138429"/>
                <a:gd name="connsiteX1037" fmla="*/ 901065 w 4940931"/>
                <a:gd name="connsiteY1037" fmla="*/ 96520 h 138429"/>
                <a:gd name="connsiteX1038" fmla="*/ 906145 w 4940931"/>
                <a:gd name="connsiteY1038" fmla="*/ 96520 h 138429"/>
                <a:gd name="connsiteX1039" fmla="*/ 910590 w 4940931"/>
                <a:gd name="connsiteY1039" fmla="*/ 95250 h 138429"/>
                <a:gd name="connsiteX1040" fmla="*/ 914400 w 4940931"/>
                <a:gd name="connsiteY1040" fmla="*/ 93345 h 138429"/>
                <a:gd name="connsiteX1041" fmla="*/ 918845 w 4940931"/>
                <a:gd name="connsiteY1041" fmla="*/ 90805 h 138429"/>
                <a:gd name="connsiteX1042" fmla="*/ 927735 w 4940931"/>
                <a:gd name="connsiteY1042" fmla="*/ 100330 h 138429"/>
                <a:gd name="connsiteX1043" fmla="*/ 922020 w 4940931"/>
                <a:gd name="connsiteY1043" fmla="*/ 104775 h 138429"/>
                <a:gd name="connsiteX1044" fmla="*/ 916305 w 4940931"/>
                <a:gd name="connsiteY1044" fmla="*/ 107950 h 138429"/>
                <a:gd name="connsiteX1045" fmla="*/ 909320 w 4940931"/>
                <a:gd name="connsiteY1045" fmla="*/ 109855 h 138429"/>
                <a:gd name="connsiteX1046" fmla="*/ 900430 w 4940931"/>
                <a:gd name="connsiteY1046" fmla="*/ 110490 h 138429"/>
                <a:gd name="connsiteX1047" fmla="*/ 890905 w 4940931"/>
                <a:gd name="connsiteY1047" fmla="*/ 109220 h 138429"/>
                <a:gd name="connsiteX1048" fmla="*/ 883285 w 4940931"/>
                <a:gd name="connsiteY1048" fmla="*/ 105410 h 138429"/>
                <a:gd name="connsiteX1049" fmla="*/ 876935 w 4940931"/>
                <a:gd name="connsiteY1049" fmla="*/ 100330 h 138429"/>
                <a:gd name="connsiteX1050" fmla="*/ 871855 w 4940931"/>
                <a:gd name="connsiteY1050" fmla="*/ 92710 h 138429"/>
                <a:gd name="connsiteX1051" fmla="*/ 868045 w 4940931"/>
                <a:gd name="connsiteY1051" fmla="*/ 82550 h 138429"/>
                <a:gd name="connsiteX1052" fmla="*/ 866775 w 4940931"/>
                <a:gd name="connsiteY1052" fmla="*/ 69850 h 138429"/>
                <a:gd name="connsiteX1053" fmla="*/ 869315 w 4940931"/>
                <a:gd name="connsiteY1053" fmla="*/ 52070 h 138429"/>
                <a:gd name="connsiteX1054" fmla="*/ 876300 w 4940931"/>
                <a:gd name="connsiteY1054" fmla="*/ 39370 h 138429"/>
                <a:gd name="connsiteX1055" fmla="*/ 887095 w 4940931"/>
                <a:gd name="connsiteY1055" fmla="*/ 31750 h 138429"/>
                <a:gd name="connsiteX1056" fmla="*/ 901065 w 4940931"/>
                <a:gd name="connsiteY1056" fmla="*/ 29210 h 138429"/>
                <a:gd name="connsiteX1057" fmla="*/ 668656 w 4940931"/>
                <a:gd name="connsiteY1057" fmla="*/ 29210 h 138429"/>
                <a:gd name="connsiteX1058" fmla="*/ 676275 w 4940931"/>
                <a:gd name="connsiteY1058" fmla="*/ 29845 h 138429"/>
                <a:gd name="connsiteX1059" fmla="*/ 681991 w 4940931"/>
                <a:gd name="connsiteY1059" fmla="*/ 32385 h 138429"/>
                <a:gd name="connsiteX1060" fmla="*/ 678181 w 4940931"/>
                <a:gd name="connsiteY1060" fmla="*/ 46990 h 138429"/>
                <a:gd name="connsiteX1061" fmla="*/ 676910 w 4940931"/>
                <a:gd name="connsiteY1061" fmla="*/ 46990 h 138429"/>
                <a:gd name="connsiteX1062" fmla="*/ 671830 w 4940931"/>
                <a:gd name="connsiteY1062" fmla="*/ 45085 h 138429"/>
                <a:gd name="connsiteX1063" fmla="*/ 665480 w 4940931"/>
                <a:gd name="connsiteY1063" fmla="*/ 44450 h 138429"/>
                <a:gd name="connsiteX1064" fmla="*/ 654050 w 4940931"/>
                <a:gd name="connsiteY1064" fmla="*/ 49530 h 138429"/>
                <a:gd name="connsiteX1065" fmla="*/ 650240 w 4940931"/>
                <a:gd name="connsiteY1065" fmla="*/ 64770 h 138429"/>
                <a:gd name="connsiteX1066" fmla="*/ 650240 w 4940931"/>
                <a:gd name="connsiteY1066" fmla="*/ 109220 h 138429"/>
                <a:gd name="connsiteX1067" fmla="*/ 635000 w 4940931"/>
                <a:gd name="connsiteY1067" fmla="*/ 109220 h 138429"/>
                <a:gd name="connsiteX1068" fmla="*/ 635000 w 4940931"/>
                <a:gd name="connsiteY1068" fmla="*/ 31115 h 138429"/>
                <a:gd name="connsiteX1069" fmla="*/ 650240 w 4940931"/>
                <a:gd name="connsiteY1069" fmla="*/ 31115 h 138429"/>
                <a:gd name="connsiteX1070" fmla="*/ 650240 w 4940931"/>
                <a:gd name="connsiteY1070" fmla="*/ 38735 h 138429"/>
                <a:gd name="connsiteX1071" fmla="*/ 653416 w 4940931"/>
                <a:gd name="connsiteY1071" fmla="*/ 34925 h 138429"/>
                <a:gd name="connsiteX1072" fmla="*/ 657861 w 4940931"/>
                <a:gd name="connsiteY1072" fmla="*/ 31750 h 138429"/>
                <a:gd name="connsiteX1073" fmla="*/ 662940 w 4940931"/>
                <a:gd name="connsiteY1073" fmla="*/ 29845 h 138429"/>
                <a:gd name="connsiteX1074" fmla="*/ 668656 w 4940931"/>
                <a:gd name="connsiteY1074" fmla="*/ 29210 h 138429"/>
                <a:gd name="connsiteX1075" fmla="*/ 586739 w 4940931"/>
                <a:gd name="connsiteY1075" fmla="*/ 29210 h 138429"/>
                <a:gd name="connsiteX1076" fmla="*/ 601344 w 4940931"/>
                <a:gd name="connsiteY1076" fmla="*/ 32385 h 138429"/>
                <a:gd name="connsiteX1077" fmla="*/ 611504 w 4940931"/>
                <a:gd name="connsiteY1077" fmla="*/ 40640 h 138429"/>
                <a:gd name="connsiteX1078" fmla="*/ 617854 w 4940931"/>
                <a:gd name="connsiteY1078" fmla="*/ 53340 h 138429"/>
                <a:gd name="connsiteX1079" fmla="*/ 619759 w 4940931"/>
                <a:gd name="connsiteY1079" fmla="*/ 68580 h 138429"/>
                <a:gd name="connsiteX1080" fmla="*/ 618489 w 4940931"/>
                <a:gd name="connsiteY1080" fmla="*/ 68580 h 138429"/>
                <a:gd name="connsiteX1081" fmla="*/ 618489 w 4940931"/>
                <a:gd name="connsiteY1081" fmla="*/ 72390 h 138429"/>
                <a:gd name="connsiteX1082" fmla="*/ 618489 w 4940931"/>
                <a:gd name="connsiteY1082" fmla="*/ 75565 h 138429"/>
                <a:gd name="connsiteX1083" fmla="*/ 567054 w 4940931"/>
                <a:gd name="connsiteY1083" fmla="*/ 75565 h 138429"/>
                <a:gd name="connsiteX1084" fmla="*/ 569594 w 4940931"/>
                <a:gd name="connsiteY1084" fmla="*/ 85090 h 138429"/>
                <a:gd name="connsiteX1085" fmla="*/ 574039 w 4940931"/>
                <a:gd name="connsiteY1085" fmla="*/ 91440 h 138429"/>
                <a:gd name="connsiteX1086" fmla="*/ 579754 w 4940931"/>
                <a:gd name="connsiteY1086" fmla="*/ 95250 h 138429"/>
                <a:gd name="connsiteX1087" fmla="*/ 586739 w 4940931"/>
                <a:gd name="connsiteY1087" fmla="*/ 96520 h 138429"/>
                <a:gd name="connsiteX1088" fmla="*/ 591819 w 4940931"/>
                <a:gd name="connsiteY1088" fmla="*/ 96520 h 138429"/>
                <a:gd name="connsiteX1089" fmla="*/ 596264 w 4940931"/>
                <a:gd name="connsiteY1089" fmla="*/ 95250 h 138429"/>
                <a:gd name="connsiteX1090" fmla="*/ 600074 w 4940931"/>
                <a:gd name="connsiteY1090" fmla="*/ 93345 h 138429"/>
                <a:gd name="connsiteX1091" fmla="*/ 604519 w 4940931"/>
                <a:gd name="connsiteY1091" fmla="*/ 90805 h 138429"/>
                <a:gd name="connsiteX1092" fmla="*/ 613409 w 4940931"/>
                <a:gd name="connsiteY1092" fmla="*/ 100330 h 138429"/>
                <a:gd name="connsiteX1093" fmla="*/ 607694 w 4940931"/>
                <a:gd name="connsiteY1093" fmla="*/ 104775 h 138429"/>
                <a:gd name="connsiteX1094" fmla="*/ 601979 w 4940931"/>
                <a:gd name="connsiteY1094" fmla="*/ 107950 h 138429"/>
                <a:gd name="connsiteX1095" fmla="*/ 594994 w 4940931"/>
                <a:gd name="connsiteY1095" fmla="*/ 109855 h 138429"/>
                <a:gd name="connsiteX1096" fmla="*/ 586104 w 4940931"/>
                <a:gd name="connsiteY1096" fmla="*/ 110490 h 138429"/>
                <a:gd name="connsiteX1097" fmla="*/ 576579 w 4940931"/>
                <a:gd name="connsiteY1097" fmla="*/ 109220 h 138429"/>
                <a:gd name="connsiteX1098" fmla="*/ 568959 w 4940931"/>
                <a:gd name="connsiteY1098" fmla="*/ 105410 h 138429"/>
                <a:gd name="connsiteX1099" fmla="*/ 562609 w 4940931"/>
                <a:gd name="connsiteY1099" fmla="*/ 100330 h 138429"/>
                <a:gd name="connsiteX1100" fmla="*/ 557529 w 4940931"/>
                <a:gd name="connsiteY1100" fmla="*/ 92710 h 138429"/>
                <a:gd name="connsiteX1101" fmla="*/ 553719 w 4940931"/>
                <a:gd name="connsiteY1101" fmla="*/ 82550 h 138429"/>
                <a:gd name="connsiteX1102" fmla="*/ 552449 w 4940931"/>
                <a:gd name="connsiteY1102" fmla="*/ 69850 h 138429"/>
                <a:gd name="connsiteX1103" fmla="*/ 554989 w 4940931"/>
                <a:gd name="connsiteY1103" fmla="*/ 52070 h 138429"/>
                <a:gd name="connsiteX1104" fmla="*/ 561974 w 4940931"/>
                <a:gd name="connsiteY1104" fmla="*/ 39370 h 138429"/>
                <a:gd name="connsiteX1105" fmla="*/ 572769 w 4940931"/>
                <a:gd name="connsiteY1105" fmla="*/ 31750 h 138429"/>
                <a:gd name="connsiteX1106" fmla="*/ 586739 w 4940931"/>
                <a:gd name="connsiteY1106" fmla="*/ 29210 h 138429"/>
                <a:gd name="connsiteX1107" fmla="*/ 400050 w 4940931"/>
                <a:gd name="connsiteY1107" fmla="*/ 29210 h 138429"/>
                <a:gd name="connsiteX1108" fmla="*/ 414655 w 4940931"/>
                <a:gd name="connsiteY1108" fmla="*/ 32385 h 138429"/>
                <a:gd name="connsiteX1109" fmla="*/ 424815 w 4940931"/>
                <a:gd name="connsiteY1109" fmla="*/ 40640 h 138429"/>
                <a:gd name="connsiteX1110" fmla="*/ 431165 w 4940931"/>
                <a:gd name="connsiteY1110" fmla="*/ 53340 h 138429"/>
                <a:gd name="connsiteX1111" fmla="*/ 433070 w 4940931"/>
                <a:gd name="connsiteY1111" fmla="*/ 68580 h 138429"/>
                <a:gd name="connsiteX1112" fmla="*/ 431800 w 4940931"/>
                <a:gd name="connsiteY1112" fmla="*/ 68580 h 138429"/>
                <a:gd name="connsiteX1113" fmla="*/ 431800 w 4940931"/>
                <a:gd name="connsiteY1113" fmla="*/ 72390 h 138429"/>
                <a:gd name="connsiteX1114" fmla="*/ 431800 w 4940931"/>
                <a:gd name="connsiteY1114" fmla="*/ 75565 h 138429"/>
                <a:gd name="connsiteX1115" fmla="*/ 380365 w 4940931"/>
                <a:gd name="connsiteY1115" fmla="*/ 75565 h 138429"/>
                <a:gd name="connsiteX1116" fmla="*/ 382905 w 4940931"/>
                <a:gd name="connsiteY1116" fmla="*/ 85090 h 138429"/>
                <a:gd name="connsiteX1117" fmla="*/ 387350 w 4940931"/>
                <a:gd name="connsiteY1117" fmla="*/ 91440 h 138429"/>
                <a:gd name="connsiteX1118" fmla="*/ 393065 w 4940931"/>
                <a:gd name="connsiteY1118" fmla="*/ 95250 h 138429"/>
                <a:gd name="connsiteX1119" fmla="*/ 400050 w 4940931"/>
                <a:gd name="connsiteY1119" fmla="*/ 96520 h 138429"/>
                <a:gd name="connsiteX1120" fmla="*/ 405130 w 4940931"/>
                <a:gd name="connsiteY1120" fmla="*/ 96520 h 138429"/>
                <a:gd name="connsiteX1121" fmla="*/ 409575 w 4940931"/>
                <a:gd name="connsiteY1121" fmla="*/ 95250 h 138429"/>
                <a:gd name="connsiteX1122" fmla="*/ 413385 w 4940931"/>
                <a:gd name="connsiteY1122" fmla="*/ 93345 h 138429"/>
                <a:gd name="connsiteX1123" fmla="*/ 417830 w 4940931"/>
                <a:gd name="connsiteY1123" fmla="*/ 90805 h 138429"/>
                <a:gd name="connsiteX1124" fmla="*/ 426720 w 4940931"/>
                <a:gd name="connsiteY1124" fmla="*/ 100330 h 138429"/>
                <a:gd name="connsiteX1125" fmla="*/ 421005 w 4940931"/>
                <a:gd name="connsiteY1125" fmla="*/ 104775 h 138429"/>
                <a:gd name="connsiteX1126" fmla="*/ 415290 w 4940931"/>
                <a:gd name="connsiteY1126" fmla="*/ 107950 h 138429"/>
                <a:gd name="connsiteX1127" fmla="*/ 408305 w 4940931"/>
                <a:gd name="connsiteY1127" fmla="*/ 109855 h 138429"/>
                <a:gd name="connsiteX1128" fmla="*/ 399415 w 4940931"/>
                <a:gd name="connsiteY1128" fmla="*/ 110490 h 138429"/>
                <a:gd name="connsiteX1129" fmla="*/ 389890 w 4940931"/>
                <a:gd name="connsiteY1129" fmla="*/ 109220 h 138429"/>
                <a:gd name="connsiteX1130" fmla="*/ 382270 w 4940931"/>
                <a:gd name="connsiteY1130" fmla="*/ 105410 h 138429"/>
                <a:gd name="connsiteX1131" fmla="*/ 375920 w 4940931"/>
                <a:gd name="connsiteY1131" fmla="*/ 100330 h 138429"/>
                <a:gd name="connsiteX1132" fmla="*/ 370840 w 4940931"/>
                <a:gd name="connsiteY1132" fmla="*/ 92710 h 138429"/>
                <a:gd name="connsiteX1133" fmla="*/ 367030 w 4940931"/>
                <a:gd name="connsiteY1133" fmla="*/ 82550 h 138429"/>
                <a:gd name="connsiteX1134" fmla="*/ 365760 w 4940931"/>
                <a:gd name="connsiteY1134" fmla="*/ 69850 h 138429"/>
                <a:gd name="connsiteX1135" fmla="*/ 368300 w 4940931"/>
                <a:gd name="connsiteY1135" fmla="*/ 52070 h 138429"/>
                <a:gd name="connsiteX1136" fmla="*/ 375285 w 4940931"/>
                <a:gd name="connsiteY1136" fmla="*/ 39370 h 138429"/>
                <a:gd name="connsiteX1137" fmla="*/ 386080 w 4940931"/>
                <a:gd name="connsiteY1137" fmla="*/ 31750 h 138429"/>
                <a:gd name="connsiteX1138" fmla="*/ 400050 w 4940931"/>
                <a:gd name="connsiteY1138" fmla="*/ 29210 h 138429"/>
                <a:gd name="connsiteX1139" fmla="*/ 201930 w 4940931"/>
                <a:gd name="connsiteY1139" fmla="*/ 29210 h 138429"/>
                <a:gd name="connsiteX1140" fmla="*/ 216535 w 4940931"/>
                <a:gd name="connsiteY1140" fmla="*/ 32385 h 138429"/>
                <a:gd name="connsiteX1141" fmla="*/ 226695 w 4940931"/>
                <a:gd name="connsiteY1141" fmla="*/ 40640 h 138429"/>
                <a:gd name="connsiteX1142" fmla="*/ 233045 w 4940931"/>
                <a:gd name="connsiteY1142" fmla="*/ 53340 h 138429"/>
                <a:gd name="connsiteX1143" fmla="*/ 234950 w 4940931"/>
                <a:gd name="connsiteY1143" fmla="*/ 68580 h 138429"/>
                <a:gd name="connsiteX1144" fmla="*/ 233680 w 4940931"/>
                <a:gd name="connsiteY1144" fmla="*/ 68580 h 138429"/>
                <a:gd name="connsiteX1145" fmla="*/ 233680 w 4940931"/>
                <a:gd name="connsiteY1145" fmla="*/ 72390 h 138429"/>
                <a:gd name="connsiteX1146" fmla="*/ 233680 w 4940931"/>
                <a:gd name="connsiteY1146" fmla="*/ 75565 h 138429"/>
                <a:gd name="connsiteX1147" fmla="*/ 182245 w 4940931"/>
                <a:gd name="connsiteY1147" fmla="*/ 75565 h 138429"/>
                <a:gd name="connsiteX1148" fmla="*/ 184785 w 4940931"/>
                <a:gd name="connsiteY1148" fmla="*/ 85090 h 138429"/>
                <a:gd name="connsiteX1149" fmla="*/ 189230 w 4940931"/>
                <a:gd name="connsiteY1149" fmla="*/ 91440 h 138429"/>
                <a:gd name="connsiteX1150" fmla="*/ 194945 w 4940931"/>
                <a:gd name="connsiteY1150" fmla="*/ 95250 h 138429"/>
                <a:gd name="connsiteX1151" fmla="*/ 201930 w 4940931"/>
                <a:gd name="connsiteY1151" fmla="*/ 96520 h 138429"/>
                <a:gd name="connsiteX1152" fmla="*/ 207010 w 4940931"/>
                <a:gd name="connsiteY1152" fmla="*/ 96520 h 138429"/>
                <a:gd name="connsiteX1153" fmla="*/ 211455 w 4940931"/>
                <a:gd name="connsiteY1153" fmla="*/ 95250 h 138429"/>
                <a:gd name="connsiteX1154" fmla="*/ 215265 w 4940931"/>
                <a:gd name="connsiteY1154" fmla="*/ 93345 h 138429"/>
                <a:gd name="connsiteX1155" fmla="*/ 219710 w 4940931"/>
                <a:gd name="connsiteY1155" fmla="*/ 90805 h 138429"/>
                <a:gd name="connsiteX1156" fmla="*/ 228600 w 4940931"/>
                <a:gd name="connsiteY1156" fmla="*/ 100330 h 138429"/>
                <a:gd name="connsiteX1157" fmla="*/ 222885 w 4940931"/>
                <a:gd name="connsiteY1157" fmla="*/ 104775 h 138429"/>
                <a:gd name="connsiteX1158" fmla="*/ 217170 w 4940931"/>
                <a:gd name="connsiteY1158" fmla="*/ 107950 h 138429"/>
                <a:gd name="connsiteX1159" fmla="*/ 210185 w 4940931"/>
                <a:gd name="connsiteY1159" fmla="*/ 109855 h 138429"/>
                <a:gd name="connsiteX1160" fmla="*/ 201295 w 4940931"/>
                <a:gd name="connsiteY1160" fmla="*/ 110490 h 138429"/>
                <a:gd name="connsiteX1161" fmla="*/ 191770 w 4940931"/>
                <a:gd name="connsiteY1161" fmla="*/ 109220 h 138429"/>
                <a:gd name="connsiteX1162" fmla="*/ 184150 w 4940931"/>
                <a:gd name="connsiteY1162" fmla="*/ 105410 h 138429"/>
                <a:gd name="connsiteX1163" fmla="*/ 177800 w 4940931"/>
                <a:gd name="connsiteY1163" fmla="*/ 100330 h 138429"/>
                <a:gd name="connsiteX1164" fmla="*/ 172720 w 4940931"/>
                <a:gd name="connsiteY1164" fmla="*/ 92710 h 138429"/>
                <a:gd name="connsiteX1165" fmla="*/ 168910 w 4940931"/>
                <a:gd name="connsiteY1165" fmla="*/ 82550 h 138429"/>
                <a:gd name="connsiteX1166" fmla="*/ 167640 w 4940931"/>
                <a:gd name="connsiteY1166" fmla="*/ 69850 h 138429"/>
                <a:gd name="connsiteX1167" fmla="*/ 170180 w 4940931"/>
                <a:gd name="connsiteY1167" fmla="*/ 52070 h 138429"/>
                <a:gd name="connsiteX1168" fmla="*/ 177165 w 4940931"/>
                <a:gd name="connsiteY1168" fmla="*/ 39370 h 138429"/>
                <a:gd name="connsiteX1169" fmla="*/ 187960 w 4940931"/>
                <a:gd name="connsiteY1169" fmla="*/ 31750 h 138429"/>
                <a:gd name="connsiteX1170" fmla="*/ 201930 w 4940931"/>
                <a:gd name="connsiteY1170" fmla="*/ 29210 h 138429"/>
                <a:gd name="connsiteX1171" fmla="*/ 4664706 w 4940931"/>
                <a:gd name="connsiteY1171" fmla="*/ 28574 h 138429"/>
                <a:gd name="connsiteX1172" fmla="*/ 4678676 w 4940931"/>
                <a:gd name="connsiteY1172" fmla="*/ 31749 h 138429"/>
                <a:gd name="connsiteX1173" fmla="*/ 4689471 w 4940931"/>
                <a:gd name="connsiteY1173" fmla="*/ 40004 h 138429"/>
                <a:gd name="connsiteX1174" fmla="*/ 4696456 w 4940931"/>
                <a:gd name="connsiteY1174" fmla="*/ 52704 h 138429"/>
                <a:gd name="connsiteX1175" fmla="*/ 4698996 w 4940931"/>
                <a:gd name="connsiteY1175" fmla="*/ 69214 h 138429"/>
                <a:gd name="connsiteX1176" fmla="*/ 4699631 w 4940931"/>
                <a:gd name="connsiteY1176" fmla="*/ 69214 h 138429"/>
                <a:gd name="connsiteX1177" fmla="*/ 4697091 w 4940931"/>
                <a:gd name="connsiteY1177" fmla="*/ 86359 h 138429"/>
                <a:gd name="connsiteX1178" fmla="*/ 4689471 w 4940931"/>
                <a:gd name="connsiteY1178" fmla="*/ 99059 h 138429"/>
                <a:gd name="connsiteX1179" fmla="*/ 4678041 w 4940931"/>
                <a:gd name="connsiteY1179" fmla="*/ 107314 h 138429"/>
                <a:gd name="connsiteX1180" fmla="*/ 4664071 w 4940931"/>
                <a:gd name="connsiteY1180" fmla="*/ 109854 h 138429"/>
                <a:gd name="connsiteX1181" fmla="*/ 4650101 w 4940931"/>
                <a:gd name="connsiteY1181" fmla="*/ 106679 h 138429"/>
                <a:gd name="connsiteX1182" fmla="*/ 4639306 w 4940931"/>
                <a:gd name="connsiteY1182" fmla="*/ 98424 h 138429"/>
                <a:gd name="connsiteX1183" fmla="*/ 4632321 w 4940931"/>
                <a:gd name="connsiteY1183" fmla="*/ 85724 h 138429"/>
                <a:gd name="connsiteX1184" fmla="*/ 4629781 w 4940931"/>
                <a:gd name="connsiteY1184" fmla="*/ 69214 h 138429"/>
                <a:gd name="connsiteX1185" fmla="*/ 4632321 w 4940931"/>
                <a:gd name="connsiteY1185" fmla="*/ 52069 h 138429"/>
                <a:gd name="connsiteX1186" fmla="*/ 4639941 w 4940931"/>
                <a:gd name="connsiteY1186" fmla="*/ 39369 h 138429"/>
                <a:gd name="connsiteX1187" fmla="*/ 4650736 w 4940931"/>
                <a:gd name="connsiteY1187" fmla="*/ 31114 h 138429"/>
                <a:gd name="connsiteX1188" fmla="*/ 4664706 w 4940931"/>
                <a:gd name="connsiteY1188" fmla="*/ 28574 h 138429"/>
                <a:gd name="connsiteX1189" fmla="*/ 4264655 w 4940931"/>
                <a:gd name="connsiteY1189" fmla="*/ 28574 h 138429"/>
                <a:gd name="connsiteX1190" fmla="*/ 4278625 w 4940931"/>
                <a:gd name="connsiteY1190" fmla="*/ 31749 h 138429"/>
                <a:gd name="connsiteX1191" fmla="*/ 4289420 w 4940931"/>
                <a:gd name="connsiteY1191" fmla="*/ 40004 h 138429"/>
                <a:gd name="connsiteX1192" fmla="*/ 4296405 w 4940931"/>
                <a:gd name="connsiteY1192" fmla="*/ 52704 h 138429"/>
                <a:gd name="connsiteX1193" fmla="*/ 4298945 w 4940931"/>
                <a:gd name="connsiteY1193" fmla="*/ 69214 h 138429"/>
                <a:gd name="connsiteX1194" fmla="*/ 4299580 w 4940931"/>
                <a:gd name="connsiteY1194" fmla="*/ 69214 h 138429"/>
                <a:gd name="connsiteX1195" fmla="*/ 4297040 w 4940931"/>
                <a:gd name="connsiteY1195" fmla="*/ 86359 h 138429"/>
                <a:gd name="connsiteX1196" fmla="*/ 4289420 w 4940931"/>
                <a:gd name="connsiteY1196" fmla="*/ 99059 h 138429"/>
                <a:gd name="connsiteX1197" fmla="*/ 4277990 w 4940931"/>
                <a:gd name="connsiteY1197" fmla="*/ 107314 h 138429"/>
                <a:gd name="connsiteX1198" fmla="*/ 4264020 w 4940931"/>
                <a:gd name="connsiteY1198" fmla="*/ 109854 h 138429"/>
                <a:gd name="connsiteX1199" fmla="*/ 4250050 w 4940931"/>
                <a:gd name="connsiteY1199" fmla="*/ 106679 h 138429"/>
                <a:gd name="connsiteX1200" fmla="*/ 4239255 w 4940931"/>
                <a:gd name="connsiteY1200" fmla="*/ 98424 h 138429"/>
                <a:gd name="connsiteX1201" fmla="*/ 4232270 w 4940931"/>
                <a:gd name="connsiteY1201" fmla="*/ 85724 h 138429"/>
                <a:gd name="connsiteX1202" fmla="*/ 4229730 w 4940931"/>
                <a:gd name="connsiteY1202" fmla="*/ 69214 h 138429"/>
                <a:gd name="connsiteX1203" fmla="*/ 4232270 w 4940931"/>
                <a:gd name="connsiteY1203" fmla="*/ 52069 h 138429"/>
                <a:gd name="connsiteX1204" fmla="*/ 4239890 w 4940931"/>
                <a:gd name="connsiteY1204" fmla="*/ 39369 h 138429"/>
                <a:gd name="connsiteX1205" fmla="*/ 4250685 w 4940931"/>
                <a:gd name="connsiteY1205" fmla="*/ 31114 h 138429"/>
                <a:gd name="connsiteX1206" fmla="*/ 4264655 w 4940931"/>
                <a:gd name="connsiteY1206" fmla="*/ 28574 h 138429"/>
                <a:gd name="connsiteX1207" fmla="*/ 1420495 w 4940931"/>
                <a:gd name="connsiteY1207" fmla="*/ 28574 h 138429"/>
                <a:gd name="connsiteX1208" fmla="*/ 1434465 w 4940931"/>
                <a:gd name="connsiteY1208" fmla="*/ 31749 h 138429"/>
                <a:gd name="connsiteX1209" fmla="*/ 1445260 w 4940931"/>
                <a:gd name="connsiteY1209" fmla="*/ 40004 h 138429"/>
                <a:gd name="connsiteX1210" fmla="*/ 1452245 w 4940931"/>
                <a:gd name="connsiteY1210" fmla="*/ 52704 h 138429"/>
                <a:gd name="connsiteX1211" fmla="*/ 1454785 w 4940931"/>
                <a:gd name="connsiteY1211" fmla="*/ 69214 h 138429"/>
                <a:gd name="connsiteX1212" fmla="*/ 1455420 w 4940931"/>
                <a:gd name="connsiteY1212" fmla="*/ 69214 h 138429"/>
                <a:gd name="connsiteX1213" fmla="*/ 1452880 w 4940931"/>
                <a:gd name="connsiteY1213" fmla="*/ 86359 h 138429"/>
                <a:gd name="connsiteX1214" fmla="*/ 1445260 w 4940931"/>
                <a:gd name="connsiteY1214" fmla="*/ 99059 h 138429"/>
                <a:gd name="connsiteX1215" fmla="*/ 1433830 w 4940931"/>
                <a:gd name="connsiteY1215" fmla="*/ 107314 h 138429"/>
                <a:gd name="connsiteX1216" fmla="*/ 1419860 w 4940931"/>
                <a:gd name="connsiteY1216" fmla="*/ 109854 h 138429"/>
                <a:gd name="connsiteX1217" fmla="*/ 1405890 w 4940931"/>
                <a:gd name="connsiteY1217" fmla="*/ 106679 h 138429"/>
                <a:gd name="connsiteX1218" fmla="*/ 1395095 w 4940931"/>
                <a:gd name="connsiteY1218" fmla="*/ 98424 h 138429"/>
                <a:gd name="connsiteX1219" fmla="*/ 1388110 w 4940931"/>
                <a:gd name="connsiteY1219" fmla="*/ 85724 h 138429"/>
                <a:gd name="connsiteX1220" fmla="*/ 1385570 w 4940931"/>
                <a:gd name="connsiteY1220" fmla="*/ 69214 h 138429"/>
                <a:gd name="connsiteX1221" fmla="*/ 1388110 w 4940931"/>
                <a:gd name="connsiteY1221" fmla="*/ 52069 h 138429"/>
                <a:gd name="connsiteX1222" fmla="*/ 1395730 w 4940931"/>
                <a:gd name="connsiteY1222" fmla="*/ 39369 h 138429"/>
                <a:gd name="connsiteX1223" fmla="*/ 1406525 w 4940931"/>
                <a:gd name="connsiteY1223" fmla="*/ 31114 h 138429"/>
                <a:gd name="connsiteX1224" fmla="*/ 1420495 w 4940931"/>
                <a:gd name="connsiteY1224" fmla="*/ 28574 h 138429"/>
                <a:gd name="connsiteX1225" fmla="*/ 3143245 w 4940931"/>
                <a:gd name="connsiteY1225" fmla="*/ 5079 h 138429"/>
                <a:gd name="connsiteX1226" fmla="*/ 3219445 w 4940931"/>
                <a:gd name="connsiteY1226" fmla="*/ 5079 h 138429"/>
                <a:gd name="connsiteX1227" fmla="*/ 3219445 w 4940931"/>
                <a:gd name="connsiteY1227" fmla="*/ 20319 h 138429"/>
                <a:gd name="connsiteX1228" fmla="*/ 3188965 w 4940931"/>
                <a:gd name="connsiteY1228" fmla="*/ 20319 h 138429"/>
                <a:gd name="connsiteX1229" fmla="*/ 3188965 w 4940931"/>
                <a:gd name="connsiteY1229" fmla="*/ 108584 h 138429"/>
                <a:gd name="connsiteX1230" fmla="*/ 3173090 w 4940931"/>
                <a:gd name="connsiteY1230" fmla="*/ 108584 h 138429"/>
                <a:gd name="connsiteX1231" fmla="*/ 3173090 w 4940931"/>
                <a:gd name="connsiteY1231" fmla="*/ 20319 h 138429"/>
                <a:gd name="connsiteX1232" fmla="*/ 3143245 w 4940931"/>
                <a:gd name="connsiteY1232" fmla="*/ 20319 h 138429"/>
                <a:gd name="connsiteX1233" fmla="*/ 1628774 w 4940931"/>
                <a:gd name="connsiteY1233" fmla="*/ 5079 h 138429"/>
                <a:gd name="connsiteX1234" fmla="*/ 1704970 w 4940931"/>
                <a:gd name="connsiteY1234" fmla="*/ 5079 h 138429"/>
                <a:gd name="connsiteX1235" fmla="*/ 1704970 w 4940931"/>
                <a:gd name="connsiteY1235" fmla="*/ 20319 h 138429"/>
                <a:gd name="connsiteX1236" fmla="*/ 1675129 w 4940931"/>
                <a:gd name="connsiteY1236" fmla="*/ 20319 h 138429"/>
                <a:gd name="connsiteX1237" fmla="*/ 1675129 w 4940931"/>
                <a:gd name="connsiteY1237" fmla="*/ 108584 h 138429"/>
                <a:gd name="connsiteX1238" fmla="*/ 1659255 w 4940931"/>
                <a:gd name="connsiteY1238" fmla="*/ 108584 h 138429"/>
                <a:gd name="connsiteX1239" fmla="*/ 1659255 w 4940931"/>
                <a:gd name="connsiteY1239" fmla="*/ 20319 h 138429"/>
                <a:gd name="connsiteX1240" fmla="*/ 1628774 w 4940931"/>
                <a:gd name="connsiteY1240" fmla="*/ 20319 h 138429"/>
                <a:gd name="connsiteX1241" fmla="*/ 0 w 4940931"/>
                <a:gd name="connsiteY1241" fmla="*/ 5079 h 138429"/>
                <a:gd name="connsiteX1242" fmla="*/ 76200 w 4940931"/>
                <a:gd name="connsiteY1242" fmla="*/ 5079 h 138429"/>
                <a:gd name="connsiteX1243" fmla="*/ 76200 w 4940931"/>
                <a:gd name="connsiteY1243" fmla="*/ 20319 h 138429"/>
                <a:gd name="connsiteX1244" fmla="*/ 45720 w 4940931"/>
                <a:gd name="connsiteY1244" fmla="*/ 20319 h 138429"/>
                <a:gd name="connsiteX1245" fmla="*/ 45720 w 4940931"/>
                <a:gd name="connsiteY1245" fmla="*/ 108584 h 138429"/>
                <a:gd name="connsiteX1246" fmla="*/ 29845 w 4940931"/>
                <a:gd name="connsiteY1246" fmla="*/ 108584 h 138429"/>
                <a:gd name="connsiteX1247" fmla="*/ 29845 w 4940931"/>
                <a:gd name="connsiteY1247" fmla="*/ 20319 h 138429"/>
                <a:gd name="connsiteX1248" fmla="*/ 0 w 4940931"/>
                <a:gd name="connsiteY1248" fmla="*/ 20319 h 138429"/>
                <a:gd name="connsiteX1249" fmla="*/ 1362075 w 4940931"/>
                <a:gd name="connsiteY1249" fmla="*/ 1269 h 138429"/>
                <a:gd name="connsiteX1250" fmla="*/ 1365885 w 4940931"/>
                <a:gd name="connsiteY1250" fmla="*/ 1904 h 138429"/>
                <a:gd name="connsiteX1251" fmla="*/ 1369060 w 4940931"/>
                <a:gd name="connsiteY1251" fmla="*/ 3809 h 138429"/>
                <a:gd name="connsiteX1252" fmla="*/ 1370965 w 4940931"/>
                <a:gd name="connsiteY1252" fmla="*/ 6984 h 138429"/>
                <a:gd name="connsiteX1253" fmla="*/ 1371600 w 4940931"/>
                <a:gd name="connsiteY1253" fmla="*/ 10794 h 138429"/>
                <a:gd name="connsiteX1254" fmla="*/ 1370965 w 4940931"/>
                <a:gd name="connsiteY1254" fmla="*/ 14604 h 138429"/>
                <a:gd name="connsiteX1255" fmla="*/ 1369060 w 4940931"/>
                <a:gd name="connsiteY1255" fmla="*/ 17779 h 138429"/>
                <a:gd name="connsiteX1256" fmla="*/ 1365885 w 4940931"/>
                <a:gd name="connsiteY1256" fmla="*/ 19684 h 138429"/>
                <a:gd name="connsiteX1257" fmla="*/ 1362075 w 4940931"/>
                <a:gd name="connsiteY1257" fmla="*/ 20319 h 138429"/>
                <a:gd name="connsiteX1258" fmla="*/ 1358265 w 4940931"/>
                <a:gd name="connsiteY1258" fmla="*/ 19684 h 138429"/>
                <a:gd name="connsiteX1259" fmla="*/ 1355090 w 4940931"/>
                <a:gd name="connsiteY1259" fmla="*/ 17779 h 138429"/>
                <a:gd name="connsiteX1260" fmla="*/ 1353185 w 4940931"/>
                <a:gd name="connsiteY1260" fmla="*/ 14604 h 138429"/>
                <a:gd name="connsiteX1261" fmla="*/ 1352550 w 4940931"/>
                <a:gd name="connsiteY1261" fmla="*/ 10794 h 138429"/>
                <a:gd name="connsiteX1262" fmla="*/ 1353185 w 4940931"/>
                <a:gd name="connsiteY1262" fmla="*/ 6984 h 138429"/>
                <a:gd name="connsiteX1263" fmla="*/ 1355090 w 4940931"/>
                <a:gd name="connsiteY1263" fmla="*/ 3809 h 138429"/>
                <a:gd name="connsiteX1264" fmla="*/ 1358265 w 4940931"/>
                <a:gd name="connsiteY1264" fmla="*/ 1904 h 138429"/>
                <a:gd name="connsiteX1265" fmla="*/ 1362075 w 4940931"/>
                <a:gd name="connsiteY1265" fmla="*/ 1269 h 138429"/>
                <a:gd name="connsiteX1266" fmla="*/ 4789801 w 4940931"/>
                <a:gd name="connsiteY1266" fmla="*/ 634 h 138429"/>
                <a:gd name="connsiteX1267" fmla="*/ 4789801 w 4940931"/>
                <a:gd name="connsiteY1267" fmla="*/ 65404 h 138429"/>
                <a:gd name="connsiteX1268" fmla="*/ 4814566 w 4940931"/>
                <a:gd name="connsiteY1268" fmla="*/ 31114 h 138429"/>
                <a:gd name="connsiteX1269" fmla="*/ 4831711 w 4940931"/>
                <a:gd name="connsiteY1269" fmla="*/ 31114 h 138429"/>
                <a:gd name="connsiteX1270" fmla="*/ 4812026 w 4940931"/>
                <a:gd name="connsiteY1270" fmla="*/ 57149 h 138429"/>
                <a:gd name="connsiteX1271" fmla="*/ 4835521 w 4940931"/>
                <a:gd name="connsiteY1271" fmla="*/ 108584 h 138429"/>
                <a:gd name="connsiteX1272" fmla="*/ 4819011 w 4940931"/>
                <a:gd name="connsiteY1272" fmla="*/ 108584 h 138429"/>
                <a:gd name="connsiteX1273" fmla="*/ 4801866 w 4940931"/>
                <a:gd name="connsiteY1273" fmla="*/ 69849 h 138429"/>
                <a:gd name="connsiteX1274" fmla="*/ 4789801 w 4940931"/>
                <a:gd name="connsiteY1274" fmla="*/ 85724 h 138429"/>
                <a:gd name="connsiteX1275" fmla="*/ 4789801 w 4940931"/>
                <a:gd name="connsiteY1275" fmla="*/ 108584 h 138429"/>
                <a:gd name="connsiteX1276" fmla="*/ 4774561 w 4940931"/>
                <a:gd name="connsiteY1276" fmla="*/ 108584 h 138429"/>
                <a:gd name="connsiteX1277" fmla="*/ 4774561 w 4940931"/>
                <a:gd name="connsiteY1277" fmla="*/ 8889 h 138429"/>
                <a:gd name="connsiteX1278" fmla="*/ 4472301 w 4940931"/>
                <a:gd name="connsiteY1278" fmla="*/ 634 h 138429"/>
                <a:gd name="connsiteX1279" fmla="*/ 4472301 w 4940931"/>
                <a:gd name="connsiteY1279" fmla="*/ 109219 h 138429"/>
                <a:gd name="connsiteX1280" fmla="*/ 4457061 w 4940931"/>
                <a:gd name="connsiteY1280" fmla="*/ 109219 h 138429"/>
                <a:gd name="connsiteX1281" fmla="*/ 4457696 w 4940931"/>
                <a:gd name="connsiteY1281" fmla="*/ 108584 h 138429"/>
                <a:gd name="connsiteX1282" fmla="*/ 4457696 w 4940931"/>
                <a:gd name="connsiteY1282" fmla="*/ 100964 h 138429"/>
                <a:gd name="connsiteX1283" fmla="*/ 4453251 w 4940931"/>
                <a:gd name="connsiteY1283" fmla="*/ 104774 h 138429"/>
                <a:gd name="connsiteX1284" fmla="*/ 4448171 w 4940931"/>
                <a:gd name="connsiteY1284" fmla="*/ 107949 h 138429"/>
                <a:gd name="connsiteX1285" fmla="*/ 4443091 w 4940931"/>
                <a:gd name="connsiteY1285" fmla="*/ 109854 h 138429"/>
                <a:gd name="connsiteX1286" fmla="*/ 4437376 w 4940931"/>
                <a:gd name="connsiteY1286" fmla="*/ 109854 h 138429"/>
                <a:gd name="connsiteX1287" fmla="*/ 4425946 w 4940931"/>
                <a:gd name="connsiteY1287" fmla="*/ 107314 h 138429"/>
                <a:gd name="connsiteX1288" fmla="*/ 4416421 w 4940931"/>
                <a:gd name="connsiteY1288" fmla="*/ 99694 h 138429"/>
                <a:gd name="connsiteX1289" fmla="*/ 4410071 w 4940931"/>
                <a:gd name="connsiteY1289" fmla="*/ 86994 h 138429"/>
                <a:gd name="connsiteX1290" fmla="*/ 4407531 w 4940931"/>
                <a:gd name="connsiteY1290" fmla="*/ 67944 h 138429"/>
                <a:gd name="connsiteX1291" fmla="*/ 4410071 w 4940931"/>
                <a:gd name="connsiteY1291" fmla="*/ 50799 h 138429"/>
                <a:gd name="connsiteX1292" fmla="*/ 4417056 w 4940931"/>
                <a:gd name="connsiteY1292" fmla="*/ 38734 h 138429"/>
                <a:gd name="connsiteX1293" fmla="*/ 4426581 w 4940931"/>
                <a:gd name="connsiteY1293" fmla="*/ 31749 h 138429"/>
                <a:gd name="connsiteX1294" fmla="*/ 4438011 w 4940931"/>
                <a:gd name="connsiteY1294" fmla="*/ 29209 h 138429"/>
                <a:gd name="connsiteX1295" fmla="*/ 4443726 w 4940931"/>
                <a:gd name="connsiteY1295" fmla="*/ 29844 h 138429"/>
                <a:gd name="connsiteX1296" fmla="*/ 4448806 w 4940931"/>
                <a:gd name="connsiteY1296" fmla="*/ 31749 h 138429"/>
                <a:gd name="connsiteX1297" fmla="*/ 4453251 w 4940931"/>
                <a:gd name="connsiteY1297" fmla="*/ 34924 h 138429"/>
                <a:gd name="connsiteX1298" fmla="*/ 4457061 w 4940931"/>
                <a:gd name="connsiteY1298" fmla="*/ 38099 h 138429"/>
                <a:gd name="connsiteX1299" fmla="*/ 4457061 w 4940931"/>
                <a:gd name="connsiteY1299" fmla="*/ 8254 h 138429"/>
                <a:gd name="connsiteX1300" fmla="*/ 4390385 w 4940931"/>
                <a:gd name="connsiteY1300" fmla="*/ 634 h 138429"/>
                <a:gd name="connsiteX1301" fmla="*/ 4390385 w 4940931"/>
                <a:gd name="connsiteY1301" fmla="*/ 108584 h 138429"/>
                <a:gd name="connsiteX1302" fmla="*/ 4375145 w 4940931"/>
                <a:gd name="connsiteY1302" fmla="*/ 108584 h 138429"/>
                <a:gd name="connsiteX1303" fmla="*/ 4375145 w 4940931"/>
                <a:gd name="connsiteY1303" fmla="*/ 8889 h 138429"/>
                <a:gd name="connsiteX1304" fmla="*/ 3946521 w 4940931"/>
                <a:gd name="connsiteY1304" fmla="*/ 634 h 138429"/>
                <a:gd name="connsiteX1305" fmla="*/ 3946521 w 4940931"/>
                <a:gd name="connsiteY1305" fmla="*/ 38099 h 138429"/>
                <a:gd name="connsiteX1306" fmla="*/ 3950331 w 4940931"/>
                <a:gd name="connsiteY1306" fmla="*/ 34289 h 138429"/>
                <a:gd name="connsiteX1307" fmla="*/ 3954776 w 4940931"/>
                <a:gd name="connsiteY1307" fmla="*/ 31114 h 138429"/>
                <a:gd name="connsiteX1308" fmla="*/ 3960491 w 4940931"/>
                <a:gd name="connsiteY1308" fmla="*/ 29209 h 138429"/>
                <a:gd name="connsiteX1309" fmla="*/ 3966206 w 4940931"/>
                <a:gd name="connsiteY1309" fmla="*/ 29209 h 138429"/>
                <a:gd name="connsiteX1310" fmla="*/ 3978271 w 4940931"/>
                <a:gd name="connsiteY1310" fmla="*/ 31749 h 138429"/>
                <a:gd name="connsiteX1311" fmla="*/ 3987161 w 4940931"/>
                <a:gd name="connsiteY1311" fmla="*/ 38099 h 138429"/>
                <a:gd name="connsiteX1312" fmla="*/ 3992241 w 4940931"/>
                <a:gd name="connsiteY1312" fmla="*/ 49529 h 138429"/>
                <a:gd name="connsiteX1313" fmla="*/ 3994146 w 4940931"/>
                <a:gd name="connsiteY1313" fmla="*/ 64134 h 138429"/>
                <a:gd name="connsiteX1314" fmla="*/ 3994146 w 4940931"/>
                <a:gd name="connsiteY1314" fmla="*/ 108584 h 138429"/>
                <a:gd name="connsiteX1315" fmla="*/ 3978906 w 4940931"/>
                <a:gd name="connsiteY1315" fmla="*/ 108584 h 138429"/>
                <a:gd name="connsiteX1316" fmla="*/ 3978271 w 4940931"/>
                <a:gd name="connsiteY1316" fmla="*/ 108584 h 138429"/>
                <a:gd name="connsiteX1317" fmla="*/ 3978271 w 4940931"/>
                <a:gd name="connsiteY1317" fmla="*/ 64769 h 138429"/>
                <a:gd name="connsiteX1318" fmla="*/ 3974461 w 4940931"/>
                <a:gd name="connsiteY1318" fmla="*/ 48894 h 138429"/>
                <a:gd name="connsiteX1319" fmla="*/ 3962396 w 4940931"/>
                <a:gd name="connsiteY1319" fmla="*/ 43814 h 138429"/>
                <a:gd name="connsiteX1320" fmla="*/ 3956046 w 4940931"/>
                <a:gd name="connsiteY1320" fmla="*/ 45084 h 138429"/>
                <a:gd name="connsiteX1321" fmla="*/ 3950966 w 4940931"/>
                <a:gd name="connsiteY1321" fmla="*/ 48894 h 138429"/>
                <a:gd name="connsiteX1322" fmla="*/ 3947791 w 4940931"/>
                <a:gd name="connsiteY1322" fmla="*/ 55244 h 138429"/>
                <a:gd name="connsiteX1323" fmla="*/ 3946521 w 4940931"/>
                <a:gd name="connsiteY1323" fmla="*/ 63499 h 138429"/>
                <a:gd name="connsiteX1324" fmla="*/ 3946521 w 4940931"/>
                <a:gd name="connsiteY1324" fmla="*/ 109219 h 138429"/>
                <a:gd name="connsiteX1325" fmla="*/ 3931281 w 4940931"/>
                <a:gd name="connsiteY1325" fmla="*/ 109219 h 138429"/>
                <a:gd name="connsiteX1326" fmla="*/ 3931281 w 4940931"/>
                <a:gd name="connsiteY1326" fmla="*/ 8889 h 138429"/>
                <a:gd name="connsiteX1327" fmla="*/ 3248021 w 4940931"/>
                <a:gd name="connsiteY1327" fmla="*/ 634 h 138429"/>
                <a:gd name="connsiteX1328" fmla="*/ 3248021 w 4940931"/>
                <a:gd name="connsiteY1328" fmla="*/ 38099 h 138429"/>
                <a:gd name="connsiteX1329" fmla="*/ 3251831 w 4940931"/>
                <a:gd name="connsiteY1329" fmla="*/ 34289 h 138429"/>
                <a:gd name="connsiteX1330" fmla="*/ 3256276 w 4940931"/>
                <a:gd name="connsiteY1330" fmla="*/ 31114 h 138429"/>
                <a:gd name="connsiteX1331" fmla="*/ 3261991 w 4940931"/>
                <a:gd name="connsiteY1331" fmla="*/ 29209 h 138429"/>
                <a:gd name="connsiteX1332" fmla="*/ 3267706 w 4940931"/>
                <a:gd name="connsiteY1332" fmla="*/ 29209 h 138429"/>
                <a:gd name="connsiteX1333" fmla="*/ 3279771 w 4940931"/>
                <a:gd name="connsiteY1333" fmla="*/ 31749 h 138429"/>
                <a:gd name="connsiteX1334" fmla="*/ 3288661 w 4940931"/>
                <a:gd name="connsiteY1334" fmla="*/ 38099 h 138429"/>
                <a:gd name="connsiteX1335" fmla="*/ 3293741 w 4940931"/>
                <a:gd name="connsiteY1335" fmla="*/ 49529 h 138429"/>
                <a:gd name="connsiteX1336" fmla="*/ 3295646 w 4940931"/>
                <a:gd name="connsiteY1336" fmla="*/ 64134 h 138429"/>
                <a:gd name="connsiteX1337" fmla="*/ 3295646 w 4940931"/>
                <a:gd name="connsiteY1337" fmla="*/ 108584 h 138429"/>
                <a:gd name="connsiteX1338" fmla="*/ 3280406 w 4940931"/>
                <a:gd name="connsiteY1338" fmla="*/ 108584 h 138429"/>
                <a:gd name="connsiteX1339" fmla="*/ 3279771 w 4940931"/>
                <a:gd name="connsiteY1339" fmla="*/ 108584 h 138429"/>
                <a:gd name="connsiteX1340" fmla="*/ 3279771 w 4940931"/>
                <a:gd name="connsiteY1340" fmla="*/ 64769 h 138429"/>
                <a:gd name="connsiteX1341" fmla="*/ 3275961 w 4940931"/>
                <a:gd name="connsiteY1341" fmla="*/ 48894 h 138429"/>
                <a:gd name="connsiteX1342" fmla="*/ 3263896 w 4940931"/>
                <a:gd name="connsiteY1342" fmla="*/ 43814 h 138429"/>
                <a:gd name="connsiteX1343" fmla="*/ 3257546 w 4940931"/>
                <a:gd name="connsiteY1343" fmla="*/ 45084 h 138429"/>
                <a:gd name="connsiteX1344" fmla="*/ 3252466 w 4940931"/>
                <a:gd name="connsiteY1344" fmla="*/ 48894 h 138429"/>
                <a:gd name="connsiteX1345" fmla="*/ 3249291 w 4940931"/>
                <a:gd name="connsiteY1345" fmla="*/ 55244 h 138429"/>
                <a:gd name="connsiteX1346" fmla="*/ 3248021 w 4940931"/>
                <a:gd name="connsiteY1346" fmla="*/ 63499 h 138429"/>
                <a:gd name="connsiteX1347" fmla="*/ 3248021 w 4940931"/>
                <a:gd name="connsiteY1347" fmla="*/ 109219 h 138429"/>
                <a:gd name="connsiteX1348" fmla="*/ 3232781 w 4940931"/>
                <a:gd name="connsiteY1348" fmla="*/ 109219 h 138429"/>
                <a:gd name="connsiteX1349" fmla="*/ 3232781 w 4940931"/>
                <a:gd name="connsiteY1349" fmla="*/ 8889 h 138429"/>
                <a:gd name="connsiteX1350" fmla="*/ 2432681 w 4940931"/>
                <a:gd name="connsiteY1350" fmla="*/ 634 h 138429"/>
                <a:gd name="connsiteX1351" fmla="*/ 2432681 w 4940931"/>
                <a:gd name="connsiteY1351" fmla="*/ 38099 h 138429"/>
                <a:gd name="connsiteX1352" fmla="*/ 2436491 w 4940931"/>
                <a:gd name="connsiteY1352" fmla="*/ 34289 h 138429"/>
                <a:gd name="connsiteX1353" fmla="*/ 2440936 w 4940931"/>
                <a:gd name="connsiteY1353" fmla="*/ 31114 h 138429"/>
                <a:gd name="connsiteX1354" fmla="*/ 2446651 w 4940931"/>
                <a:gd name="connsiteY1354" fmla="*/ 29209 h 138429"/>
                <a:gd name="connsiteX1355" fmla="*/ 2452366 w 4940931"/>
                <a:gd name="connsiteY1355" fmla="*/ 29209 h 138429"/>
                <a:gd name="connsiteX1356" fmla="*/ 2464431 w 4940931"/>
                <a:gd name="connsiteY1356" fmla="*/ 31749 h 138429"/>
                <a:gd name="connsiteX1357" fmla="*/ 2473321 w 4940931"/>
                <a:gd name="connsiteY1357" fmla="*/ 38099 h 138429"/>
                <a:gd name="connsiteX1358" fmla="*/ 2478401 w 4940931"/>
                <a:gd name="connsiteY1358" fmla="*/ 49529 h 138429"/>
                <a:gd name="connsiteX1359" fmla="*/ 2480306 w 4940931"/>
                <a:gd name="connsiteY1359" fmla="*/ 64134 h 138429"/>
                <a:gd name="connsiteX1360" fmla="*/ 2480306 w 4940931"/>
                <a:gd name="connsiteY1360" fmla="*/ 108584 h 138429"/>
                <a:gd name="connsiteX1361" fmla="*/ 2465066 w 4940931"/>
                <a:gd name="connsiteY1361" fmla="*/ 108584 h 138429"/>
                <a:gd name="connsiteX1362" fmla="*/ 2464431 w 4940931"/>
                <a:gd name="connsiteY1362" fmla="*/ 108584 h 138429"/>
                <a:gd name="connsiteX1363" fmla="*/ 2464431 w 4940931"/>
                <a:gd name="connsiteY1363" fmla="*/ 64769 h 138429"/>
                <a:gd name="connsiteX1364" fmla="*/ 2460621 w 4940931"/>
                <a:gd name="connsiteY1364" fmla="*/ 48894 h 138429"/>
                <a:gd name="connsiteX1365" fmla="*/ 2448556 w 4940931"/>
                <a:gd name="connsiteY1365" fmla="*/ 43814 h 138429"/>
                <a:gd name="connsiteX1366" fmla="*/ 2442206 w 4940931"/>
                <a:gd name="connsiteY1366" fmla="*/ 45084 h 138429"/>
                <a:gd name="connsiteX1367" fmla="*/ 2437126 w 4940931"/>
                <a:gd name="connsiteY1367" fmla="*/ 48894 h 138429"/>
                <a:gd name="connsiteX1368" fmla="*/ 2433951 w 4940931"/>
                <a:gd name="connsiteY1368" fmla="*/ 55244 h 138429"/>
                <a:gd name="connsiteX1369" fmla="*/ 2432681 w 4940931"/>
                <a:gd name="connsiteY1369" fmla="*/ 63499 h 138429"/>
                <a:gd name="connsiteX1370" fmla="*/ 2432681 w 4940931"/>
                <a:gd name="connsiteY1370" fmla="*/ 109219 h 138429"/>
                <a:gd name="connsiteX1371" fmla="*/ 2417441 w 4940931"/>
                <a:gd name="connsiteY1371" fmla="*/ 109219 h 138429"/>
                <a:gd name="connsiteX1372" fmla="*/ 2417441 w 4940931"/>
                <a:gd name="connsiteY1372" fmla="*/ 8889 h 138429"/>
                <a:gd name="connsiteX1373" fmla="*/ 1734181 w 4940931"/>
                <a:gd name="connsiteY1373" fmla="*/ 634 h 138429"/>
                <a:gd name="connsiteX1374" fmla="*/ 1734181 w 4940931"/>
                <a:gd name="connsiteY1374" fmla="*/ 38099 h 138429"/>
                <a:gd name="connsiteX1375" fmla="*/ 1737991 w 4940931"/>
                <a:gd name="connsiteY1375" fmla="*/ 34289 h 138429"/>
                <a:gd name="connsiteX1376" fmla="*/ 1742436 w 4940931"/>
                <a:gd name="connsiteY1376" fmla="*/ 31114 h 138429"/>
                <a:gd name="connsiteX1377" fmla="*/ 1748151 w 4940931"/>
                <a:gd name="connsiteY1377" fmla="*/ 29209 h 138429"/>
                <a:gd name="connsiteX1378" fmla="*/ 1753866 w 4940931"/>
                <a:gd name="connsiteY1378" fmla="*/ 29209 h 138429"/>
                <a:gd name="connsiteX1379" fmla="*/ 1765931 w 4940931"/>
                <a:gd name="connsiteY1379" fmla="*/ 31749 h 138429"/>
                <a:gd name="connsiteX1380" fmla="*/ 1774821 w 4940931"/>
                <a:gd name="connsiteY1380" fmla="*/ 38099 h 138429"/>
                <a:gd name="connsiteX1381" fmla="*/ 1779901 w 4940931"/>
                <a:gd name="connsiteY1381" fmla="*/ 49529 h 138429"/>
                <a:gd name="connsiteX1382" fmla="*/ 1781806 w 4940931"/>
                <a:gd name="connsiteY1382" fmla="*/ 64134 h 138429"/>
                <a:gd name="connsiteX1383" fmla="*/ 1781806 w 4940931"/>
                <a:gd name="connsiteY1383" fmla="*/ 108584 h 138429"/>
                <a:gd name="connsiteX1384" fmla="*/ 1766566 w 4940931"/>
                <a:gd name="connsiteY1384" fmla="*/ 108584 h 138429"/>
                <a:gd name="connsiteX1385" fmla="*/ 1765931 w 4940931"/>
                <a:gd name="connsiteY1385" fmla="*/ 108584 h 138429"/>
                <a:gd name="connsiteX1386" fmla="*/ 1765931 w 4940931"/>
                <a:gd name="connsiteY1386" fmla="*/ 64769 h 138429"/>
                <a:gd name="connsiteX1387" fmla="*/ 1762121 w 4940931"/>
                <a:gd name="connsiteY1387" fmla="*/ 48894 h 138429"/>
                <a:gd name="connsiteX1388" fmla="*/ 1750056 w 4940931"/>
                <a:gd name="connsiteY1388" fmla="*/ 43814 h 138429"/>
                <a:gd name="connsiteX1389" fmla="*/ 1743706 w 4940931"/>
                <a:gd name="connsiteY1389" fmla="*/ 45084 h 138429"/>
                <a:gd name="connsiteX1390" fmla="*/ 1738626 w 4940931"/>
                <a:gd name="connsiteY1390" fmla="*/ 48894 h 138429"/>
                <a:gd name="connsiteX1391" fmla="*/ 1735451 w 4940931"/>
                <a:gd name="connsiteY1391" fmla="*/ 55244 h 138429"/>
                <a:gd name="connsiteX1392" fmla="*/ 1734181 w 4940931"/>
                <a:gd name="connsiteY1392" fmla="*/ 63499 h 138429"/>
                <a:gd name="connsiteX1393" fmla="*/ 1734181 w 4940931"/>
                <a:gd name="connsiteY1393" fmla="*/ 109219 h 138429"/>
                <a:gd name="connsiteX1394" fmla="*/ 1718941 w 4940931"/>
                <a:gd name="connsiteY1394" fmla="*/ 109219 h 138429"/>
                <a:gd name="connsiteX1395" fmla="*/ 1718941 w 4940931"/>
                <a:gd name="connsiteY1395" fmla="*/ 8889 h 138429"/>
                <a:gd name="connsiteX1396" fmla="*/ 803275 w 4940931"/>
                <a:gd name="connsiteY1396" fmla="*/ 634 h 138429"/>
                <a:gd name="connsiteX1397" fmla="*/ 803275 w 4940931"/>
                <a:gd name="connsiteY1397" fmla="*/ 38099 h 138429"/>
                <a:gd name="connsiteX1398" fmla="*/ 807085 w 4940931"/>
                <a:gd name="connsiteY1398" fmla="*/ 34289 h 138429"/>
                <a:gd name="connsiteX1399" fmla="*/ 811530 w 4940931"/>
                <a:gd name="connsiteY1399" fmla="*/ 31114 h 138429"/>
                <a:gd name="connsiteX1400" fmla="*/ 817245 w 4940931"/>
                <a:gd name="connsiteY1400" fmla="*/ 29209 h 138429"/>
                <a:gd name="connsiteX1401" fmla="*/ 822960 w 4940931"/>
                <a:gd name="connsiteY1401" fmla="*/ 29209 h 138429"/>
                <a:gd name="connsiteX1402" fmla="*/ 835025 w 4940931"/>
                <a:gd name="connsiteY1402" fmla="*/ 31749 h 138429"/>
                <a:gd name="connsiteX1403" fmla="*/ 843915 w 4940931"/>
                <a:gd name="connsiteY1403" fmla="*/ 38099 h 138429"/>
                <a:gd name="connsiteX1404" fmla="*/ 848995 w 4940931"/>
                <a:gd name="connsiteY1404" fmla="*/ 49529 h 138429"/>
                <a:gd name="connsiteX1405" fmla="*/ 850900 w 4940931"/>
                <a:gd name="connsiteY1405" fmla="*/ 64134 h 138429"/>
                <a:gd name="connsiteX1406" fmla="*/ 850900 w 4940931"/>
                <a:gd name="connsiteY1406" fmla="*/ 108584 h 138429"/>
                <a:gd name="connsiteX1407" fmla="*/ 835660 w 4940931"/>
                <a:gd name="connsiteY1407" fmla="*/ 108584 h 138429"/>
                <a:gd name="connsiteX1408" fmla="*/ 835025 w 4940931"/>
                <a:gd name="connsiteY1408" fmla="*/ 108584 h 138429"/>
                <a:gd name="connsiteX1409" fmla="*/ 835025 w 4940931"/>
                <a:gd name="connsiteY1409" fmla="*/ 64769 h 138429"/>
                <a:gd name="connsiteX1410" fmla="*/ 831215 w 4940931"/>
                <a:gd name="connsiteY1410" fmla="*/ 48894 h 138429"/>
                <a:gd name="connsiteX1411" fmla="*/ 819150 w 4940931"/>
                <a:gd name="connsiteY1411" fmla="*/ 43814 h 138429"/>
                <a:gd name="connsiteX1412" fmla="*/ 812800 w 4940931"/>
                <a:gd name="connsiteY1412" fmla="*/ 45084 h 138429"/>
                <a:gd name="connsiteX1413" fmla="*/ 807720 w 4940931"/>
                <a:gd name="connsiteY1413" fmla="*/ 48894 h 138429"/>
                <a:gd name="connsiteX1414" fmla="*/ 804545 w 4940931"/>
                <a:gd name="connsiteY1414" fmla="*/ 55244 h 138429"/>
                <a:gd name="connsiteX1415" fmla="*/ 803275 w 4940931"/>
                <a:gd name="connsiteY1415" fmla="*/ 63499 h 138429"/>
                <a:gd name="connsiteX1416" fmla="*/ 803275 w 4940931"/>
                <a:gd name="connsiteY1416" fmla="*/ 109219 h 138429"/>
                <a:gd name="connsiteX1417" fmla="*/ 788035 w 4940931"/>
                <a:gd name="connsiteY1417" fmla="*/ 109219 h 138429"/>
                <a:gd name="connsiteX1418" fmla="*/ 788035 w 4940931"/>
                <a:gd name="connsiteY1418" fmla="*/ 8889 h 138429"/>
                <a:gd name="connsiteX1419" fmla="*/ 104774 w 4940931"/>
                <a:gd name="connsiteY1419" fmla="*/ 634 h 138429"/>
                <a:gd name="connsiteX1420" fmla="*/ 104774 w 4940931"/>
                <a:gd name="connsiteY1420" fmla="*/ 38099 h 138429"/>
                <a:gd name="connsiteX1421" fmla="*/ 108584 w 4940931"/>
                <a:gd name="connsiteY1421" fmla="*/ 34289 h 138429"/>
                <a:gd name="connsiteX1422" fmla="*/ 113029 w 4940931"/>
                <a:gd name="connsiteY1422" fmla="*/ 31114 h 138429"/>
                <a:gd name="connsiteX1423" fmla="*/ 118744 w 4940931"/>
                <a:gd name="connsiteY1423" fmla="*/ 29209 h 138429"/>
                <a:gd name="connsiteX1424" fmla="*/ 124459 w 4940931"/>
                <a:gd name="connsiteY1424" fmla="*/ 29209 h 138429"/>
                <a:gd name="connsiteX1425" fmla="*/ 136524 w 4940931"/>
                <a:gd name="connsiteY1425" fmla="*/ 31749 h 138429"/>
                <a:gd name="connsiteX1426" fmla="*/ 145414 w 4940931"/>
                <a:gd name="connsiteY1426" fmla="*/ 38099 h 138429"/>
                <a:gd name="connsiteX1427" fmla="*/ 150494 w 4940931"/>
                <a:gd name="connsiteY1427" fmla="*/ 49529 h 138429"/>
                <a:gd name="connsiteX1428" fmla="*/ 152399 w 4940931"/>
                <a:gd name="connsiteY1428" fmla="*/ 64134 h 138429"/>
                <a:gd name="connsiteX1429" fmla="*/ 152399 w 4940931"/>
                <a:gd name="connsiteY1429" fmla="*/ 108584 h 138429"/>
                <a:gd name="connsiteX1430" fmla="*/ 137159 w 4940931"/>
                <a:gd name="connsiteY1430" fmla="*/ 108584 h 138429"/>
                <a:gd name="connsiteX1431" fmla="*/ 136524 w 4940931"/>
                <a:gd name="connsiteY1431" fmla="*/ 108584 h 138429"/>
                <a:gd name="connsiteX1432" fmla="*/ 136524 w 4940931"/>
                <a:gd name="connsiteY1432" fmla="*/ 64769 h 138429"/>
                <a:gd name="connsiteX1433" fmla="*/ 132714 w 4940931"/>
                <a:gd name="connsiteY1433" fmla="*/ 48894 h 138429"/>
                <a:gd name="connsiteX1434" fmla="*/ 120649 w 4940931"/>
                <a:gd name="connsiteY1434" fmla="*/ 43814 h 138429"/>
                <a:gd name="connsiteX1435" fmla="*/ 114299 w 4940931"/>
                <a:gd name="connsiteY1435" fmla="*/ 45084 h 138429"/>
                <a:gd name="connsiteX1436" fmla="*/ 109219 w 4940931"/>
                <a:gd name="connsiteY1436" fmla="*/ 48894 h 138429"/>
                <a:gd name="connsiteX1437" fmla="*/ 106044 w 4940931"/>
                <a:gd name="connsiteY1437" fmla="*/ 55244 h 138429"/>
                <a:gd name="connsiteX1438" fmla="*/ 104774 w 4940931"/>
                <a:gd name="connsiteY1438" fmla="*/ 63499 h 138429"/>
                <a:gd name="connsiteX1439" fmla="*/ 104774 w 4940931"/>
                <a:gd name="connsiteY1439" fmla="*/ 109219 h 138429"/>
                <a:gd name="connsiteX1440" fmla="*/ 89534 w 4940931"/>
                <a:gd name="connsiteY1440" fmla="*/ 109219 h 138429"/>
                <a:gd name="connsiteX1441" fmla="*/ 89534 w 4940931"/>
                <a:gd name="connsiteY1441" fmla="*/ 8889 h 138429"/>
                <a:gd name="connsiteX1442" fmla="*/ 3894450 w 4940931"/>
                <a:gd name="connsiteY1442" fmla="*/ 0 h 138429"/>
                <a:gd name="connsiteX1443" fmla="*/ 3894450 w 4940931"/>
                <a:gd name="connsiteY1443" fmla="*/ 30480 h 138429"/>
                <a:gd name="connsiteX1444" fmla="*/ 3913500 w 4940931"/>
                <a:gd name="connsiteY1444" fmla="*/ 30480 h 138429"/>
                <a:gd name="connsiteX1445" fmla="*/ 3913500 w 4940931"/>
                <a:gd name="connsiteY1445" fmla="*/ 44450 h 138429"/>
                <a:gd name="connsiteX1446" fmla="*/ 3894450 w 4940931"/>
                <a:gd name="connsiteY1446" fmla="*/ 44450 h 138429"/>
                <a:gd name="connsiteX1447" fmla="*/ 3894450 w 4940931"/>
                <a:gd name="connsiteY1447" fmla="*/ 86995 h 138429"/>
                <a:gd name="connsiteX1448" fmla="*/ 3894450 w 4940931"/>
                <a:gd name="connsiteY1448" fmla="*/ 91440 h 138429"/>
                <a:gd name="connsiteX1449" fmla="*/ 3895720 w 4940931"/>
                <a:gd name="connsiteY1449" fmla="*/ 94615 h 138429"/>
                <a:gd name="connsiteX1450" fmla="*/ 3898260 w 4940931"/>
                <a:gd name="connsiteY1450" fmla="*/ 95885 h 138429"/>
                <a:gd name="connsiteX1451" fmla="*/ 3902070 w 4940931"/>
                <a:gd name="connsiteY1451" fmla="*/ 95885 h 138429"/>
                <a:gd name="connsiteX1452" fmla="*/ 3908420 w 4940931"/>
                <a:gd name="connsiteY1452" fmla="*/ 95250 h 138429"/>
                <a:gd name="connsiteX1453" fmla="*/ 3913500 w 4940931"/>
                <a:gd name="connsiteY1453" fmla="*/ 93345 h 138429"/>
                <a:gd name="connsiteX1454" fmla="*/ 3911595 w 4940931"/>
                <a:gd name="connsiteY1454" fmla="*/ 106680 h 138429"/>
                <a:gd name="connsiteX1455" fmla="*/ 3905245 w 4940931"/>
                <a:gd name="connsiteY1455" fmla="*/ 109220 h 138429"/>
                <a:gd name="connsiteX1456" fmla="*/ 3896990 w 4940931"/>
                <a:gd name="connsiteY1456" fmla="*/ 110490 h 138429"/>
                <a:gd name="connsiteX1457" fmla="*/ 3890005 w 4940931"/>
                <a:gd name="connsiteY1457" fmla="*/ 109220 h 138429"/>
                <a:gd name="connsiteX1458" fmla="*/ 3884290 w 4940931"/>
                <a:gd name="connsiteY1458" fmla="*/ 105410 h 138429"/>
                <a:gd name="connsiteX1459" fmla="*/ 3880480 w 4940931"/>
                <a:gd name="connsiteY1459" fmla="*/ 99060 h 138429"/>
                <a:gd name="connsiteX1460" fmla="*/ 3879210 w 4940931"/>
                <a:gd name="connsiteY1460" fmla="*/ 89535 h 138429"/>
                <a:gd name="connsiteX1461" fmla="*/ 3879210 w 4940931"/>
                <a:gd name="connsiteY1461" fmla="*/ 44450 h 138429"/>
                <a:gd name="connsiteX1462" fmla="*/ 3868415 w 4940931"/>
                <a:gd name="connsiteY1462" fmla="*/ 44450 h 138429"/>
                <a:gd name="connsiteX1463" fmla="*/ 3868415 w 4940931"/>
                <a:gd name="connsiteY1463" fmla="*/ 30480 h 138429"/>
                <a:gd name="connsiteX1464" fmla="*/ 3879210 w 4940931"/>
                <a:gd name="connsiteY1464" fmla="*/ 30480 h 138429"/>
                <a:gd name="connsiteX1465" fmla="*/ 3879210 w 4940931"/>
                <a:gd name="connsiteY1465" fmla="*/ 8255 h 138429"/>
                <a:gd name="connsiteX1466" fmla="*/ 3664581 w 4940931"/>
                <a:gd name="connsiteY1466" fmla="*/ 0 h 138429"/>
                <a:gd name="connsiteX1467" fmla="*/ 3664581 w 4940931"/>
                <a:gd name="connsiteY1467" fmla="*/ 30480 h 138429"/>
                <a:gd name="connsiteX1468" fmla="*/ 3683631 w 4940931"/>
                <a:gd name="connsiteY1468" fmla="*/ 30480 h 138429"/>
                <a:gd name="connsiteX1469" fmla="*/ 3683631 w 4940931"/>
                <a:gd name="connsiteY1469" fmla="*/ 44450 h 138429"/>
                <a:gd name="connsiteX1470" fmla="*/ 3664581 w 4940931"/>
                <a:gd name="connsiteY1470" fmla="*/ 44450 h 138429"/>
                <a:gd name="connsiteX1471" fmla="*/ 3664581 w 4940931"/>
                <a:gd name="connsiteY1471" fmla="*/ 86995 h 138429"/>
                <a:gd name="connsiteX1472" fmla="*/ 3664581 w 4940931"/>
                <a:gd name="connsiteY1472" fmla="*/ 91440 h 138429"/>
                <a:gd name="connsiteX1473" fmla="*/ 3665851 w 4940931"/>
                <a:gd name="connsiteY1473" fmla="*/ 94615 h 138429"/>
                <a:gd name="connsiteX1474" fmla="*/ 3668391 w 4940931"/>
                <a:gd name="connsiteY1474" fmla="*/ 95885 h 138429"/>
                <a:gd name="connsiteX1475" fmla="*/ 3672201 w 4940931"/>
                <a:gd name="connsiteY1475" fmla="*/ 95885 h 138429"/>
                <a:gd name="connsiteX1476" fmla="*/ 3678551 w 4940931"/>
                <a:gd name="connsiteY1476" fmla="*/ 95250 h 138429"/>
                <a:gd name="connsiteX1477" fmla="*/ 3683631 w 4940931"/>
                <a:gd name="connsiteY1477" fmla="*/ 93345 h 138429"/>
                <a:gd name="connsiteX1478" fmla="*/ 3681726 w 4940931"/>
                <a:gd name="connsiteY1478" fmla="*/ 106680 h 138429"/>
                <a:gd name="connsiteX1479" fmla="*/ 3675376 w 4940931"/>
                <a:gd name="connsiteY1479" fmla="*/ 109220 h 138429"/>
                <a:gd name="connsiteX1480" fmla="*/ 3667121 w 4940931"/>
                <a:gd name="connsiteY1480" fmla="*/ 110490 h 138429"/>
                <a:gd name="connsiteX1481" fmla="*/ 3660136 w 4940931"/>
                <a:gd name="connsiteY1481" fmla="*/ 109220 h 138429"/>
                <a:gd name="connsiteX1482" fmla="*/ 3654421 w 4940931"/>
                <a:gd name="connsiteY1482" fmla="*/ 105410 h 138429"/>
                <a:gd name="connsiteX1483" fmla="*/ 3650611 w 4940931"/>
                <a:gd name="connsiteY1483" fmla="*/ 99060 h 138429"/>
                <a:gd name="connsiteX1484" fmla="*/ 3649341 w 4940931"/>
                <a:gd name="connsiteY1484" fmla="*/ 89535 h 138429"/>
                <a:gd name="connsiteX1485" fmla="*/ 3649341 w 4940931"/>
                <a:gd name="connsiteY1485" fmla="*/ 44450 h 138429"/>
                <a:gd name="connsiteX1486" fmla="*/ 3638546 w 4940931"/>
                <a:gd name="connsiteY1486" fmla="*/ 44450 h 138429"/>
                <a:gd name="connsiteX1487" fmla="*/ 3638546 w 4940931"/>
                <a:gd name="connsiteY1487" fmla="*/ 30480 h 138429"/>
                <a:gd name="connsiteX1488" fmla="*/ 3649341 w 4940931"/>
                <a:gd name="connsiteY1488" fmla="*/ 30480 h 138429"/>
                <a:gd name="connsiteX1489" fmla="*/ 3649341 w 4940931"/>
                <a:gd name="connsiteY1489" fmla="*/ 8255 h 138429"/>
                <a:gd name="connsiteX1490" fmla="*/ 3610605 w 4940931"/>
                <a:gd name="connsiteY1490" fmla="*/ 0 h 138429"/>
                <a:gd name="connsiteX1491" fmla="*/ 3610605 w 4940931"/>
                <a:gd name="connsiteY1491" fmla="*/ 30480 h 138429"/>
                <a:gd name="connsiteX1492" fmla="*/ 3629655 w 4940931"/>
                <a:gd name="connsiteY1492" fmla="*/ 30480 h 138429"/>
                <a:gd name="connsiteX1493" fmla="*/ 3629655 w 4940931"/>
                <a:gd name="connsiteY1493" fmla="*/ 44450 h 138429"/>
                <a:gd name="connsiteX1494" fmla="*/ 3610605 w 4940931"/>
                <a:gd name="connsiteY1494" fmla="*/ 44450 h 138429"/>
                <a:gd name="connsiteX1495" fmla="*/ 3610605 w 4940931"/>
                <a:gd name="connsiteY1495" fmla="*/ 86995 h 138429"/>
                <a:gd name="connsiteX1496" fmla="*/ 3610605 w 4940931"/>
                <a:gd name="connsiteY1496" fmla="*/ 91440 h 138429"/>
                <a:gd name="connsiteX1497" fmla="*/ 3611875 w 4940931"/>
                <a:gd name="connsiteY1497" fmla="*/ 94615 h 138429"/>
                <a:gd name="connsiteX1498" fmla="*/ 3614415 w 4940931"/>
                <a:gd name="connsiteY1498" fmla="*/ 95885 h 138429"/>
                <a:gd name="connsiteX1499" fmla="*/ 3618225 w 4940931"/>
                <a:gd name="connsiteY1499" fmla="*/ 95885 h 138429"/>
                <a:gd name="connsiteX1500" fmla="*/ 3624575 w 4940931"/>
                <a:gd name="connsiteY1500" fmla="*/ 95250 h 138429"/>
                <a:gd name="connsiteX1501" fmla="*/ 3629655 w 4940931"/>
                <a:gd name="connsiteY1501" fmla="*/ 93345 h 138429"/>
                <a:gd name="connsiteX1502" fmla="*/ 3627750 w 4940931"/>
                <a:gd name="connsiteY1502" fmla="*/ 106680 h 138429"/>
                <a:gd name="connsiteX1503" fmla="*/ 3621400 w 4940931"/>
                <a:gd name="connsiteY1503" fmla="*/ 109220 h 138429"/>
                <a:gd name="connsiteX1504" fmla="*/ 3613145 w 4940931"/>
                <a:gd name="connsiteY1504" fmla="*/ 110490 h 138429"/>
                <a:gd name="connsiteX1505" fmla="*/ 3606160 w 4940931"/>
                <a:gd name="connsiteY1505" fmla="*/ 109220 h 138429"/>
                <a:gd name="connsiteX1506" fmla="*/ 3600445 w 4940931"/>
                <a:gd name="connsiteY1506" fmla="*/ 105410 h 138429"/>
                <a:gd name="connsiteX1507" fmla="*/ 3596635 w 4940931"/>
                <a:gd name="connsiteY1507" fmla="*/ 99060 h 138429"/>
                <a:gd name="connsiteX1508" fmla="*/ 3595365 w 4940931"/>
                <a:gd name="connsiteY1508" fmla="*/ 89535 h 138429"/>
                <a:gd name="connsiteX1509" fmla="*/ 3595365 w 4940931"/>
                <a:gd name="connsiteY1509" fmla="*/ 44450 h 138429"/>
                <a:gd name="connsiteX1510" fmla="*/ 3584570 w 4940931"/>
                <a:gd name="connsiteY1510" fmla="*/ 44450 h 138429"/>
                <a:gd name="connsiteX1511" fmla="*/ 3584570 w 4940931"/>
                <a:gd name="connsiteY1511" fmla="*/ 30480 h 138429"/>
                <a:gd name="connsiteX1512" fmla="*/ 3595365 w 4940931"/>
                <a:gd name="connsiteY1512" fmla="*/ 30480 h 138429"/>
                <a:gd name="connsiteX1513" fmla="*/ 3595365 w 4940931"/>
                <a:gd name="connsiteY1513" fmla="*/ 8255 h 138429"/>
                <a:gd name="connsiteX1514" fmla="*/ 3445505 w 4940931"/>
                <a:gd name="connsiteY1514" fmla="*/ 0 h 138429"/>
                <a:gd name="connsiteX1515" fmla="*/ 3445505 w 4940931"/>
                <a:gd name="connsiteY1515" fmla="*/ 37465 h 138429"/>
                <a:gd name="connsiteX1516" fmla="*/ 3449950 w 4940931"/>
                <a:gd name="connsiteY1516" fmla="*/ 33655 h 138429"/>
                <a:gd name="connsiteX1517" fmla="*/ 3453760 w 4940931"/>
                <a:gd name="connsiteY1517" fmla="*/ 31115 h 138429"/>
                <a:gd name="connsiteX1518" fmla="*/ 3458840 w 4940931"/>
                <a:gd name="connsiteY1518" fmla="*/ 29210 h 138429"/>
                <a:gd name="connsiteX1519" fmla="*/ 3465825 w 4940931"/>
                <a:gd name="connsiteY1519" fmla="*/ 28575 h 138429"/>
                <a:gd name="connsiteX1520" fmla="*/ 3477890 w 4940931"/>
                <a:gd name="connsiteY1520" fmla="*/ 31115 h 138429"/>
                <a:gd name="connsiteX1521" fmla="*/ 3487415 w 4940931"/>
                <a:gd name="connsiteY1521" fmla="*/ 38735 h 138429"/>
                <a:gd name="connsiteX1522" fmla="*/ 3493765 w 4940931"/>
                <a:gd name="connsiteY1522" fmla="*/ 51435 h 138429"/>
                <a:gd name="connsiteX1523" fmla="*/ 3496305 w 4940931"/>
                <a:gd name="connsiteY1523" fmla="*/ 70485 h 138429"/>
                <a:gd name="connsiteX1524" fmla="*/ 3495670 w 4940931"/>
                <a:gd name="connsiteY1524" fmla="*/ 71120 h 138429"/>
                <a:gd name="connsiteX1525" fmla="*/ 3493130 w 4940931"/>
                <a:gd name="connsiteY1525" fmla="*/ 88265 h 138429"/>
                <a:gd name="connsiteX1526" fmla="*/ 3486145 w 4940931"/>
                <a:gd name="connsiteY1526" fmla="*/ 100330 h 138429"/>
                <a:gd name="connsiteX1527" fmla="*/ 3476620 w 4940931"/>
                <a:gd name="connsiteY1527" fmla="*/ 107315 h 138429"/>
                <a:gd name="connsiteX1528" fmla="*/ 3465190 w 4940931"/>
                <a:gd name="connsiteY1528" fmla="*/ 109855 h 138429"/>
                <a:gd name="connsiteX1529" fmla="*/ 3454395 w 4940931"/>
                <a:gd name="connsiteY1529" fmla="*/ 107315 h 138429"/>
                <a:gd name="connsiteX1530" fmla="*/ 3445505 w 4940931"/>
                <a:gd name="connsiteY1530" fmla="*/ 100965 h 138429"/>
                <a:gd name="connsiteX1531" fmla="*/ 3445505 w 4940931"/>
                <a:gd name="connsiteY1531" fmla="*/ 107950 h 138429"/>
                <a:gd name="connsiteX1532" fmla="*/ 3430265 w 4940931"/>
                <a:gd name="connsiteY1532" fmla="*/ 107950 h 138429"/>
                <a:gd name="connsiteX1533" fmla="*/ 3430265 w 4940931"/>
                <a:gd name="connsiteY1533" fmla="*/ 7620 h 138429"/>
                <a:gd name="connsiteX1534" fmla="*/ 2380611 w 4940931"/>
                <a:gd name="connsiteY1534" fmla="*/ 0 h 138429"/>
                <a:gd name="connsiteX1535" fmla="*/ 2380611 w 4940931"/>
                <a:gd name="connsiteY1535" fmla="*/ 30480 h 138429"/>
                <a:gd name="connsiteX1536" fmla="*/ 2399661 w 4940931"/>
                <a:gd name="connsiteY1536" fmla="*/ 30480 h 138429"/>
                <a:gd name="connsiteX1537" fmla="*/ 2399661 w 4940931"/>
                <a:gd name="connsiteY1537" fmla="*/ 44450 h 138429"/>
                <a:gd name="connsiteX1538" fmla="*/ 2380611 w 4940931"/>
                <a:gd name="connsiteY1538" fmla="*/ 44450 h 138429"/>
                <a:gd name="connsiteX1539" fmla="*/ 2380611 w 4940931"/>
                <a:gd name="connsiteY1539" fmla="*/ 86995 h 138429"/>
                <a:gd name="connsiteX1540" fmla="*/ 2380611 w 4940931"/>
                <a:gd name="connsiteY1540" fmla="*/ 91440 h 138429"/>
                <a:gd name="connsiteX1541" fmla="*/ 2381881 w 4940931"/>
                <a:gd name="connsiteY1541" fmla="*/ 94615 h 138429"/>
                <a:gd name="connsiteX1542" fmla="*/ 2384421 w 4940931"/>
                <a:gd name="connsiteY1542" fmla="*/ 95885 h 138429"/>
                <a:gd name="connsiteX1543" fmla="*/ 2388231 w 4940931"/>
                <a:gd name="connsiteY1543" fmla="*/ 95885 h 138429"/>
                <a:gd name="connsiteX1544" fmla="*/ 2394581 w 4940931"/>
                <a:gd name="connsiteY1544" fmla="*/ 95250 h 138429"/>
                <a:gd name="connsiteX1545" fmla="*/ 2399661 w 4940931"/>
                <a:gd name="connsiteY1545" fmla="*/ 93345 h 138429"/>
                <a:gd name="connsiteX1546" fmla="*/ 2397756 w 4940931"/>
                <a:gd name="connsiteY1546" fmla="*/ 106680 h 138429"/>
                <a:gd name="connsiteX1547" fmla="*/ 2391406 w 4940931"/>
                <a:gd name="connsiteY1547" fmla="*/ 109220 h 138429"/>
                <a:gd name="connsiteX1548" fmla="*/ 2383151 w 4940931"/>
                <a:gd name="connsiteY1548" fmla="*/ 110490 h 138429"/>
                <a:gd name="connsiteX1549" fmla="*/ 2376166 w 4940931"/>
                <a:gd name="connsiteY1549" fmla="*/ 109220 h 138429"/>
                <a:gd name="connsiteX1550" fmla="*/ 2370451 w 4940931"/>
                <a:gd name="connsiteY1550" fmla="*/ 105410 h 138429"/>
                <a:gd name="connsiteX1551" fmla="*/ 2366641 w 4940931"/>
                <a:gd name="connsiteY1551" fmla="*/ 99060 h 138429"/>
                <a:gd name="connsiteX1552" fmla="*/ 2365371 w 4940931"/>
                <a:gd name="connsiteY1552" fmla="*/ 89535 h 138429"/>
                <a:gd name="connsiteX1553" fmla="*/ 2365371 w 4940931"/>
                <a:gd name="connsiteY1553" fmla="*/ 44450 h 138429"/>
                <a:gd name="connsiteX1554" fmla="*/ 2354576 w 4940931"/>
                <a:gd name="connsiteY1554" fmla="*/ 44450 h 138429"/>
                <a:gd name="connsiteX1555" fmla="*/ 2354576 w 4940931"/>
                <a:gd name="connsiteY1555" fmla="*/ 30480 h 138429"/>
                <a:gd name="connsiteX1556" fmla="*/ 2365371 w 4940931"/>
                <a:gd name="connsiteY1556" fmla="*/ 30480 h 138429"/>
                <a:gd name="connsiteX1557" fmla="*/ 2365371 w 4940931"/>
                <a:gd name="connsiteY1557" fmla="*/ 8255 h 138429"/>
                <a:gd name="connsiteX1558" fmla="*/ 2150741 w 4940931"/>
                <a:gd name="connsiteY1558" fmla="*/ 0 h 138429"/>
                <a:gd name="connsiteX1559" fmla="*/ 2150741 w 4940931"/>
                <a:gd name="connsiteY1559" fmla="*/ 30480 h 138429"/>
                <a:gd name="connsiteX1560" fmla="*/ 2169791 w 4940931"/>
                <a:gd name="connsiteY1560" fmla="*/ 30480 h 138429"/>
                <a:gd name="connsiteX1561" fmla="*/ 2169791 w 4940931"/>
                <a:gd name="connsiteY1561" fmla="*/ 44450 h 138429"/>
                <a:gd name="connsiteX1562" fmla="*/ 2150741 w 4940931"/>
                <a:gd name="connsiteY1562" fmla="*/ 44450 h 138429"/>
                <a:gd name="connsiteX1563" fmla="*/ 2150741 w 4940931"/>
                <a:gd name="connsiteY1563" fmla="*/ 86995 h 138429"/>
                <a:gd name="connsiteX1564" fmla="*/ 2150741 w 4940931"/>
                <a:gd name="connsiteY1564" fmla="*/ 91440 h 138429"/>
                <a:gd name="connsiteX1565" fmla="*/ 2152011 w 4940931"/>
                <a:gd name="connsiteY1565" fmla="*/ 94615 h 138429"/>
                <a:gd name="connsiteX1566" fmla="*/ 2154551 w 4940931"/>
                <a:gd name="connsiteY1566" fmla="*/ 95885 h 138429"/>
                <a:gd name="connsiteX1567" fmla="*/ 2158361 w 4940931"/>
                <a:gd name="connsiteY1567" fmla="*/ 95885 h 138429"/>
                <a:gd name="connsiteX1568" fmla="*/ 2164711 w 4940931"/>
                <a:gd name="connsiteY1568" fmla="*/ 95250 h 138429"/>
                <a:gd name="connsiteX1569" fmla="*/ 2169791 w 4940931"/>
                <a:gd name="connsiteY1569" fmla="*/ 93345 h 138429"/>
                <a:gd name="connsiteX1570" fmla="*/ 2167886 w 4940931"/>
                <a:gd name="connsiteY1570" fmla="*/ 106680 h 138429"/>
                <a:gd name="connsiteX1571" fmla="*/ 2161536 w 4940931"/>
                <a:gd name="connsiteY1571" fmla="*/ 109220 h 138429"/>
                <a:gd name="connsiteX1572" fmla="*/ 2153281 w 4940931"/>
                <a:gd name="connsiteY1572" fmla="*/ 110490 h 138429"/>
                <a:gd name="connsiteX1573" fmla="*/ 2146296 w 4940931"/>
                <a:gd name="connsiteY1573" fmla="*/ 109220 h 138429"/>
                <a:gd name="connsiteX1574" fmla="*/ 2140581 w 4940931"/>
                <a:gd name="connsiteY1574" fmla="*/ 105410 h 138429"/>
                <a:gd name="connsiteX1575" fmla="*/ 2136771 w 4940931"/>
                <a:gd name="connsiteY1575" fmla="*/ 99060 h 138429"/>
                <a:gd name="connsiteX1576" fmla="*/ 2135501 w 4940931"/>
                <a:gd name="connsiteY1576" fmla="*/ 89535 h 138429"/>
                <a:gd name="connsiteX1577" fmla="*/ 2135501 w 4940931"/>
                <a:gd name="connsiteY1577" fmla="*/ 44450 h 138429"/>
                <a:gd name="connsiteX1578" fmla="*/ 2124706 w 4940931"/>
                <a:gd name="connsiteY1578" fmla="*/ 44450 h 138429"/>
                <a:gd name="connsiteX1579" fmla="*/ 2124706 w 4940931"/>
                <a:gd name="connsiteY1579" fmla="*/ 30480 h 138429"/>
                <a:gd name="connsiteX1580" fmla="*/ 2135501 w 4940931"/>
                <a:gd name="connsiteY1580" fmla="*/ 30480 h 138429"/>
                <a:gd name="connsiteX1581" fmla="*/ 2135501 w 4940931"/>
                <a:gd name="connsiteY1581" fmla="*/ 8255 h 138429"/>
                <a:gd name="connsiteX1582" fmla="*/ 2096131 w 4940931"/>
                <a:gd name="connsiteY1582" fmla="*/ 0 h 138429"/>
                <a:gd name="connsiteX1583" fmla="*/ 2096131 w 4940931"/>
                <a:gd name="connsiteY1583" fmla="*/ 30480 h 138429"/>
                <a:gd name="connsiteX1584" fmla="*/ 2115181 w 4940931"/>
                <a:gd name="connsiteY1584" fmla="*/ 30480 h 138429"/>
                <a:gd name="connsiteX1585" fmla="*/ 2115181 w 4940931"/>
                <a:gd name="connsiteY1585" fmla="*/ 44450 h 138429"/>
                <a:gd name="connsiteX1586" fmla="*/ 2096131 w 4940931"/>
                <a:gd name="connsiteY1586" fmla="*/ 44450 h 138429"/>
                <a:gd name="connsiteX1587" fmla="*/ 2096131 w 4940931"/>
                <a:gd name="connsiteY1587" fmla="*/ 86995 h 138429"/>
                <a:gd name="connsiteX1588" fmla="*/ 2096131 w 4940931"/>
                <a:gd name="connsiteY1588" fmla="*/ 91440 h 138429"/>
                <a:gd name="connsiteX1589" fmla="*/ 2097401 w 4940931"/>
                <a:gd name="connsiteY1589" fmla="*/ 94615 h 138429"/>
                <a:gd name="connsiteX1590" fmla="*/ 2099941 w 4940931"/>
                <a:gd name="connsiteY1590" fmla="*/ 95885 h 138429"/>
                <a:gd name="connsiteX1591" fmla="*/ 2103751 w 4940931"/>
                <a:gd name="connsiteY1591" fmla="*/ 95885 h 138429"/>
                <a:gd name="connsiteX1592" fmla="*/ 2110101 w 4940931"/>
                <a:gd name="connsiteY1592" fmla="*/ 95250 h 138429"/>
                <a:gd name="connsiteX1593" fmla="*/ 2115181 w 4940931"/>
                <a:gd name="connsiteY1593" fmla="*/ 93345 h 138429"/>
                <a:gd name="connsiteX1594" fmla="*/ 2113276 w 4940931"/>
                <a:gd name="connsiteY1594" fmla="*/ 106680 h 138429"/>
                <a:gd name="connsiteX1595" fmla="*/ 2106926 w 4940931"/>
                <a:gd name="connsiteY1595" fmla="*/ 109220 h 138429"/>
                <a:gd name="connsiteX1596" fmla="*/ 2098671 w 4940931"/>
                <a:gd name="connsiteY1596" fmla="*/ 110490 h 138429"/>
                <a:gd name="connsiteX1597" fmla="*/ 2091686 w 4940931"/>
                <a:gd name="connsiteY1597" fmla="*/ 109220 h 138429"/>
                <a:gd name="connsiteX1598" fmla="*/ 2085971 w 4940931"/>
                <a:gd name="connsiteY1598" fmla="*/ 105410 h 138429"/>
                <a:gd name="connsiteX1599" fmla="*/ 2082161 w 4940931"/>
                <a:gd name="connsiteY1599" fmla="*/ 99060 h 138429"/>
                <a:gd name="connsiteX1600" fmla="*/ 2080891 w 4940931"/>
                <a:gd name="connsiteY1600" fmla="*/ 89535 h 138429"/>
                <a:gd name="connsiteX1601" fmla="*/ 2080891 w 4940931"/>
                <a:gd name="connsiteY1601" fmla="*/ 44450 h 138429"/>
                <a:gd name="connsiteX1602" fmla="*/ 2070096 w 4940931"/>
                <a:gd name="connsiteY1602" fmla="*/ 44450 h 138429"/>
                <a:gd name="connsiteX1603" fmla="*/ 2070096 w 4940931"/>
                <a:gd name="connsiteY1603" fmla="*/ 30480 h 138429"/>
                <a:gd name="connsiteX1604" fmla="*/ 2080891 w 4940931"/>
                <a:gd name="connsiteY1604" fmla="*/ 30480 h 138429"/>
                <a:gd name="connsiteX1605" fmla="*/ 2080891 w 4940931"/>
                <a:gd name="connsiteY1605" fmla="*/ 8255 h 138429"/>
                <a:gd name="connsiteX1606" fmla="*/ 1931665 w 4940931"/>
                <a:gd name="connsiteY1606" fmla="*/ 0 h 138429"/>
                <a:gd name="connsiteX1607" fmla="*/ 1931665 w 4940931"/>
                <a:gd name="connsiteY1607" fmla="*/ 37465 h 138429"/>
                <a:gd name="connsiteX1608" fmla="*/ 1936110 w 4940931"/>
                <a:gd name="connsiteY1608" fmla="*/ 33655 h 138429"/>
                <a:gd name="connsiteX1609" fmla="*/ 1939920 w 4940931"/>
                <a:gd name="connsiteY1609" fmla="*/ 31115 h 138429"/>
                <a:gd name="connsiteX1610" fmla="*/ 1945000 w 4940931"/>
                <a:gd name="connsiteY1610" fmla="*/ 29210 h 138429"/>
                <a:gd name="connsiteX1611" fmla="*/ 1951985 w 4940931"/>
                <a:gd name="connsiteY1611" fmla="*/ 28575 h 138429"/>
                <a:gd name="connsiteX1612" fmla="*/ 1964050 w 4940931"/>
                <a:gd name="connsiteY1612" fmla="*/ 31115 h 138429"/>
                <a:gd name="connsiteX1613" fmla="*/ 1973575 w 4940931"/>
                <a:gd name="connsiteY1613" fmla="*/ 38735 h 138429"/>
                <a:gd name="connsiteX1614" fmla="*/ 1979925 w 4940931"/>
                <a:gd name="connsiteY1614" fmla="*/ 51435 h 138429"/>
                <a:gd name="connsiteX1615" fmla="*/ 1982465 w 4940931"/>
                <a:gd name="connsiteY1615" fmla="*/ 70485 h 138429"/>
                <a:gd name="connsiteX1616" fmla="*/ 1981830 w 4940931"/>
                <a:gd name="connsiteY1616" fmla="*/ 71120 h 138429"/>
                <a:gd name="connsiteX1617" fmla="*/ 1979290 w 4940931"/>
                <a:gd name="connsiteY1617" fmla="*/ 88265 h 138429"/>
                <a:gd name="connsiteX1618" fmla="*/ 1972305 w 4940931"/>
                <a:gd name="connsiteY1618" fmla="*/ 100330 h 138429"/>
                <a:gd name="connsiteX1619" fmla="*/ 1962780 w 4940931"/>
                <a:gd name="connsiteY1619" fmla="*/ 107315 h 138429"/>
                <a:gd name="connsiteX1620" fmla="*/ 1951350 w 4940931"/>
                <a:gd name="connsiteY1620" fmla="*/ 109855 h 138429"/>
                <a:gd name="connsiteX1621" fmla="*/ 1940555 w 4940931"/>
                <a:gd name="connsiteY1621" fmla="*/ 107315 h 138429"/>
                <a:gd name="connsiteX1622" fmla="*/ 1931665 w 4940931"/>
                <a:gd name="connsiteY1622" fmla="*/ 100965 h 138429"/>
                <a:gd name="connsiteX1623" fmla="*/ 1931665 w 4940931"/>
                <a:gd name="connsiteY1623" fmla="*/ 107950 h 138429"/>
                <a:gd name="connsiteX1624" fmla="*/ 1916425 w 4940931"/>
                <a:gd name="connsiteY1624" fmla="*/ 107950 h 138429"/>
                <a:gd name="connsiteX1625" fmla="*/ 1916425 w 4940931"/>
                <a:gd name="connsiteY1625" fmla="*/ 7620 h 138429"/>
                <a:gd name="connsiteX1626" fmla="*/ 1316991 w 4940931"/>
                <a:gd name="connsiteY1626" fmla="*/ 0 h 138429"/>
                <a:gd name="connsiteX1627" fmla="*/ 1316991 w 4940931"/>
                <a:gd name="connsiteY1627" fmla="*/ 30480 h 138429"/>
                <a:gd name="connsiteX1628" fmla="*/ 1336041 w 4940931"/>
                <a:gd name="connsiteY1628" fmla="*/ 30480 h 138429"/>
                <a:gd name="connsiteX1629" fmla="*/ 1336041 w 4940931"/>
                <a:gd name="connsiteY1629" fmla="*/ 44450 h 138429"/>
                <a:gd name="connsiteX1630" fmla="*/ 1316991 w 4940931"/>
                <a:gd name="connsiteY1630" fmla="*/ 44450 h 138429"/>
                <a:gd name="connsiteX1631" fmla="*/ 1316991 w 4940931"/>
                <a:gd name="connsiteY1631" fmla="*/ 86995 h 138429"/>
                <a:gd name="connsiteX1632" fmla="*/ 1316991 w 4940931"/>
                <a:gd name="connsiteY1632" fmla="*/ 91440 h 138429"/>
                <a:gd name="connsiteX1633" fmla="*/ 1318261 w 4940931"/>
                <a:gd name="connsiteY1633" fmla="*/ 94615 h 138429"/>
                <a:gd name="connsiteX1634" fmla="*/ 1320801 w 4940931"/>
                <a:gd name="connsiteY1634" fmla="*/ 95885 h 138429"/>
                <a:gd name="connsiteX1635" fmla="*/ 1324611 w 4940931"/>
                <a:gd name="connsiteY1635" fmla="*/ 95885 h 138429"/>
                <a:gd name="connsiteX1636" fmla="*/ 1330961 w 4940931"/>
                <a:gd name="connsiteY1636" fmla="*/ 95250 h 138429"/>
                <a:gd name="connsiteX1637" fmla="*/ 1336041 w 4940931"/>
                <a:gd name="connsiteY1637" fmla="*/ 93345 h 138429"/>
                <a:gd name="connsiteX1638" fmla="*/ 1334136 w 4940931"/>
                <a:gd name="connsiteY1638" fmla="*/ 106680 h 138429"/>
                <a:gd name="connsiteX1639" fmla="*/ 1327786 w 4940931"/>
                <a:gd name="connsiteY1639" fmla="*/ 109220 h 138429"/>
                <a:gd name="connsiteX1640" fmla="*/ 1319531 w 4940931"/>
                <a:gd name="connsiteY1640" fmla="*/ 110490 h 138429"/>
                <a:gd name="connsiteX1641" fmla="*/ 1312546 w 4940931"/>
                <a:gd name="connsiteY1641" fmla="*/ 109220 h 138429"/>
                <a:gd name="connsiteX1642" fmla="*/ 1306831 w 4940931"/>
                <a:gd name="connsiteY1642" fmla="*/ 105410 h 138429"/>
                <a:gd name="connsiteX1643" fmla="*/ 1303021 w 4940931"/>
                <a:gd name="connsiteY1643" fmla="*/ 99060 h 138429"/>
                <a:gd name="connsiteX1644" fmla="*/ 1301751 w 4940931"/>
                <a:gd name="connsiteY1644" fmla="*/ 89535 h 138429"/>
                <a:gd name="connsiteX1645" fmla="*/ 1301751 w 4940931"/>
                <a:gd name="connsiteY1645" fmla="*/ 44450 h 138429"/>
                <a:gd name="connsiteX1646" fmla="*/ 1290956 w 4940931"/>
                <a:gd name="connsiteY1646" fmla="*/ 44450 h 138429"/>
                <a:gd name="connsiteX1647" fmla="*/ 1290956 w 4940931"/>
                <a:gd name="connsiteY1647" fmla="*/ 30480 h 138429"/>
                <a:gd name="connsiteX1648" fmla="*/ 1301751 w 4940931"/>
                <a:gd name="connsiteY1648" fmla="*/ 30480 h 138429"/>
                <a:gd name="connsiteX1649" fmla="*/ 1301751 w 4940931"/>
                <a:gd name="connsiteY1649" fmla="*/ 8255 h 138429"/>
                <a:gd name="connsiteX1650" fmla="*/ 751206 w 4940931"/>
                <a:gd name="connsiteY1650" fmla="*/ 0 h 138429"/>
                <a:gd name="connsiteX1651" fmla="*/ 751206 w 4940931"/>
                <a:gd name="connsiteY1651" fmla="*/ 30480 h 138429"/>
                <a:gd name="connsiteX1652" fmla="*/ 770256 w 4940931"/>
                <a:gd name="connsiteY1652" fmla="*/ 30480 h 138429"/>
                <a:gd name="connsiteX1653" fmla="*/ 770256 w 4940931"/>
                <a:gd name="connsiteY1653" fmla="*/ 44450 h 138429"/>
                <a:gd name="connsiteX1654" fmla="*/ 751206 w 4940931"/>
                <a:gd name="connsiteY1654" fmla="*/ 44450 h 138429"/>
                <a:gd name="connsiteX1655" fmla="*/ 751206 w 4940931"/>
                <a:gd name="connsiteY1655" fmla="*/ 86995 h 138429"/>
                <a:gd name="connsiteX1656" fmla="*/ 751206 w 4940931"/>
                <a:gd name="connsiteY1656" fmla="*/ 91440 h 138429"/>
                <a:gd name="connsiteX1657" fmla="*/ 752476 w 4940931"/>
                <a:gd name="connsiteY1657" fmla="*/ 94615 h 138429"/>
                <a:gd name="connsiteX1658" fmla="*/ 755016 w 4940931"/>
                <a:gd name="connsiteY1658" fmla="*/ 95885 h 138429"/>
                <a:gd name="connsiteX1659" fmla="*/ 758826 w 4940931"/>
                <a:gd name="connsiteY1659" fmla="*/ 95885 h 138429"/>
                <a:gd name="connsiteX1660" fmla="*/ 765176 w 4940931"/>
                <a:gd name="connsiteY1660" fmla="*/ 95250 h 138429"/>
                <a:gd name="connsiteX1661" fmla="*/ 770256 w 4940931"/>
                <a:gd name="connsiteY1661" fmla="*/ 93345 h 138429"/>
                <a:gd name="connsiteX1662" fmla="*/ 768351 w 4940931"/>
                <a:gd name="connsiteY1662" fmla="*/ 106680 h 138429"/>
                <a:gd name="connsiteX1663" fmla="*/ 762001 w 4940931"/>
                <a:gd name="connsiteY1663" fmla="*/ 109220 h 138429"/>
                <a:gd name="connsiteX1664" fmla="*/ 753746 w 4940931"/>
                <a:gd name="connsiteY1664" fmla="*/ 110490 h 138429"/>
                <a:gd name="connsiteX1665" fmla="*/ 746761 w 4940931"/>
                <a:gd name="connsiteY1665" fmla="*/ 109220 h 138429"/>
                <a:gd name="connsiteX1666" fmla="*/ 741045 w 4940931"/>
                <a:gd name="connsiteY1666" fmla="*/ 105410 h 138429"/>
                <a:gd name="connsiteX1667" fmla="*/ 737236 w 4940931"/>
                <a:gd name="connsiteY1667" fmla="*/ 99060 h 138429"/>
                <a:gd name="connsiteX1668" fmla="*/ 735966 w 4940931"/>
                <a:gd name="connsiteY1668" fmla="*/ 89535 h 138429"/>
                <a:gd name="connsiteX1669" fmla="*/ 735966 w 4940931"/>
                <a:gd name="connsiteY1669" fmla="*/ 44450 h 138429"/>
                <a:gd name="connsiteX1670" fmla="*/ 725171 w 4940931"/>
                <a:gd name="connsiteY1670" fmla="*/ 44450 h 138429"/>
                <a:gd name="connsiteX1671" fmla="*/ 725171 w 4940931"/>
                <a:gd name="connsiteY1671" fmla="*/ 30480 h 138429"/>
                <a:gd name="connsiteX1672" fmla="*/ 735966 w 4940931"/>
                <a:gd name="connsiteY1672" fmla="*/ 30480 h 138429"/>
                <a:gd name="connsiteX1673" fmla="*/ 735966 w 4940931"/>
                <a:gd name="connsiteY1673" fmla="*/ 8255 h 138429"/>
                <a:gd name="connsiteX1674" fmla="*/ 521335 w 4940931"/>
                <a:gd name="connsiteY1674" fmla="*/ 0 h 138429"/>
                <a:gd name="connsiteX1675" fmla="*/ 521335 w 4940931"/>
                <a:gd name="connsiteY1675" fmla="*/ 30480 h 138429"/>
                <a:gd name="connsiteX1676" fmla="*/ 540385 w 4940931"/>
                <a:gd name="connsiteY1676" fmla="*/ 30480 h 138429"/>
                <a:gd name="connsiteX1677" fmla="*/ 540385 w 4940931"/>
                <a:gd name="connsiteY1677" fmla="*/ 44450 h 138429"/>
                <a:gd name="connsiteX1678" fmla="*/ 521335 w 4940931"/>
                <a:gd name="connsiteY1678" fmla="*/ 44450 h 138429"/>
                <a:gd name="connsiteX1679" fmla="*/ 521335 w 4940931"/>
                <a:gd name="connsiteY1679" fmla="*/ 86995 h 138429"/>
                <a:gd name="connsiteX1680" fmla="*/ 521335 w 4940931"/>
                <a:gd name="connsiteY1680" fmla="*/ 91440 h 138429"/>
                <a:gd name="connsiteX1681" fmla="*/ 522605 w 4940931"/>
                <a:gd name="connsiteY1681" fmla="*/ 94615 h 138429"/>
                <a:gd name="connsiteX1682" fmla="*/ 525145 w 4940931"/>
                <a:gd name="connsiteY1682" fmla="*/ 95885 h 138429"/>
                <a:gd name="connsiteX1683" fmla="*/ 528955 w 4940931"/>
                <a:gd name="connsiteY1683" fmla="*/ 95885 h 138429"/>
                <a:gd name="connsiteX1684" fmla="*/ 535305 w 4940931"/>
                <a:gd name="connsiteY1684" fmla="*/ 95250 h 138429"/>
                <a:gd name="connsiteX1685" fmla="*/ 540385 w 4940931"/>
                <a:gd name="connsiteY1685" fmla="*/ 93345 h 138429"/>
                <a:gd name="connsiteX1686" fmla="*/ 538480 w 4940931"/>
                <a:gd name="connsiteY1686" fmla="*/ 106680 h 138429"/>
                <a:gd name="connsiteX1687" fmla="*/ 532130 w 4940931"/>
                <a:gd name="connsiteY1687" fmla="*/ 109220 h 138429"/>
                <a:gd name="connsiteX1688" fmla="*/ 523875 w 4940931"/>
                <a:gd name="connsiteY1688" fmla="*/ 110490 h 138429"/>
                <a:gd name="connsiteX1689" fmla="*/ 516890 w 4940931"/>
                <a:gd name="connsiteY1689" fmla="*/ 109220 h 138429"/>
                <a:gd name="connsiteX1690" fmla="*/ 511175 w 4940931"/>
                <a:gd name="connsiteY1690" fmla="*/ 105410 h 138429"/>
                <a:gd name="connsiteX1691" fmla="*/ 507365 w 4940931"/>
                <a:gd name="connsiteY1691" fmla="*/ 99060 h 138429"/>
                <a:gd name="connsiteX1692" fmla="*/ 506095 w 4940931"/>
                <a:gd name="connsiteY1692" fmla="*/ 89535 h 138429"/>
                <a:gd name="connsiteX1693" fmla="*/ 506095 w 4940931"/>
                <a:gd name="connsiteY1693" fmla="*/ 44450 h 138429"/>
                <a:gd name="connsiteX1694" fmla="*/ 495300 w 4940931"/>
                <a:gd name="connsiteY1694" fmla="*/ 44450 h 138429"/>
                <a:gd name="connsiteX1695" fmla="*/ 495300 w 4940931"/>
                <a:gd name="connsiteY1695" fmla="*/ 30480 h 138429"/>
                <a:gd name="connsiteX1696" fmla="*/ 506095 w 4940931"/>
                <a:gd name="connsiteY1696" fmla="*/ 30480 h 138429"/>
                <a:gd name="connsiteX1697" fmla="*/ 506095 w 4940931"/>
                <a:gd name="connsiteY1697" fmla="*/ 8255 h 138429"/>
                <a:gd name="connsiteX1698" fmla="*/ 466724 w 4940931"/>
                <a:gd name="connsiteY1698" fmla="*/ 0 h 138429"/>
                <a:gd name="connsiteX1699" fmla="*/ 466724 w 4940931"/>
                <a:gd name="connsiteY1699" fmla="*/ 30480 h 138429"/>
                <a:gd name="connsiteX1700" fmla="*/ 485774 w 4940931"/>
                <a:gd name="connsiteY1700" fmla="*/ 30480 h 138429"/>
                <a:gd name="connsiteX1701" fmla="*/ 485774 w 4940931"/>
                <a:gd name="connsiteY1701" fmla="*/ 44450 h 138429"/>
                <a:gd name="connsiteX1702" fmla="*/ 466724 w 4940931"/>
                <a:gd name="connsiteY1702" fmla="*/ 44450 h 138429"/>
                <a:gd name="connsiteX1703" fmla="*/ 466724 w 4940931"/>
                <a:gd name="connsiteY1703" fmla="*/ 86995 h 138429"/>
                <a:gd name="connsiteX1704" fmla="*/ 466724 w 4940931"/>
                <a:gd name="connsiteY1704" fmla="*/ 91440 h 138429"/>
                <a:gd name="connsiteX1705" fmla="*/ 467994 w 4940931"/>
                <a:gd name="connsiteY1705" fmla="*/ 94615 h 138429"/>
                <a:gd name="connsiteX1706" fmla="*/ 470534 w 4940931"/>
                <a:gd name="connsiteY1706" fmla="*/ 95885 h 138429"/>
                <a:gd name="connsiteX1707" fmla="*/ 474344 w 4940931"/>
                <a:gd name="connsiteY1707" fmla="*/ 95885 h 138429"/>
                <a:gd name="connsiteX1708" fmla="*/ 480694 w 4940931"/>
                <a:gd name="connsiteY1708" fmla="*/ 95250 h 138429"/>
                <a:gd name="connsiteX1709" fmla="*/ 485774 w 4940931"/>
                <a:gd name="connsiteY1709" fmla="*/ 93345 h 138429"/>
                <a:gd name="connsiteX1710" fmla="*/ 483869 w 4940931"/>
                <a:gd name="connsiteY1710" fmla="*/ 106680 h 138429"/>
                <a:gd name="connsiteX1711" fmla="*/ 477519 w 4940931"/>
                <a:gd name="connsiteY1711" fmla="*/ 109220 h 138429"/>
                <a:gd name="connsiteX1712" fmla="*/ 469264 w 4940931"/>
                <a:gd name="connsiteY1712" fmla="*/ 110490 h 138429"/>
                <a:gd name="connsiteX1713" fmla="*/ 462279 w 4940931"/>
                <a:gd name="connsiteY1713" fmla="*/ 109220 h 138429"/>
                <a:gd name="connsiteX1714" fmla="*/ 456564 w 4940931"/>
                <a:gd name="connsiteY1714" fmla="*/ 105410 h 138429"/>
                <a:gd name="connsiteX1715" fmla="*/ 452754 w 4940931"/>
                <a:gd name="connsiteY1715" fmla="*/ 99060 h 138429"/>
                <a:gd name="connsiteX1716" fmla="*/ 451484 w 4940931"/>
                <a:gd name="connsiteY1716" fmla="*/ 89535 h 138429"/>
                <a:gd name="connsiteX1717" fmla="*/ 451484 w 4940931"/>
                <a:gd name="connsiteY1717" fmla="*/ 44450 h 138429"/>
                <a:gd name="connsiteX1718" fmla="*/ 440689 w 4940931"/>
                <a:gd name="connsiteY1718" fmla="*/ 44450 h 138429"/>
                <a:gd name="connsiteX1719" fmla="*/ 440689 w 4940931"/>
                <a:gd name="connsiteY1719" fmla="*/ 30480 h 138429"/>
                <a:gd name="connsiteX1720" fmla="*/ 451484 w 4940931"/>
                <a:gd name="connsiteY1720" fmla="*/ 30480 h 138429"/>
                <a:gd name="connsiteX1721" fmla="*/ 451484 w 4940931"/>
                <a:gd name="connsiteY1721" fmla="*/ 8255 h 138429"/>
                <a:gd name="connsiteX1722" fmla="*/ 302259 w 4940931"/>
                <a:gd name="connsiteY1722" fmla="*/ 0 h 138429"/>
                <a:gd name="connsiteX1723" fmla="*/ 302259 w 4940931"/>
                <a:gd name="connsiteY1723" fmla="*/ 37465 h 138429"/>
                <a:gd name="connsiteX1724" fmla="*/ 306704 w 4940931"/>
                <a:gd name="connsiteY1724" fmla="*/ 33655 h 138429"/>
                <a:gd name="connsiteX1725" fmla="*/ 310514 w 4940931"/>
                <a:gd name="connsiteY1725" fmla="*/ 31115 h 138429"/>
                <a:gd name="connsiteX1726" fmla="*/ 315594 w 4940931"/>
                <a:gd name="connsiteY1726" fmla="*/ 29210 h 138429"/>
                <a:gd name="connsiteX1727" fmla="*/ 322579 w 4940931"/>
                <a:gd name="connsiteY1727" fmla="*/ 28575 h 138429"/>
                <a:gd name="connsiteX1728" fmla="*/ 334644 w 4940931"/>
                <a:gd name="connsiteY1728" fmla="*/ 31115 h 138429"/>
                <a:gd name="connsiteX1729" fmla="*/ 344169 w 4940931"/>
                <a:gd name="connsiteY1729" fmla="*/ 38735 h 138429"/>
                <a:gd name="connsiteX1730" fmla="*/ 350519 w 4940931"/>
                <a:gd name="connsiteY1730" fmla="*/ 51435 h 138429"/>
                <a:gd name="connsiteX1731" fmla="*/ 353059 w 4940931"/>
                <a:gd name="connsiteY1731" fmla="*/ 70485 h 138429"/>
                <a:gd name="connsiteX1732" fmla="*/ 352424 w 4940931"/>
                <a:gd name="connsiteY1732" fmla="*/ 71120 h 138429"/>
                <a:gd name="connsiteX1733" fmla="*/ 349884 w 4940931"/>
                <a:gd name="connsiteY1733" fmla="*/ 88265 h 138429"/>
                <a:gd name="connsiteX1734" fmla="*/ 342899 w 4940931"/>
                <a:gd name="connsiteY1734" fmla="*/ 100330 h 138429"/>
                <a:gd name="connsiteX1735" fmla="*/ 333374 w 4940931"/>
                <a:gd name="connsiteY1735" fmla="*/ 107315 h 138429"/>
                <a:gd name="connsiteX1736" fmla="*/ 321944 w 4940931"/>
                <a:gd name="connsiteY1736" fmla="*/ 109855 h 138429"/>
                <a:gd name="connsiteX1737" fmla="*/ 311149 w 4940931"/>
                <a:gd name="connsiteY1737" fmla="*/ 107315 h 138429"/>
                <a:gd name="connsiteX1738" fmla="*/ 302259 w 4940931"/>
                <a:gd name="connsiteY1738" fmla="*/ 100965 h 138429"/>
                <a:gd name="connsiteX1739" fmla="*/ 302259 w 4940931"/>
                <a:gd name="connsiteY1739" fmla="*/ 107950 h 138429"/>
                <a:gd name="connsiteX1740" fmla="*/ 287019 w 4940931"/>
                <a:gd name="connsiteY1740" fmla="*/ 107950 h 138429"/>
                <a:gd name="connsiteX1741" fmla="*/ 287019 w 4940931"/>
                <a:gd name="connsiteY1741" fmla="*/ 7620 h 138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Lst>
              <a:rect l="l" t="t" r="r" b="b"/>
              <a:pathLst>
                <a:path w="4940931" h="138429">
                  <a:moveTo>
                    <a:pt x="1032512" y="137477"/>
                  </a:moveTo>
                  <a:lnTo>
                    <a:pt x="1032512" y="137794"/>
                  </a:lnTo>
                  <a:lnTo>
                    <a:pt x="1030607" y="138429"/>
                  </a:lnTo>
                  <a:close/>
                  <a:moveTo>
                    <a:pt x="4929501" y="87629"/>
                  </a:moveTo>
                  <a:cubicBezTo>
                    <a:pt x="4930771" y="87629"/>
                    <a:pt x="4932676" y="87629"/>
                    <a:pt x="4933946" y="88264"/>
                  </a:cubicBezTo>
                  <a:cubicBezTo>
                    <a:pt x="4935216" y="88264"/>
                    <a:pt x="4936486" y="89534"/>
                    <a:pt x="4937756" y="90804"/>
                  </a:cubicBezTo>
                  <a:cubicBezTo>
                    <a:pt x="4939026" y="92074"/>
                    <a:pt x="4939661" y="93344"/>
                    <a:pt x="4940296" y="94614"/>
                  </a:cubicBezTo>
                  <a:cubicBezTo>
                    <a:pt x="4940296" y="95884"/>
                    <a:pt x="4940931" y="97789"/>
                    <a:pt x="4940931" y="99059"/>
                  </a:cubicBezTo>
                  <a:cubicBezTo>
                    <a:pt x="4940931" y="99059"/>
                    <a:pt x="4940931" y="102234"/>
                    <a:pt x="4940296" y="103504"/>
                  </a:cubicBezTo>
                  <a:cubicBezTo>
                    <a:pt x="4940296" y="104774"/>
                    <a:pt x="4939026" y="106044"/>
                    <a:pt x="4937756" y="107314"/>
                  </a:cubicBezTo>
                  <a:cubicBezTo>
                    <a:pt x="4936486" y="108584"/>
                    <a:pt x="4935216" y="109219"/>
                    <a:pt x="4933946" y="109854"/>
                  </a:cubicBezTo>
                  <a:cubicBezTo>
                    <a:pt x="4932676" y="109854"/>
                    <a:pt x="4930771" y="110489"/>
                    <a:pt x="4929501" y="110489"/>
                  </a:cubicBezTo>
                  <a:cubicBezTo>
                    <a:pt x="4928231" y="110489"/>
                    <a:pt x="4926326" y="110489"/>
                    <a:pt x="4925056" y="109854"/>
                  </a:cubicBezTo>
                  <a:cubicBezTo>
                    <a:pt x="4923786" y="109854"/>
                    <a:pt x="4922516" y="108584"/>
                    <a:pt x="4921246" y="107314"/>
                  </a:cubicBezTo>
                  <a:cubicBezTo>
                    <a:pt x="4919976" y="106044"/>
                    <a:pt x="4919341" y="104774"/>
                    <a:pt x="4918706" y="103504"/>
                  </a:cubicBezTo>
                  <a:cubicBezTo>
                    <a:pt x="4918706" y="102234"/>
                    <a:pt x="4918071" y="100329"/>
                    <a:pt x="4918071" y="99059"/>
                  </a:cubicBezTo>
                  <a:cubicBezTo>
                    <a:pt x="4918071" y="97789"/>
                    <a:pt x="4918071" y="95884"/>
                    <a:pt x="4918706" y="94614"/>
                  </a:cubicBezTo>
                  <a:cubicBezTo>
                    <a:pt x="4918706" y="93344"/>
                    <a:pt x="4919976" y="92074"/>
                    <a:pt x="4921246" y="90804"/>
                  </a:cubicBezTo>
                  <a:cubicBezTo>
                    <a:pt x="4922516" y="89534"/>
                    <a:pt x="4923786" y="88899"/>
                    <a:pt x="4925056" y="88264"/>
                  </a:cubicBezTo>
                  <a:cubicBezTo>
                    <a:pt x="4926326" y="88264"/>
                    <a:pt x="4928231" y="87629"/>
                    <a:pt x="4929501" y="87629"/>
                  </a:cubicBezTo>
                  <a:close/>
                  <a:moveTo>
                    <a:pt x="3079110" y="87629"/>
                  </a:moveTo>
                  <a:cubicBezTo>
                    <a:pt x="3080380" y="87629"/>
                    <a:pt x="3082285" y="87629"/>
                    <a:pt x="3083555" y="88264"/>
                  </a:cubicBezTo>
                  <a:cubicBezTo>
                    <a:pt x="3084825" y="88264"/>
                    <a:pt x="3086095" y="89534"/>
                    <a:pt x="3087365" y="90804"/>
                  </a:cubicBezTo>
                  <a:cubicBezTo>
                    <a:pt x="3088635" y="92074"/>
                    <a:pt x="3089270" y="93344"/>
                    <a:pt x="3089905" y="94614"/>
                  </a:cubicBezTo>
                  <a:cubicBezTo>
                    <a:pt x="3089905" y="95884"/>
                    <a:pt x="3090540" y="97789"/>
                    <a:pt x="3090540" y="99059"/>
                  </a:cubicBezTo>
                  <a:cubicBezTo>
                    <a:pt x="3090540" y="99059"/>
                    <a:pt x="3090540" y="102234"/>
                    <a:pt x="3089905" y="103504"/>
                  </a:cubicBezTo>
                  <a:cubicBezTo>
                    <a:pt x="3089905" y="104774"/>
                    <a:pt x="3088635" y="106044"/>
                    <a:pt x="3087365" y="107314"/>
                  </a:cubicBezTo>
                  <a:cubicBezTo>
                    <a:pt x="3086095" y="108584"/>
                    <a:pt x="3084825" y="109219"/>
                    <a:pt x="3083555" y="109854"/>
                  </a:cubicBezTo>
                  <a:cubicBezTo>
                    <a:pt x="3082285" y="109854"/>
                    <a:pt x="3080380" y="110489"/>
                    <a:pt x="3079110" y="110489"/>
                  </a:cubicBezTo>
                  <a:cubicBezTo>
                    <a:pt x="3077840" y="110489"/>
                    <a:pt x="3075935" y="110489"/>
                    <a:pt x="3074665" y="109854"/>
                  </a:cubicBezTo>
                  <a:cubicBezTo>
                    <a:pt x="3073395" y="109854"/>
                    <a:pt x="3072125" y="108584"/>
                    <a:pt x="3070855" y="107314"/>
                  </a:cubicBezTo>
                  <a:cubicBezTo>
                    <a:pt x="3069585" y="106044"/>
                    <a:pt x="3068950" y="104774"/>
                    <a:pt x="3068315" y="103504"/>
                  </a:cubicBezTo>
                  <a:cubicBezTo>
                    <a:pt x="3068315" y="102234"/>
                    <a:pt x="3067680" y="100329"/>
                    <a:pt x="3067680" y="99059"/>
                  </a:cubicBezTo>
                  <a:cubicBezTo>
                    <a:pt x="3067680" y="97789"/>
                    <a:pt x="3067680" y="95884"/>
                    <a:pt x="3068315" y="94614"/>
                  </a:cubicBezTo>
                  <a:cubicBezTo>
                    <a:pt x="3068315" y="93344"/>
                    <a:pt x="3069585" y="92074"/>
                    <a:pt x="3070855" y="90804"/>
                  </a:cubicBezTo>
                  <a:cubicBezTo>
                    <a:pt x="3072125" y="89534"/>
                    <a:pt x="3073395" y="88899"/>
                    <a:pt x="3074665" y="88264"/>
                  </a:cubicBezTo>
                  <a:cubicBezTo>
                    <a:pt x="3075935" y="88264"/>
                    <a:pt x="3077840" y="87629"/>
                    <a:pt x="3079110" y="87629"/>
                  </a:cubicBezTo>
                  <a:close/>
                  <a:moveTo>
                    <a:pt x="1565275" y="87629"/>
                  </a:moveTo>
                  <a:cubicBezTo>
                    <a:pt x="1566545" y="87629"/>
                    <a:pt x="1568450" y="87629"/>
                    <a:pt x="1569720" y="88264"/>
                  </a:cubicBezTo>
                  <a:cubicBezTo>
                    <a:pt x="1570990" y="88264"/>
                    <a:pt x="1572260" y="89534"/>
                    <a:pt x="1573529" y="90804"/>
                  </a:cubicBezTo>
                  <a:cubicBezTo>
                    <a:pt x="1574800" y="92074"/>
                    <a:pt x="1575435" y="93344"/>
                    <a:pt x="1576069" y="94614"/>
                  </a:cubicBezTo>
                  <a:cubicBezTo>
                    <a:pt x="1576069" y="95884"/>
                    <a:pt x="1576705" y="97789"/>
                    <a:pt x="1576705" y="99059"/>
                  </a:cubicBezTo>
                  <a:cubicBezTo>
                    <a:pt x="1576705" y="99059"/>
                    <a:pt x="1576705" y="102234"/>
                    <a:pt x="1576069" y="103504"/>
                  </a:cubicBezTo>
                  <a:cubicBezTo>
                    <a:pt x="1576069" y="104774"/>
                    <a:pt x="1574800" y="106044"/>
                    <a:pt x="1573529" y="107314"/>
                  </a:cubicBezTo>
                  <a:cubicBezTo>
                    <a:pt x="1572260" y="108584"/>
                    <a:pt x="1570990" y="109219"/>
                    <a:pt x="1569720" y="109854"/>
                  </a:cubicBezTo>
                  <a:cubicBezTo>
                    <a:pt x="1568450" y="109854"/>
                    <a:pt x="1566545" y="110489"/>
                    <a:pt x="1565275" y="110489"/>
                  </a:cubicBezTo>
                  <a:cubicBezTo>
                    <a:pt x="1564005" y="110489"/>
                    <a:pt x="1562099" y="110489"/>
                    <a:pt x="1560830" y="109854"/>
                  </a:cubicBezTo>
                  <a:cubicBezTo>
                    <a:pt x="1559559" y="109854"/>
                    <a:pt x="1558289" y="108584"/>
                    <a:pt x="1557020" y="107314"/>
                  </a:cubicBezTo>
                  <a:cubicBezTo>
                    <a:pt x="1555750" y="106044"/>
                    <a:pt x="1555114" y="104774"/>
                    <a:pt x="1554479" y="103504"/>
                  </a:cubicBezTo>
                  <a:cubicBezTo>
                    <a:pt x="1554479" y="102234"/>
                    <a:pt x="1553844" y="100329"/>
                    <a:pt x="1553844" y="99059"/>
                  </a:cubicBezTo>
                  <a:cubicBezTo>
                    <a:pt x="1553844" y="97789"/>
                    <a:pt x="1553844" y="95884"/>
                    <a:pt x="1554479" y="94614"/>
                  </a:cubicBezTo>
                  <a:cubicBezTo>
                    <a:pt x="1554479" y="93344"/>
                    <a:pt x="1555750" y="92074"/>
                    <a:pt x="1557020" y="90804"/>
                  </a:cubicBezTo>
                  <a:cubicBezTo>
                    <a:pt x="1558289" y="89534"/>
                    <a:pt x="1559559" y="88899"/>
                    <a:pt x="1560830" y="88264"/>
                  </a:cubicBezTo>
                  <a:cubicBezTo>
                    <a:pt x="1562099" y="88264"/>
                    <a:pt x="1564005" y="87629"/>
                    <a:pt x="1565275" y="87629"/>
                  </a:cubicBezTo>
                  <a:close/>
                  <a:moveTo>
                    <a:pt x="2642230" y="73024"/>
                  </a:moveTo>
                  <a:cubicBezTo>
                    <a:pt x="2637150" y="73024"/>
                    <a:pt x="2633340" y="74294"/>
                    <a:pt x="2630800" y="76199"/>
                  </a:cubicBezTo>
                  <a:cubicBezTo>
                    <a:pt x="2627625" y="78104"/>
                    <a:pt x="2626355" y="81279"/>
                    <a:pt x="2626355" y="84454"/>
                  </a:cubicBezTo>
                  <a:cubicBezTo>
                    <a:pt x="2626355" y="86994"/>
                    <a:pt x="2626355" y="88899"/>
                    <a:pt x="2627625" y="90169"/>
                  </a:cubicBezTo>
                  <a:cubicBezTo>
                    <a:pt x="2628260" y="92074"/>
                    <a:pt x="2629530" y="93344"/>
                    <a:pt x="2630800" y="93979"/>
                  </a:cubicBezTo>
                  <a:cubicBezTo>
                    <a:pt x="2632070" y="95249"/>
                    <a:pt x="2633340" y="95884"/>
                    <a:pt x="2635245" y="96519"/>
                  </a:cubicBezTo>
                  <a:cubicBezTo>
                    <a:pt x="2637150" y="96519"/>
                    <a:pt x="2639055" y="97154"/>
                    <a:pt x="2641595" y="97154"/>
                  </a:cubicBezTo>
                  <a:cubicBezTo>
                    <a:pt x="2643500" y="97154"/>
                    <a:pt x="2645405" y="97154"/>
                    <a:pt x="2647310" y="96519"/>
                  </a:cubicBezTo>
                  <a:cubicBezTo>
                    <a:pt x="2649215" y="96519"/>
                    <a:pt x="2651120" y="95249"/>
                    <a:pt x="2652390" y="93979"/>
                  </a:cubicBezTo>
                  <a:cubicBezTo>
                    <a:pt x="2654295" y="93344"/>
                    <a:pt x="2655565" y="92074"/>
                    <a:pt x="2656835" y="90804"/>
                  </a:cubicBezTo>
                  <a:cubicBezTo>
                    <a:pt x="2658105" y="89534"/>
                    <a:pt x="2659375" y="88264"/>
                    <a:pt x="2660010" y="86994"/>
                  </a:cubicBezTo>
                  <a:lnTo>
                    <a:pt x="2660010" y="75564"/>
                  </a:lnTo>
                  <a:cubicBezTo>
                    <a:pt x="2660010" y="75564"/>
                    <a:pt x="2657470" y="74294"/>
                    <a:pt x="2656200" y="74294"/>
                  </a:cubicBezTo>
                  <a:cubicBezTo>
                    <a:pt x="2654930" y="74294"/>
                    <a:pt x="2653660" y="73659"/>
                    <a:pt x="2652390" y="73659"/>
                  </a:cubicBezTo>
                  <a:cubicBezTo>
                    <a:pt x="2651120" y="73659"/>
                    <a:pt x="2649850" y="73659"/>
                    <a:pt x="2647945" y="73024"/>
                  </a:cubicBezTo>
                  <a:cubicBezTo>
                    <a:pt x="2646040" y="73024"/>
                    <a:pt x="2644135" y="73024"/>
                    <a:pt x="2642230" y="73024"/>
                  </a:cubicBezTo>
                  <a:close/>
                  <a:moveTo>
                    <a:pt x="4664706" y="43814"/>
                  </a:moveTo>
                  <a:cubicBezTo>
                    <a:pt x="4661531" y="43814"/>
                    <a:pt x="4658991" y="43814"/>
                    <a:pt x="4657086" y="45719"/>
                  </a:cubicBezTo>
                  <a:cubicBezTo>
                    <a:pt x="4654546" y="46989"/>
                    <a:pt x="4652641" y="48894"/>
                    <a:pt x="4651371" y="50799"/>
                  </a:cubicBezTo>
                  <a:cubicBezTo>
                    <a:pt x="4649466" y="53339"/>
                    <a:pt x="4648831" y="55879"/>
                    <a:pt x="4647561" y="59054"/>
                  </a:cubicBezTo>
                  <a:cubicBezTo>
                    <a:pt x="4646926" y="62229"/>
                    <a:pt x="4646291" y="65404"/>
                    <a:pt x="4646291" y="69849"/>
                  </a:cubicBezTo>
                  <a:cubicBezTo>
                    <a:pt x="4646291" y="74294"/>
                    <a:pt x="4646291" y="78104"/>
                    <a:pt x="4647561" y="81279"/>
                  </a:cubicBezTo>
                  <a:cubicBezTo>
                    <a:pt x="4648196" y="84454"/>
                    <a:pt x="4650101" y="87629"/>
                    <a:pt x="4651371" y="89534"/>
                  </a:cubicBezTo>
                  <a:cubicBezTo>
                    <a:pt x="4653276" y="92074"/>
                    <a:pt x="4655181" y="93344"/>
                    <a:pt x="4657721" y="94614"/>
                  </a:cubicBezTo>
                  <a:cubicBezTo>
                    <a:pt x="4660261" y="95884"/>
                    <a:pt x="4662801" y="96519"/>
                    <a:pt x="4665341" y="96519"/>
                  </a:cubicBezTo>
                  <a:cubicBezTo>
                    <a:pt x="4667881" y="96519"/>
                    <a:pt x="4671056" y="95884"/>
                    <a:pt x="4672961" y="94614"/>
                  </a:cubicBezTo>
                  <a:cubicBezTo>
                    <a:pt x="4675501" y="93344"/>
                    <a:pt x="4677406" y="91439"/>
                    <a:pt x="4678676" y="88899"/>
                  </a:cubicBezTo>
                  <a:cubicBezTo>
                    <a:pt x="4680581" y="86359"/>
                    <a:pt x="4681851" y="83819"/>
                    <a:pt x="4682486" y="80644"/>
                  </a:cubicBezTo>
                  <a:cubicBezTo>
                    <a:pt x="4683121" y="77469"/>
                    <a:pt x="4683756" y="74294"/>
                    <a:pt x="4683756" y="70484"/>
                  </a:cubicBezTo>
                  <a:lnTo>
                    <a:pt x="4684391" y="69849"/>
                  </a:lnTo>
                  <a:cubicBezTo>
                    <a:pt x="4684391" y="66039"/>
                    <a:pt x="4684391" y="62229"/>
                    <a:pt x="4683121" y="59054"/>
                  </a:cubicBezTo>
                  <a:cubicBezTo>
                    <a:pt x="4682486" y="55879"/>
                    <a:pt x="4680581" y="53339"/>
                    <a:pt x="4679311" y="50799"/>
                  </a:cubicBezTo>
                  <a:cubicBezTo>
                    <a:pt x="4677406" y="48259"/>
                    <a:pt x="4675501" y="46989"/>
                    <a:pt x="4672961" y="45719"/>
                  </a:cubicBezTo>
                  <a:cubicBezTo>
                    <a:pt x="4670421" y="44449"/>
                    <a:pt x="4667881" y="43814"/>
                    <a:pt x="4664706" y="43814"/>
                  </a:cubicBezTo>
                  <a:close/>
                  <a:moveTo>
                    <a:pt x="4264020" y="43814"/>
                  </a:moveTo>
                  <a:cubicBezTo>
                    <a:pt x="4260845" y="43814"/>
                    <a:pt x="4258305" y="43814"/>
                    <a:pt x="4256400" y="45719"/>
                  </a:cubicBezTo>
                  <a:cubicBezTo>
                    <a:pt x="4253860" y="46989"/>
                    <a:pt x="4251955" y="48894"/>
                    <a:pt x="4250685" y="50799"/>
                  </a:cubicBezTo>
                  <a:cubicBezTo>
                    <a:pt x="4248780" y="53339"/>
                    <a:pt x="4247510" y="55879"/>
                    <a:pt x="4246875" y="59054"/>
                  </a:cubicBezTo>
                  <a:cubicBezTo>
                    <a:pt x="4246240" y="62229"/>
                    <a:pt x="4245605" y="65404"/>
                    <a:pt x="4245605" y="69849"/>
                  </a:cubicBezTo>
                  <a:cubicBezTo>
                    <a:pt x="4245605" y="74294"/>
                    <a:pt x="4245605" y="78104"/>
                    <a:pt x="4246875" y="81279"/>
                  </a:cubicBezTo>
                  <a:cubicBezTo>
                    <a:pt x="4247510" y="84454"/>
                    <a:pt x="4249415" y="87629"/>
                    <a:pt x="4250685" y="89534"/>
                  </a:cubicBezTo>
                  <a:cubicBezTo>
                    <a:pt x="4252590" y="92074"/>
                    <a:pt x="4254495" y="93344"/>
                    <a:pt x="4257035" y="94614"/>
                  </a:cubicBezTo>
                  <a:cubicBezTo>
                    <a:pt x="4259575" y="95884"/>
                    <a:pt x="4262115" y="96519"/>
                    <a:pt x="4264655" y="96519"/>
                  </a:cubicBezTo>
                  <a:cubicBezTo>
                    <a:pt x="4267195" y="96519"/>
                    <a:pt x="4270370" y="95884"/>
                    <a:pt x="4272275" y="94614"/>
                  </a:cubicBezTo>
                  <a:cubicBezTo>
                    <a:pt x="4274815" y="93344"/>
                    <a:pt x="4276720" y="91439"/>
                    <a:pt x="4277990" y="88899"/>
                  </a:cubicBezTo>
                  <a:cubicBezTo>
                    <a:pt x="4279895" y="86359"/>
                    <a:pt x="4281165" y="83819"/>
                    <a:pt x="4281800" y="80644"/>
                  </a:cubicBezTo>
                  <a:cubicBezTo>
                    <a:pt x="4282435" y="77469"/>
                    <a:pt x="4283070" y="74294"/>
                    <a:pt x="4283070" y="70484"/>
                  </a:cubicBezTo>
                  <a:lnTo>
                    <a:pt x="4283705" y="69849"/>
                  </a:lnTo>
                  <a:cubicBezTo>
                    <a:pt x="4283705" y="66039"/>
                    <a:pt x="4283705" y="62229"/>
                    <a:pt x="4282435" y="59054"/>
                  </a:cubicBezTo>
                  <a:cubicBezTo>
                    <a:pt x="4281800" y="55879"/>
                    <a:pt x="4279895" y="53339"/>
                    <a:pt x="4278625" y="50799"/>
                  </a:cubicBezTo>
                  <a:cubicBezTo>
                    <a:pt x="4276720" y="48259"/>
                    <a:pt x="4274815" y="46989"/>
                    <a:pt x="4272275" y="45719"/>
                  </a:cubicBezTo>
                  <a:cubicBezTo>
                    <a:pt x="4269735" y="44449"/>
                    <a:pt x="4267195" y="43814"/>
                    <a:pt x="4264020" y="43814"/>
                  </a:cubicBezTo>
                  <a:close/>
                  <a:moveTo>
                    <a:pt x="1420495" y="43814"/>
                  </a:moveTo>
                  <a:cubicBezTo>
                    <a:pt x="1417320" y="43814"/>
                    <a:pt x="1414780" y="43814"/>
                    <a:pt x="1412875" y="45719"/>
                  </a:cubicBezTo>
                  <a:cubicBezTo>
                    <a:pt x="1410335" y="46989"/>
                    <a:pt x="1408430" y="48894"/>
                    <a:pt x="1407160" y="50799"/>
                  </a:cubicBezTo>
                  <a:cubicBezTo>
                    <a:pt x="1405255" y="53339"/>
                    <a:pt x="1403985" y="55879"/>
                    <a:pt x="1403350" y="59054"/>
                  </a:cubicBezTo>
                  <a:cubicBezTo>
                    <a:pt x="1402715" y="62229"/>
                    <a:pt x="1402080" y="65404"/>
                    <a:pt x="1402080" y="69849"/>
                  </a:cubicBezTo>
                  <a:cubicBezTo>
                    <a:pt x="1402080" y="74294"/>
                    <a:pt x="1402080" y="78104"/>
                    <a:pt x="1403350" y="81279"/>
                  </a:cubicBezTo>
                  <a:cubicBezTo>
                    <a:pt x="1403985" y="84454"/>
                    <a:pt x="1405890" y="87629"/>
                    <a:pt x="1407160" y="89534"/>
                  </a:cubicBezTo>
                  <a:cubicBezTo>
                    <a:pt x="1409065" y="92074"/>
                    <a:pt x="1410970" y="93344"/>
                    <a:pt x="1413510" y="94614"/>
                  </a:cubicBezTo>
                  <a:cubicBezTo>
                    <a:pt x="1416050" y="95884"/>
                    <a:pt x="1418590" y="96519"/>
                    <a:pt x="1421130" y="96519"/>
                  </a:cubicBezTo>
                  <a:cubicBezTo>
                    <a:pt x="1423670" y="96519"/>
                    <a:pt x="1426845" y="95884"/>
                    <a:pt x="1428750" y="94614"/>
                  </a:cubicBezTo>
                  <a:cubicBezTo>
                    <a:pt x="1431290" y="93344"/>
                    <a:pt x="1433195" y="91439"/>
                    <a:pt x="1434465" y="88899"/>
                  </a:cubicBezTo>
                  <a:cubicBezTo>
                    <a:pt x="1436370" y="86359"/>
                    <a:pt x="1437640" y="83819"/>
                    <a:pt x="1438275" y="80644"/>
                  </a:cubicBezTo>
                  <a:cubicBezTo>
                    <a:pt x="1438910" y="77469"/>
                    <a:pt x="1439545" y="74294"/>
                    <a:pt x="1439545" y="70484"/>
                  </a:cubicBezTo>
                  <a:lnTo>
                    <a:pt x="1440180" y="69849"/>
                  </a:lnTo>
                  <a:cubicBezTo>
                    <a:pt x="1440180" y="66039"/>
                    <a:pt x="1440180" y="62229"/>
                    <a:pt x="1438910" y="59054"/>
                  </a:cubicBezTo>
                  <a:cubicBezTo>
                    <a:pt x="1438275" y="55879"/>
                    <a:pt x="1436370" y="53339"/>
                    <a:pt x="1435100" y="50799"/>
                  </a:cubicBezTo>
                  <a:cubicBezTo>
                    <a:pt x="1433195" y="48259"/>
                    <a:pt x="1431290" y="46989"/>
                    <a:pt x="1428750" y="45719"/>
                  </a:cubicBezTo>
                  <a:cubicBezTo>
                    <a:pt x="1426210" y="44449"/>
                    <a:pt x="1423670" y="43814"/>
                    <a:pt x="1420495" y="43814"/>
                  </a:cubicBezTo>
                  <a:close/>
                  <a:moveTo>
                    <a:pt x="4041770" y="43180"/>
                  </a:moveTo>
                  <a:cubicBezTo>
                    <a:pt x="4039230" y="43180"/>
                    <a:pt x="4036690" y="43180"/>
                    <a:pt x="4034785" y="44450"/>
                  </a:cubicBezTo>
                  <a:cubicBezTo>
                    <a:pt x="4032880" y="45085"/>
                    <a:pt x="4030975" y="46355"/>
                    <a:pt x="4029705" y="48260"/>
                  </a:cubicBezTo>
                  <a:cubicBezTo>
                    <a:pt x="4028435" y="50165"/>
                    <a:pt x="4027165" y="52070"/>
                    <a:pt x="4025895" y="54610"/>
                  </a:cubicBezTo>
                  <a:cubicBezTo>
                    <a:pt x="4025260" y="57150"/>
                    <a:pt x="4023990" y="59690"/>
                    <a:pt x="4023990" y="62865"/>
                  </a:cubicBezTo>
                  <a:lnTo>
                    <a:pt x="4060185" y="62865"/>
                  </a:lnTo>
                  <a:cubicBezTo>
                    <a:pt x="4060185" y="62865"/>
                    <a:pt x="4059550" y="57785"/>
                    <a:pt x="4058915" y="55245"/>
                  </a:cubicBezTo>
                  <a:cubicBezTo>
                    <a:pt x="4058280" y="52705"/>
                    <a:pt x="4057010" y="50800"/>
                    <a:pt x="4055740" y="48895"/>
                  </a:cubicBezTo>
                  <a:cubicBezTo>
                    <a:pt x="4054470" y="46990"/>
                    <a:pt x="4052565" y="45720"/>
                    <a:pt x="4050025" y="44450"/>
                  </a:cubicBezTo>
                  <a:cubicBezTo>
                    <a:pt x="4047485" y="43180"/>
                    <a:pt x="4044945" y="43180"/>
                    <a:pt x="4041770" y="43180"/>
                  </a:cubicBezTo>
                  <a:close/>
                  <a:moveTo>
                    <a:pt x="3728081" y="43180"/>
                  </a:moveTo>
                  <a:cubicBezTo>
                    <a:pt x="3725541" y="43180"/>
                    <a:pt x="3723001" y="43180"/>
                    <a:pt x="3721096" y="44450"/>
                  </a:cubicBezTo>
                  <a:cubicBezTo>
                    <a:pt x="3719191" y="45085"/>
                    <a:pt x="3717286" y="46355"/>
                    <a:pt x="3716016" y="48260"/>
                  </a:cubicBezTo>
                  <a:cubicBezTo>
                    <a:pt x="3714746" y="50165"/>
                    <a:pt x="3713476" y="52070"/>
                    <a:pt x="3712206" y="54610"/>
                  </a:cubicBezTo>
                  <a:cubicBezTo>
                    <a:pt x="3711571" y="57150"/>
                    <a:pt x="3710301" y="59690"/>
                    <a:pt x="3710301" y="62865"/>
                  </a:cubicBezTo>
                  <a:lnTo>
                    <a:pt x="3746496" y="62865"/>
                  </a:lnTo>
                  <a:cubicBezTo>
                    <a:pt x="3746496" y="62865"/>
                    <a:pt x="3745861" y="57785"/>
                    <a:pt x="3745226" y="55245"/>
                  </a:cubicBezTo>
                  <a:cubicBezTo>
                    <a:pt x="3744591" y="52705"/>
                    <a:pt x="3743321" y="50800"/>
                    <a:pt x="3742051" y="48895"/>
                  </a:cubicBezTo>
                  <a:cubicBezTo>
                    <a:pt x="3740781" y="46990"/>
                    <a:pt x="3738876" y="45720"/>
                    <a:pt x="3736336" y="44450"/>
                  </a:cubicBezTo>
                  <a:cubicBezTo>
                    <a:pt x="3733796" y="43180"/>
                    <a:pt x="3731256" y="43180"/>
                    <a:pt x="3728081" y="43180"/>
                  </a:cubicBezTo>
                  <a:close/>
                  <a:moveTo>
                    <a:pt x="3541391" y="43180"/>
                  </a:moveTo>
                  <a:cubicBezTo>
                    <a:pt x="3538851" y="43180"/>
                    <a:pt x="3536311" y="43180"/>
                    <a:pt x="3534406" y="44450"/>
                  </a:cubicBezTo>
                  <a:cubicBezTo>
                    <a:pt x="3532501" y="45085"/>
                    <a:pt x="3530596" y="46355"/>
                    <a:pt x="3529326" y="48260"/>
                  </a:cubicBezTo>
                  <a:cubicBezTo>
                    <a:pt x="3528056" y="50165"/>
                    <a:pt x="3526786" y="52070"/>
                    <a:pt x="3525516" y="54610"/>
                  </a:cubicBezTo>
                  <a:cubicBezTo>
                    <a:pt x="3524881" y="57150"/>
                    <a:pt x="3524246" y="59690"/>
                    <a:pt x="3523611" y="62865"/>
                  </a:cubicBezTo>
                  <a:lnTo>
                    <a:pt x="3559806" y="62865"/>
                  </a:lnTo>
                  <a:cubicBezTo>
                    <a:pt x="3559806" y="62865"/>
                    <a:pt x="3559171" y="57785"/>
                    <a:pt x="3558536" y="55245"/>
                  </a:cubicBezTo>
                  <a:cubicBezTo>
                    <a:pt x="3557901" y="52705"/>
                    <a:pt x="3556631" y="50800"/>
                    <a:pt x="3555361" y="48895"/>
                  </a:cubicBezTo>
                  <a:cubicBezTo>
                    <a:pt x="3554091" y="46990"/>
                    <a:pt x="3552186" y="45720"/>
                    <a:pt x="3549646" y="44450"/>
                  </a:cubicBezTo>
                  <a:cubicBezTo>
                    <a:pt x="3547106" y="43180"/>
                    <a:pt x="3544566" y="43180"/>
                    <a:pt x="3541391" y="43180"/>
                  </a:cubicBezTo>
                  <a:close/>
                  <a:moveTo>
                    <a:pt x="3463285" y="43180"/>
                  </a:moveTo>
                  <a:cubicBezTo>
                    <a:pt x="3461380" y="43180"/>
                    <a:pt x="3459475" y="43180"/>
                    <a:pt x="3458205" y="43815"/>
                  </a:cubicBezTo>
                  <a:cubicBezTo>
                    <a:pt x="3456300" y="43815"/>
                    <a:pt x="3455030" y="45085"/>
                    <a:pt x="3453125" y="45720"/>
                  </a:cubicBezTo>
                  <a:cubicBezTo>
                    <a:pt x="3451855" y="46355"/>
                    <a:pt x="3449950" y="47625"/>
                    <a:pt x="3448680" y="48895"/>
                  </a:cubicBezTo>
                  <a:cubicBezTo>
                    <a:pt x="3447410" y="50165"/>
                    <a:pt x="3446140" y="51435"/>
                    <a:pt x="3445505" y="52705"/>
                  </a:cubicBezTo>
                  <a:lnTo>
                    <a:pt x="3445505" y="85725"/>
                  </a:lnTo>
                  <a:cubicBezTo>
                    <a:pt x="3445505" y="85725"/>
                    <a:pt x="3447410" y="88265"/>
                    <a:pt x="3448680" y="89535"/>
                  </a:cubicBezTo>
                  <a:cubicBezTo>
                    <a:pt x="3449950" y="90805"/>
                    <a:pt x="3451220" y="92075"/>
                    <a:pt x="3453125" y="92710"/>
                  </a:cubicBezTo>
                  <a:cubicBezTo>
                    <a:pt x="3455030" y="93980"/>
                    <a:pt x="3456300" y="94615"/>
                    <a:pt x="3458205" y="95250"/>
                  </a:cubicBezTo>
                  <a:cubicBezTo>
                    <a:pt x="3460110" y="95250"/>
                    <a:pt x="3462015" y="95885"/>
                    <a:pt x="3463920" y="95885"/>
                  </a:cubicBezTo>
                  <a:cubicBezTo>
                    <a:pt x="3469635" y="95885"/>
                    <a:pt x="3473445" y="93980"/>
                    <a:pt x="3476620" y="89535"/>
                  </a:cubicBezTo>
                  <a:cubicBezTo>
                    <a:pt x="3479795" y="85090"/>
                    <a:pt x="3481065" y="79375"/>
                    <a:pt x="3481065" y="71120"/>
                  </a:cubicBezTo>
                  <a:lnTo>
                    <a:pt x="3480430" y="71755"/>
                  </a:lnTo>
                  <a:cubicBezTo>
                    <a:pt x="3480430" y="62230"/>
                    <a:pt x="3479160" y="54610"/>
                    <a:pt x="3475985" y="50165"/>
                  </a:cubicBezTo>
                  <a:cubicBezTo>
                    <a:pt x="3472810" y="45720"/>
                    <a:pt x="3468365" y="43180"/>
                    <a:pt x="3463285" y="43180"/>
                  </a:cubicBezTo>
                  <a:close/>
                  <a:moveTo>
                    <a:pt x="3343271" y="43180"/>
                  </a:moveTo>
                  <a:cubicBezTo>
                    <a:pt x="3340731" y="43180"/>
                    <a:pt x="3338191" y="43180"/>
                    <a:pt x="3336286" y="44450"/>
                  </a:cubicBezTo>
                  <a:cubicBezTo>
                    <a:pt x="3334381" y="45085"/>
                    <a:pt x="3332476" y="46355"/>
                    <a:pt x="3331206" y="48260"/>
                  </a:cubicBezTo>
                  <a:cubicBezTo>
                    <a:pt x="3329936" y="50165"/>
                    <a:pt x="3328666" y="52070"/>
                    <a:pt x="3327396" y="54610"/>
                  </a:cubicBezTo>
                  <a:cubicBezTo>
                    <a:pt x="3326761" y="57150"/>
                    <a:pt x="3326126" y="59690"/>
                    <a:pt x="3325491" y="62865"/>
                  </a:cubicBezTo>
                  <a:lnTo>
                    <a:pt x="3361686" y="62865"/>
                  </a:lnTo>
                  <a:cubicBezTo>
                    <a:pt x="3361686" y="62865"/>
                    <a:pt x="3361051" y="57785"/>
                    <a:pt x="3360416" y="55245"/>
                  </a:cubicBezTo>
                  <a:cubicBezTo>
                    <a:pt x="3359781" y="52705"/>
                    <a:pt x="3358511" y="50800"/>
                    <a:pt x="3357241" y="48895"/>
                  </a:cubicBezTo>
                  <a:cubicBezTo>
                    <a:pt x="3355971" y="46990"/>
                    <a:pt x="3354066" y="45720"/>
                    <a:pt x="3351526" y="44450"/>
                  </a:cubicBezTo>
                  <a:cubicBezTo>
                    <a:pt x="3348986" y="43180"/>
                    <a:pt x="3346446" y="43180"/>
                    <a:pt x="3343271" y="43180"/>
                  </a:cubicBezTo>
                  <a:close/>
                  <a:moveTo>
                    <a:pt x="2976876" y="43180"/>
                  </a:moveTo>
                  <a:cubicBezTo>
                    <a:pt x="2974336" y="43180"/>
                    <a:pt x="2971796" y="43180"/>
                    <a:pt x="2969891" y="44450"/>
                  </a:cubicBezTo>
                  <a:cubicBezTo>
                    <a:pt x="2967986" y="45085"/>
                    <a:pt x="2966081" y="46355"/>
                    <a:pt x="2964811" y="48260"/>
                  </a:cubicBezTo>
                  <a:cubicBezTo>
                    <a:pt x="2963541" y="50165"/>
                    <a:pt x="2962271" y="52070"/>
                    <a:pt x="2961001" y="54610"/>
                  </a:cubicBezTo>
                  <a:cubicBezTo>
                    <a:pt x="2960366" y="57150"/>
                    <a:pt x="2959731" y="59690"/>
                    <a:pt x="2959096" y="62865"/>
                  </a:cubicBezTo>
                  <a:lnTo>
                    <a:pt x="2995291" y="62865"/>
                  </a:lnTo>
                  <a:cubicBezTo>
                    <a:pt x="2995291" y="62865"/>
                    <a:pt x="2994656" y="57785"/>
                    <a:pt x="2994021" y="55245"/>
                  </a:cubicBezTo>
                  <a:cubicBezTo>
                    <a:pt x="2993386" y="52705"/>
                    <a:pt x="2992116" y="50800"/>
                    <a:pt x="2990846" y="48895"/>
                  </a:cubicBezTo>
                  <a:cubicBezTo>
                    <a:pt x="2989576" y="46990"/>
                    <a:pt x="2987671" y="45720"/>
                    <a:pt x="2985131" y="44450"/>
                  </a:cubicBezTo>
                  <a:cubicBezTo>
                    <a:pt x="2982591" y="43180"/>
                    <a:pt x="2980051" y="43180"/>
                    <a:pt x="2976876" y="43180"/>
                  </a:cubicBezTo>
                  <a:close/>
                  <a:moveTo>
                    <a:pt x="2527930" y="43180"/>
                  </a:moveTo>
                  <a:cubicBezTo>
                    <a:pt x="2525390" y="43180"/>
                    <a:pt x="2522850" y="43180"/>
                    <a:pt x="2520945" y="44450"/>
                  </a:cubicBezTo>
                  <a:cubicBezTo>
                    <a:pt x="2519040" y="45085"/>
                    <a:pt x="2517135" y="46355"/>
                    <a:pt x="2515865" y="48260"/>
                  </a:cubicBezTo>
                  <a:cubicBezTo>
                    <a:pt x="2514595" y="50165"/>
                    <a:pt x="2513325" y="52070"/>
                    <a:pt x="2512055" y="54610"/>
                  </a:cubicBezTo>
                  <a:cubicBezTo>
                    <a:pt x="2511420" y="57150"/>
                    <a:pt x="2510150" y="59690"/>
                    <a:pt x="2510150" y="62865"/>
                  </a:cubicBezTo>
                  <a:lnTo>
                    <a:pt x="2546345" y="62865"/>
                  </a:lnTo>
                  <a:cubicBezTo>
                    <a:pt x="2546345" y="62865"/>
                    <a:pt x="2545710" y="57785"/>
                    <a:pt x="2545075" y="55245"/>
                  </a:cubicBezTo>
                  <a:cubicBezTo>
                    <a:pt x="2544440" y="52705"/>
                    <a:pt x="2543170" y="50800"/>
                    <a:pt x="2541900" y="48895"/>
                  </a:cubicBezTo>
                  <a:cubicBezTo>
                    <a:pt x="2540630" y="46990"/>
                    <a:pt x="2538725" y="45720"/>
                    <a:pt x="2536185" y="44450"/>
                  </a:cubicBezTo>
                  <a:cubicBezTo>
                    <a:pt x="2533645" y="43180"/>
                    <a:pt x="2531105" y="43180"/>
                    <a:pt x="2527930" y="43180"/>
                  </a:cubicBezTo>
                  <a:close/>
                  <a:moveTo>
                    <a:pt x="2214240" y="43180"/>
                  </a:moveTo>
                  <a:cubicBezTo>
                    <a:pt x="2211700" y="43180"/>
                    <a:pt x="2209160" y="43180"/>
                    <a:pt x="2207255" y="44450"/>
                  </a:cubicBezTo>
                  <a:cubicBezTo>
                    <a:pt x="2205350" y="45085"/>
                    <a:pt x="2203445" y="46355"/>
                    <a:pt x="2202175" y="48260"/>
                  </a:cubicBezTo>
                  <a:cubicBezTo>
                    <a:pt x="2200905" y="50165"/>
                    <a:pt x="2199635" y="52070"/>
                    <a:pt x="2198365" y="54610"/>
                  </a:cubicBezTo>
                  <a:cubicBezTo>
                    <a:pt x="2197730" y="57150"/>
                    <a:pt x="2196460" y="59690"/>
                    <a:pt x="2196460" y="62865"/>
                  </a:cubicBezTo>
                  <a:lnTo>
                    <a:pt x="2232655" y="62865"/>
                  </a:lnTo>
                  <a:cubicBezTo>
                    <a:pt x="2232655" y="62865"/>
                    <a:pt x="2232020" y="57785"/>
                    <a:pt x="2231385" y="55245"/>
                  </a:cubicBezTo>
                  <a:cubicBezTo>
                    <a:pt x="2230750" y="52705"/>
                    <a:pt x="2229480" y="50800"/>
                    <a:pt x="2228210" y="48895"/>
                  </a:cubicBezTo>
                  <a:cubicBezTo>
                    <a:pt x="2226940" y="46990"/>
                    <a:pt x="2225035" y="45720"/>
                    <a:pt x="2222495" y="44450"/>
                  </a:cubicBezTo>
                  <a:cubicBezTo>
                    <a:pt x="2219955" y="43180"/>
                    <a:pt x="2217415" y="43180"/>
                    <a:pt x="2214240" y="43180"/>
                  </a:cubicBezTo>
                  <a:close/>
                  <a:moveTo>
                    <a:pt x="2027551" y="43180"/>
                  </a:moveTo>
                  <a:cubicBezTo>
                    <a:pt x="2025011" y="43180"/>
                    <a:pt x="2022471" y="43180"/>
                    <a:pt x="2020566" y="44450"/>
                  </a:cubicBezTo>
                  <a:cubicBezTo>
                    <a:pt x="2018661" y="45085"/>
                    <a:pt x="2016756" y="46355"/>
                    <a:pt x="2015486" y="48260"/>
                  </a:cubicBezTo>
                  <a:cubicBezTo>
                    <a:pt x="2014216" y="50165"/>
                    <a:pt x="2012946" y="52070"/>
                    <a:pt x="2011676" y="54610"/>
                  </a:cubicBezTo>
                  <a:cubicBezTo>
                    <a:pt x="2011041" y="57150"/>
                    <a:pt x="2010406" y="59690"/>
                    <a:pt x="2009771" y="62865"/>
                  </a:cubicBezTo>
                  <a:lnTo>
                    <a:pt x="2045966" y="62865"/>
                  </a:lnTo>
                  <a:cubicBezTo>
                    <a:pt x="2045966" y="62865"/>
                    <a:pt x="2045331" y="57785"/>
                    <a:pt x="2044696" y="55245"/>
                  </a:cubicBezTo>
                  <a:cubicBezTo>
                    <a:pt x="2044061" y="52705"/>
                    <a:pt x="2042791" y="50800"/>
                    <a:pt x="2041521" y="48895"/>
                  </a:cubicBezTo>
                  <a:cubicBezTo>
                    <a:pt x="2040251" y="46990"/>
                    <a:pt x="2038346" y="45720"/>
                    <a:pt x="2035806" y="44450"/>
                  </a:cubicBezTo>
                  <a:cubicBezTo>
                    <a:pt x="2033266" y="43180"/>
                    <a:pt x="2030726" y="43180"/>
                    <a:pt x="2027551" y="43180"/>
                  </a:cubicBezTo>
                  <a:close/>
                  <a:moveTo>
                    <a:pt x="1949445" y="43180"/>
                  </a:moveTo>
                  <a:cubicBezTo>
                    <a:pt x="1947540" y="43180"/>
                    <a:pt x="1945635" y="43180"/>
                    <a:pt x="1944365" y="43815"/>
                  </a:cubicBezTo>
                  <a:cubicBezTo>
                    <a:pt x="1942460" y="43815"/>
                    <a:pt x="1941190" y="45085"/>
                    <a:pt x="1939285" y="45720"/>
                  </a:cubicBezTo>
                  <a:cubicBezTo>
                    <a:pt x="1938015" y="46355"/>
                    <a:pt x="1936110" y="47625"/>
                    <a:pt x="1934840" y="48895"/>
                  </a:cubicBezTo>
                  <a:cubicBezTo>
                    <a:pt x="1933570" y="50165"/>
                    <a:pt x="1932300" y="51435"/>
                    <a:pt x="1931665" y="52705"/>
                  </a:cubicBezTo>
                  <a:lnTo>
                    <a:pt x="1931665" y="85725"/>
                  </a:lnTo>
                  <a:cubicBezTo>
                    <a:pt x="1931665" y="85725"/>
                    <a:pt x="1933570" y="88265"/>
                    <a:pt x="1934840" y="89535"/>
                  </a:cubicBezTo>
                  <a:cubicBezTo>
                    <a:pt x="1936110" y="90805"/>
                    <a:pt x="1937380" y="92075"/>
                    <a:pt x="1939285" y="92710"/>
                  </a:cubicBezTo>
                  <a:cubicBezTo>
                    <a:pt x="1941190" y="93980"/>
                    <a:pt x="1942460" y="94615"/>
                    <a:pt x="1944365" y="95250"/>
                  </a:cubicBezTo>
                  <a:cubicBezTo>
                    <a:pt x="1946270" y="95250"/>
                    <a:pt x="1948175" y="95885"/>
                    <a:pt x="1950080" y="95885"/>
                  </a:cubicBezTo>
                  <a:cubicBezTo>
                    <a:pt x="1955795" y="95885"/>
                    <a:pt x="1959605" y="93980"/>
                    <a:pt x="1962780" y="89535"/>
                  </a:cubicBezTo>
                  <a:cubicBezTo>
                    <a:pt x="1965955" y="85090"/>
                    <a:pt x="1967225" y="79375"/>
                    <a:pt x="1967225" y="71120"/>
                  </a:cubicBezTo>
                  <a:lnTo>
                    <a:pt x="1966590" y="71755"/>
                  </a:lnTo>
                  <a:cubicBezTo>
                    <a:pt x="1966590" y="62230"/>
                    <a:pt x="1965320" y="54610"/>
                    <a:pt x="1962145" y="50165"/>
                  </a:cubicBezTo>
                  <a:cubicBezTo>
                    <a:pt x="1958970" y="45720"/>
                    <a:pt x="1954525" y="43180"/>
                    <a:pt x="1949445" y="43180"/>
                  </a:cubicBezTo>
                  <a:close/>
                  <a:moveTo>
                    <a:pt x="1829431" y="43180"/>
                  </a:moveTo>
                  <a:cubicBezTo>
                    <a:pt x="1826891" y="43180"/>
                    <a:pt x="1824351" y="43180"/>
                    <a:pt x="1822446" y="44450"/>
                  </a:cubicBezTo>
                  <a:cubicBezTo>
                    <a:pt x="1820541" y="45085"/>
                    <a:pt x="1818636" y="46355"/>
                    <a:pt x="1817366" y="48260"/>
                  </a:cubicBezTo>
                  <a:cubicBezTo>
                    <a:pt x="1816096" y="50165"/>
                    <a:pt x="1814826" y="52070"/>
                    <a:pt x="1813556" y="54610"/>
                  </a:cubicBezTo>
                  <a:cubicBezTo>
                    <a:pt x="1812921" y="57150"/>
                    <a:pt x="1811651" y="59690"/>
                    <a:pt x="1811651" y="62865"/>
                  </a:cubicBezTo>
                  <a:lnTo>
                    <a:pt x="1847846" y="62865"/>
                  </a:lnTo>
                  <a:cubicBezTo>
                    <a:pt x="1847846" y="62865"/>
                    <a:pt x="1847211" y="57785"/>
                    <a:pt x="1846576" y="55245"/>
                  </a:cubicBezTo>
                  <a:cubicBezTo>
                    <a:pt x="1845941" y="52705"/>
                    <a:pt x="1844671" y="50800"/>
                    <a:pt x="1843401" y="48895"/>
                  </a:cubicBezTo>
                  <a:cubicBezTo>
                    <a:pt x="1842131" y="46990"/>
                    <a:pt x="1840226" y="45720"/>
                    <a:pt x="1837686" y="44450"/>
                  </a:cubicBezTo>
                  <a:cubicBezTo>
                    <a:pt x="1835146" y="43180"/>
                    <a:pt x="1832606" y="43180"/>
                    <a:pt x="1829431" y="43180"/>
                  </a:cubicBezTo>
                  <a:close/>
                  <a:moveTo>
                    <a:pt x="1178561" y="43180"/>
                  </a:moveTo>
                  <a:cubicBezTo>
                    <a:pt x="1176021" y="43180"/>
                    <a:pt x="1173481" y="43180"/>
                    <a:pt x="1171576" y="44450"/>
                  </a:cubicBezTo>
                  <a:cubicBezTo>
                    <a:pt x="1169671" y="45085"/>
                    <a:pt x="1167766" y="46355"/>
                    <a:pt x="1166496" y="48260"/>
                  </a:cubicBezTo>
                  <a:cubicBezTo>
                    <a:pt x="1165226" y="50165"/>
                    <a:pt x="1163956" y="52070"/>
                    <a:pt x="1162686" y="54610"/>
                  </a:cubicBezTo>
                  <a:cubicBezTo>
                    <a:pt x="1162051" y="57150"/>
                    <a:pt x="1160781" y="59690"/>
                    <a:pt x="1160781" y="62865"/>
                  </a:cubicBezTo>
                  <a:lnTo>
                    <a:pt x="1196976" y="62865"/>
                  </a:lnTo>
                  <a:cubicBezTo>
                    <a:pt x="1196976" y="62865"/>
                    <a:pt x="1196341" y="57785"/>
                    <a:pt x="1195706" y="55245"/>
                  </a:cubicBezTo>
                  <a:cubicBezTo>
                    <a:pt x="1195071" y="52705"/>
                    <a:pt x="1193801" y="50800"/>
                    <a:pt x="1192531" y="48895"/>
                  </a:cubicBezTo>
                  <a:cubicBezTo>
                    <a:pt x="1191261" y="46990"/>
                    <a:pt x="1189356" y="45720"/>
                    <a:pt x="1186816" y="44450"/>
                  </a:cubicBezTo>
                  <a:cubicBezTo>
                    <a:pt x="1184276" y="43180"/>
                    <a:pt x="1181736" y="43180"/>
                    <a:pt x="1178561" y="43180"/>
                  </a:cubicBezTo>
                  <a:close/>
                  <a:moveTo>
                    <a:pt x="898525" y="43180"/>
                  </a:moveTo>
                  <a:cubicBezTo>
                    <a:pt x="895985" y="43180"/>
                    <a:pt x="893445" y="43180"/>
                    <a:pt x="891540" y="44450"/>
                  </a:cubicBezTo>
                  <a:cubicBezTo>
                    <a:pt x="889635" y="45085"/>
                    <a:pt x="887730" y="46355"/>
                    <a:pt x="886460" y="48260"/>
                  </a:cubicBezTo>
                  <a:cubicBezTo>
                    <a:pt x="885190" y="50165"/>
                    <a:pt x="883920" y="52070"/>
                    <a:pt x="882650" y="54610"/>
                  </a:cubicBezTo>
                  <a:cubicBezTo>
                    <a:pt x="882015" y="57150"/>
                    <a:pt x="881380" y="59690"/>
                    <a:pt x="880745" y="62865"/>
                  </a:cubicBezTo>
                  <a:lnTo>
                    <a:pt x="916940" y="62865"/>
                  </a:lnTo>
                  <a:cubicBezTo>
                    <a:pt x="916940" y="62865"/>
                    <a:pt x="916305" y="57785"/>
                    <a:pt x="915670" y="55245"/>
                  </a:cubicBezTo>
                  <a:cubicBezTo>
                    <a:pt x="915035" y="52705"/>
                    <a:pt x="913765" y="50800"/>
                    <a:pt x="912495" y="48895"/>
                  </a:cubicBezTo>
                  <a:cubicBezTo>
                    <a:pt x="911225" y="46990"/>
                    <a:pt x="909320" y="45720"/>
                    <a:pt x="906780" y="44450"/>
                  </a:cubicBezTo>
                  <a:cubicBezTo>
                    <a:pt x="904240" y="43180"/>
                    <a:pt x="901700" y="43180"/>
                    <a:pt x="898525" y="43180"/>
                  </a:cubicBezTo>
                  <a:close/>
                  <a:moveTo>
                    <a:pt x="584834" y="43180"/>
                  </a:moveTo>
                  <a:cubicBezTo>
                    <a:pt x="582294" y="43180"/>
                    <a:pt x="579754" y="43180"/>
                    <a:pt x="577849" y="44450"/>
                  </a:cubicBezTo>
                  <a:cubicBezTo>
                    <a:pt x="575944" y="45085"/>
                    <a:pt x="574039" y="46355"/>
                    <a:pt x="572769" y="48260"/>
                  </a:cubicBezTo>
                  <a:cubicBezTo>
                    <a:pt x="571499" y="50165"/>
                    <a:pt x="570229" y="52070"/>
                    <a:pt x="568959" y="54610"/>
                  </a:cubicBezTo>
                  <a:cubicBezTo>
                    <a:pt x="568324" y="57150"/>
                    <a:pt x="567689" y="59690"/>
                    <a:pt x="567054" y="62865"/>
                  </a:cubicBezTo>
                  <a:lnTo>
                    <a:pt x="603249" y="62865"/>
                  </a:lnTo>
                  <a:cubicBezTo>
                    <a:pt x="603249" y="62865"/>
                    <a:pt x="602614" y="57785"/>
                    <a:pt x="601979" y="55245"/>
                  </a:cubicBezTo>
                  <a:cubicBezTo>
                    <a:pt x="601344" y="52705"/>
                    <a:pt x="600074" y="50800"/>
                    <a:pt x="598804" y="48895"/>
                  </a:cubicBezTo>
                  <a:cubicBezTo>
                    <a:pt x="597534" y="46990"/>
                    <a:pt x="595629" y="45720"/>
                    <a:pt x="593089" y="44450"/>
                  </a:cubicBezTo>
                  <a:cubicBezTo>
                    <a:pt x="590549" y="43180"/>
                    <a:pt x="588009" y="43180"/>
                    <a:pt x="584834" y="43180"/>
                  </a:cubicBezTo>
                  <a:close/>
                  <a:moveTo>
                    <a:pt x="398145" y="43180"/>
                  </a:moveTo>
                  <a:cubicBezTo>
                    <a:pt x="395605" y="43180"/>
                    <a:pt x="393065" y="43180"/>
                    <a:pt x="391160" y="44450"/>
                  </a:cubicBezTo>
                  <a:cubicBezTo>
                    <a:pt x="389255" y="45085"/>
                    <a:pt x="387350" y="46355"/>
                    <a:pt x="386080" y="48260"/>
                  </a:cubicBezTo>
                  <a:cubicBezTo>
                    <a:pt x="384810" y="50165"/>
                    <a:pt x="383540" y="52070"/>
                    <a:pt x="382270" y="54610"/>
                  </a:cubicBezTo>
                  <a:cubicBezTo>
                    <a:pt x="381635" y="57150"/>
                    <a:pt x="380365" y="59690"/>
                    <a:pt x="380365" y="62865"/>
                  </a:cubicBezTo>
                  <a:lnTo>
                    <a:pt x="416560" y="62865"/>
                  </a:lnTo>
                  <a:cubicBezTo>
                    <a:pt x="416560" y="62865"/>
                    <a:pt x="415925" y="57785"/>
                    <a:pt x="415290" y="55245"/>
                  </a:cubicBezTo>
                  <a:cubicBezTo>
                    <a:pt x="414655" y="52705"/>
                    <a:pt x="413385" y="50800"/>
                    <a:pt x="412115" y="48895"/>
                  </a:cubicBezTo>
                  <a:cubicBezTo>
                    <a:pt x="410845" y="46990"/>
                    <a:pt x="408940" y="45720"/>
                    <a:pt x="406400" y="44450"/>
                  </a:cubicBezTo>
                  <a:cubicBezTo>
                    <a:pt x="403860" y="43180"/>
                    <a:pt x="401320" y="43180"/>
                    <a:pt x="398145" y="43180"/>
                  </a:cubicBezTo>
                  <a:close/>
                  <a:moveTo>
                    <a:pt x="320039" y="43180"/>
                  </a:moveTo>
                  <a:cubicBezTo>
                    <a:pt x="318134" y="43180"/>
                    <a:pt x="316229" y="43180"/>
                    <a:pt x="314959" y="43815"/>
                  </a:cubicBezTo>
                  <a:cubicBezTo>
                    <a:pt x="313054" y="43815"/>
                    <a:pt x="311784" y="45085"/>
                    <a:pt x="309879" y="45720"/>
                  </a:cubicBezTo>
                  <a:cubicBezTo>
                    <a:pt x="308609" y="46355"/>
                    <a:pt x="306704" y="47625"/>
                    <a:pt x="305434" y="48895"/>
                  </a:cubicBezTo>
                  <a:cubicBezTo>
                    <a:pt x="304164" y="50165"/>
                    <a:pt x="302894" y="51435"/>
                    <a:pt x="302259" y="52705"/>
                  </a:cubicBezTo>
                  <a:lnTo>
                    <a:pt x="302259" y="85725"/>
                  </a:lnTo>
                  <a:cubicBezTo>
                    <a:pt x="302259" y="85725"/>
                    <a:pt x="304164" y="88265"/>
                    <a:pt x="305434" y="89535"/>
                  </a:cubicBezTo>
                  <a:cubicBezTo>
                    <a:pt x="306704" y="90805"/>
                    <a:pt x="307974" y="92075"/>
                    <a:pt x="309879" y="92710"/>
                  </a:cubicBezTo>
                  <a:cubicBezTo>
                    <a:pt x="311784" y="93980"/>
                    <a:pt x="313054" y="94615"/>
                    <a:pt x="314959" y="95250"/>
                  </a:cubicBezTo>
                  <a:cubicBezTo>
                    <a:pt x="316864" y="95250"/>
                    <a:pt x="318769" y="95885"/>
                    <a:pt x="320674" y="95885"/>
                  </a:cubicBezTo>
                  <a:cubicBezTo>
                    <a:pt x="326389" y="95885"/>
                    <a:pt x="330199" y="93980"/>
                    <a:pt x="333374" y="89535"/>
                  </a:cubicBezTo>
                  <a:cubicBezTo>
                    <a:pt x="336549" y="85090"/>
                    <a:pt x="337819" y="79375"/>
                    <a:pt x="337819" y="71120"/>
                  </a:cubicBezTo>
                  <a:lnTo>
                    <a:pt x="337184" y="71755"/>
                  </a:lnTo>
                  <a:cubicBezTo>
                    <a:pt x="337184" y="62230"/>
                    <a:pt x="335914" y="54610"/>
                    <a:pt x="332739" y="50165"/>
                  </a:cubicBezTo>
                  <a:cubicBezTo>
                    <a:pt x="329564" y="45720"/>
                    <a:pt x="325119" y="43180"/>
                    <a:pt x="320039" y="43180"/>
                  </a:cubicBezTo>
                  <a:close/>
                  <a:moveTo>
                    <a:pt x="200025" y="43180"/>
                  </a:moveTo>
                  <a:cubicBezTo>
                    <a:pt x="197485" y="43180"/>
                    <a:pt x="194945" y="43180"/>
                    <a:pt x="193040" y="44450"/>
                  </a:cubicBezTo>
                  <a:cubicBezTo>
                    <a:pt x="191135" y="45085"/>
                    <a:pt x="189230" y="46355"/>
                    <a:pt x="187960" y="48260"/>
                  </a:cubicBezTo>
                  <a:cubicBezTo>
                    <a:pt x="186690" y="50165"/>
                    <a:pt x="185420" y="52070"/>
                    <a:pt x="184150" y="54610"/>
                  </a:cubicBezTo>
                  <a:cubicBezTo>
                    <a:pt x="183515" y="57150"/>
                    <a:pt x="182880" y="59690"/>
                    <a:pt x="182245" y="62865"/>
                  </a:cubicBezTo>
                  <a:lnTo>
                    <a:pt x="218440" y="62865"/>
                  </a:lnTo>
                  <a:cubicBezTo>
                    <a:pt x="218440" y="62865"/>
                    <a:pt x="217805" y="57785"/>
                    <a:pt x="217170" y="55245"/>
                  </a:cubicBezTo>
                  <a:cubicBezTo>
                    <a:pt x="216535" y="52705"/>
                    <a:pt x="215265" y="50800"/>
                    <a:pt x="213995" y="48895"/>
                  </a:cubicBezTo>
                  <a:cubicBezTo>
                    <a:pt x="212725" y="46990"/>
                    <a:pt x="210820" y="45720"/>
                    <a:pt x="208280" y="44450"/>
                  </a:cubicBezTo>
                  <a:cubicBezTo>
                    <a:pt x="205740" y="43180"/>
                    <a:pt x="203200" y="43180"/>
                    <a:pt x="200025" y="43180"/>
                  </a:cubicBezTo>
                  <a:close/>
                  <a:moveTo>
                    <a:pt x="4439281" y="43179"/>
                  </a:moveTo>
                  <a:cubicBezTo>
                    <a:pt x="4433566" y="43179"/>
                    <a:pt x="4429756" y="45084"/>
                    <a:pt x="4426581" y="49529"/>
                  </a:cubicBezTo>
                  <a:cubicBezTo>
                    <a:pt x="4423406" y="53974"/>
                    <a:pt x="4422136" y="59689"/>
                    <a:pt x="4422136" y="67944"/>
                  </a:cubicBezTo>
                  <a:cubicBezTo>
                    <a:pt x="4422136" y="73024"/>
                    <a:pt x="4422136" y="76834"/>
                    <a:pt x="4423406" y="80644"/>
                  </a:cubicBezTo>
                  <a:cubicBezTo>
                    <a:pt x="4424041" y="84454"/>
                    <a:pt x="4425311" y="86994"/>
                    <a:pt x="4426581" y="89534"/>
                  </a:cubicBezTo>
                  <a:cubicBezTo>
                    <a:pt x="4427851" y="92074"/>
                    <a:pt x="4429756" y="93344"/>
                    <a:pt x="4432296" y="94614"/>
                  </a:cubicBezTo>
                  <a:cubicBezTo>
                    <a:pt x="4434201" y="95884"/>
                    <a:pt x="4436741" y="96519"/>
                    <a:pt x="4439916" y="96519"/>
                  </a:cubicBezTo>
                  <a:cubicBezTo>
                    <a:pt x="4441821" y="96519"/>
                    <a:pt x="4443726" y="96519"/>
                    <a:pt x="4444996" y="95884"/>
                  </a:cubicBezTo>
                  <a:cubicBezTo>
                    <a:pt x="4446901" y="95884"/>
                    <a:pt x="4448171" y="94614"/>
                    <a:pt x="4450076" y="93344"/>
                  </a:cubicBezTo>
                  <a:cubicBezTo>
                    <a:pt x="4451346" y="92709"/>
                    <a:pt x="4453251" y="91439"/>
                    <a:pt x="4454521" y="90169"/>
                  </a:cubicBezTo>
                  <a:cubicBezTo>
                    <a:pt x="4455791" y="88899"/>
                    <a:pt x="4457061" y="87629"/>
                    <a:pt x="4457696" y="86359"/>
                  </a:cubicBezTo>
                  <a:lnTo>
                    <a:pt x="4457696" y="53339"/>
                  </a:lnTo>
                  <a:cubicBezTo>
                    <a:pt x="4457696" y="53339"/>
                    <a:pt x="4455791" y="50799"/>
                    <a:pt x="4454521" y="49529"/>
                  </a:cubicBezTo>
                  <a:cubicBezTo>
                    <a:pt x="4453251" y="48259"/>
                    <a:pt x="4451981" y="46989"/>
                    <a:pt x="4450076" y="46354"/>
                  </a:cubicBezTo>
                  <a:cubicBezTo>
                    <a:pt x="4448806" y="45084"/>
                    <a:pt x="4446901" y="44449"/>
                    <a:pt x="4444996" y="43814"/>
                  </a:cubicBezTo>
                  <a:cubicBezTo>
                    <a:pt x="4443091" y="43814"/>
                    <a:pt x="4441186" y="43179"/>
                    <a:pt x="4439281" y="43179"/>
                  </a:cubicBezTo>
                  <a:close/>
                  <a:moveTo>
                    <a:pt x="1014731" y="43179"/>
                  </a:moveTo>
                  <a:cubicBezTo>
                    <a:pt x="1009016" y="43179"/>
                    <a:pt x="1005206" y="45084"/>
                    <a:pt x="1002032" y="49529"/>
                  </a:cubicBezTo>
                  <a:cubicBezTo>
                    <a:pt x="998856" y="53974"/>
                    <a:pt x="997587" y="59689"/>
                    <a:pt x="997587" y="67944"/>
                  </a:cubicBezTo>
                  <a:cubicBezTo>
                    <a:pt x="997587" y="77469"/>
                    <a:pt x="998856" y="84454"/>
                    <a:pt x="1002032" y="88899"/>
                  </a:cubicBezTo>
                  <a:cubicBezTo>
                    <a:pt x="1005206" y="93979"/>
                    <a:pt x="1009016" y="95884"/>
                    <a:pt x="1015367" y="95884"/>
                  </a:cubicBezTo>
                  <a:cubicBezTo>
                    <a:pt x="1018541" y="95884"/>
                    <a:pt x="1022352" y="95249"/>
                    <a:pt x="1024891" y="93344"/>
                  </a:cubicBezTo>
                  <a:cubicBezTo>
                    <a:pt x="1028067" y="91439"/>
                    <a:pt x="1030607" y="88899"/>
                    <a:pt x="1033147" y="86359"/>
                  </a:cubicBezTo>
                  <a:lnTo>
                    <a:pt x="1033147" y="53339"/>
                  </a:lnTo>
                  <a:cubicBezTo>
                    <a:pt x="1033147" y="53339"/>
                    <a:pt x="1031242" y="50799"/>
                    <a:pt x="1029971" y="49529"/>
                  </a:cubicBezTo>
                  <a:cubicBezTo>
                    <a:pt x="1028702" y="48259"/>
                    <a:pt x="1027431" y="46989"/>
                    <a:pt x="1025526" y="46354"/>
                  </a:cubicBezTo>
                  <a:cubicBezTo>
                    <a:pt x="1023621" y="45084"/>
                    <a:pt x="1022352" y="44449"/>
                    <a:pt x="1020446" y="43814"/>
                  </a:cubicBezTo>
                  <a:cubicBezTo>
                    <a:pt x="1018541" y="43179"/>
                    <a:pt x="1016636" y="43179"/>
                    <a:pt x="1014731" y="43179"/>
                  </a:cubicBezTo>
                  <a:close/>
                  <a:moveTo>
                    <a:pt x="4524370" y="31114"/>
                  </a:moveTo>
                  <a:lnTo>
                    <a:pt x="4538975" y="31114"/>
                  </a:lnTo>
                  <a:lnTo>
                    <a:pt x="4552310" y="84454"/>
                  </a:lnTo>
                  <a:lnTo>
                    <a:pt x="4566915" y="31114"/>
                  </a:lnTo>
                  <a:lnTo>
                    <a:pt x="4579615" y="31114"/>
                  </a:lnTo>
                  <a:lnTo>
                    <a:pt x="4594220" y="84454"/>
                  </a:lnTo>
                  <a:lnTo>
                    <a:pt x="4606920" y="31114"/>
                  </a:lnTo>
                  <a:lnTo>
                    <a:pt x="4622160" y="31114"/>
                  </a:lnTo>
                  <a:lnTo>
                    <a:pt x="4600570" y="108584"/>
                  </a:lnTo>
                  <a:lnTo>
                    <a:pt x="4587235" y="108584"/>
                  </a:lnTo>
                  <a:lnTo>
                    <a:pt x="4572630" y="54609"/>
                  </a:lnTo>
                  <a:lnTo>
                    <a:pt x="4558660" y="108584"/>
                  </a:lnTo>
                  <a:lnTo>
                    <a:pt x="4545325" y="108584"/>
                  </a:lnTo>
                  <a:close/>
                  <a:moveTo>
                    <a:pt x="4123686" y="31114"/>
                  </a:moveTo>
                  <a:lnTo>
                    <a:pt x="4138926" y="31114"/>
                  </a:lnTo>
                  <a:lnTo>
                    <a:pt x="4152261" y="84454"/>
                  </a:lnTo>
                  <a:lnTo>
                    <a:pt x="4166866" y="31114"/>
                  </a:lnTo>
                  <a:lnTo>
                    <a:pt x="4178931" y="31114"/>
                  </a:lnTo>
                  <a:lnTo>
                    <a:pt x="4193536" y="84454"/>
                  </a:lnTo>
                  <a:lnTo>
                    <a:pt x="4206871" y="31114"/>
                  </a:lnTo>
                  <a:lnTo>
                    <a:pt x="4222111" y="31114"/>
                  </a:lnTo>
                  <a:lnTo>
                    <a:pt x="4200521" y="108584"/>
                  </a:lnTo>
                  <a:lnTo>
                    <a:pt x="4187186" y="108584"/>
                  </a:lnTo>
                  <a:lnTo>
                    <a:pt x="4172581" y="54609"/>
                  </a:lnTo>
                  <a:lnTo>
                    <a:pt x="4157976" y="108584"/>
                  </a:lnTo>
                  <a:lnTo>
                    <a:pt x="4145276" y="108584"/>
                  </a:lnTo>
                  <a:close/>
                  <a:moveTo>
                    <a:pt x="2837811" y="31114"/>
                  </a:moveTo>
                  <a:lnTo>
                    <a:pt x="2852416" y="31114"/>
                  </a:lnTo>
                  <a:lnTo>
                    <a:pt x="2865751" y="84454"/>
                  </a:lnTo>
                  <a:lnTo>
                    <a:pt x="2880356" y="31114"/>
                  </a:lnTo>
                  <a:lnTo>
                    <a:pt x="2893056" y="31114"/>
                  </a:lnTo>
                  <a:lnTo>
                    <a:pt x="2907661" y="84454"/>
                  </a:lnTo>
                  <a:lnTo>
                    <a:pt x="2920361" y="31114"/>
                  </a:lnTo>
                  <a:lnTo>
                    <a:pt x="2935601" y="31114"/>
                  </a:lnTo>
                  <a:lnTo>
                    <a:pt x="2914011" y="108584"/>
                  </a:lnTo>
                  <a:lnTo>
                    <a:pt x="2900676" y="108584"/>
                  </a:lnTo>
                  <a:lnTo>
                    <a:pt x="2886706" y="54609"/>
                  </a:lnTo>
                  <a:lnTo>
                    <a:pt x="2872101" y="108584"/>
                  </a:lnTo>
                  <a:lnTo>
                    <a:pt x="2858766" y="108584"/>
                  </a:lnTo>
                  <a:close/>
                  <a:moveTo>
                    <a:pt x="1354455" y="31114"/>
                  </a:moveTo>
                  <a:lnTo>
                    <a:pt x="1369695" y="31114"/>
                  </a:lnTo>
                  <a:lnTo>
                    <a:pt x="1369695" y="109219"/>
                  </a:lnTo>
                  <a:lnTo>
                    <a:pt x="1354455" y="109219"/>
                  </a:lnTo>
                  <a:close/>
                  <a:moveTo>
                    <a:pt x="2646040" y="29844"/>
                  </a:moveTo>
                  <a:cubicBezTo>
                    <a:pt x="2650485" y="29844"/>
                    <a:pt x="2654295" y="29844"/>
                    <a:pt x="2658105" y="31749"/>
                  </a:cubicBezTo>
                  <a:cubicBezTo>
                    <a:pt x="2661915" y="33019"/>
                    <a:pt x="2665090" y="34289"/>
                    <a:pt x="2667630" y="36829"/>
                  </a:cubicBezTo>
                  <a:cubicBezTo>
                    <a:pt x="2670170" y="38734"/>
                    <a:pt x="2672075" y="41909"/>
                    <a:pt x="2673345" y="45084"/>
                  </a:cubicBezTo>
                  <a:cubicBezTo>
                    <a:pt x="2674615" y="48259"/>
                    <a:pt x="2675250" y="52069"/>
                    <a:pt x="2675250" y="56514"/>
                  </a:cubicBezTo>
                  <a:lnTo>
                    <a:pt x="2675250" y="109854"/>
                  </a:lnTo>
                  <a:lnTo>
                    <a:pt x="2660010" y="109854"/>
                  </a:lnTo>
                  <a:lnTo>
                    <a:pt x="2660010" y="108584"/>
                  </a:lnTo>
                  <a:lnTo>
                    <a:pt x="2660010" y="100964"/>
                  </a:lnTo>
                  <a:cubicBezTo>
                    <a:pt x="2660010" y="100964"/>
                    <a:pt x="2656200" y="104139"/>
                    <a:pt x="2654930" y="104774"/>
                  </a:cubicBezTo>
                  <a:cubicBezTo>
                    <a:pt x="2653660" y="105409"/>
                    <a:pt x="2652390" y="106679"/>
                    <a:pt x="2651120" y="107314"/>
                  </a:cubicBezTo>
                  <a:cubicBezTo>
                    <a:pt x="2649850" y="107949"/>
                    <a:pt x="2647945" y="108584"/>
                    <a:pt x="2646040" y="109219"/>
                  </a:cubicBezTo>
                  <a:cubicBezTo>
                    <a:pt x="2644135" y="109219"/>
                    <a:pt x="2641595" y="109854"/>
                    <a:pt x="2639055" y="109854"/>
                  </a:cubicBezTo>
                  <a:cubicBezTo>
                    <a:pt x="2635880" y="109854"/>
                    <a:pt x="2632705" y="109854"/>
                    <a:pt x="2629530" y="108584"/>
                  </a:cubicBezTo>
                  <a:cubicBezTo>
                    <a:pt x="2626355" y="107949"/>
                    <a:pt x="2623180" y="106044"/>
                    <a:pt x="2620640" y="104139"/>
                  </a:cubicBezTo>
                  <a:cubicBezTo>
                    <a:pt x="2618100" y="102234"/>
                    <a:pt x="2616195" y="99059"/>
                    <a:pt x="2614290" y="95884"/>
                  </a:cubicBezTo>
                  <a:cubicBezTo>
                    <a:pt x="2612385" y="92709"/>
                    <a:pt x="2611750" y="88264"/>
                    <a:pt x="2611750" y="83819"/>
                  </a:cubicBezTo>
                  <a:cubicBezTo>
                    <a:pt x="2611750" y="79374"/>
                    <a:pt x="2612385" y="75564"/>
                    <a:pt x="2614290" y="72389"/>
                  </a:cubicBezTo>
                  <a:cubicBezTo>
                    <a:pt x="2615560" y="69214"/>
                    <a:pt x="2618100" y="66674"/>
                    <a:pt x="2620640" y="64769"/>
                  </a:cubicBezTo>
                  <a:cubicBezTo>
                    <a:pt x="2623180" y="62864"/>
                    <a:pt x="2626990" y="60959"/>
                    <a:pt x="2630800" y="60324"/>
                  </a:cubicBezTo>
                  <a:cubicBezTo>
                    <a:pt x="2634610" y="59054"/>
                    <a:pt x="2638420" y="59054"/>
                    <a:pt x="2642865" y="59054"/>
                  </a:cubicBezTo>
                  <a:cubicBezTo>
                    <a:pt x="2646675" y="59054"/>
                    <a:pt x="2650485" y="59054"/>
                    <a:pt x="2653025" y="59689"/>
                  </a:cubicBezTo>
                  <a:cubicBezTo>
                    <a:pt x="2655565" y="59689"/>
                    <a:pt x="2658105" y="60959"/>
                    <a:pt x="2660010" y="61594"/>
                  </a:cubicBezTo>
                  <a:lnTo>
                    <a:pt x="2660010" y="55879"/>
                  </a:lnTo>
                  <a:cubicBezTo>
                    <a:pt x="2660010" y="51434"/>
                    <a:pt x="2658740" y="48259"/>
                    <a:pt x="2656200" y="46354"/>
                  </a:cubicBezTo>
                  <a:cubicBezTo>
                    <a:pt x="2653660" y="43814"/>
                    <a:pt x="2649850" y="43179"/>
                    <a:pt x="2645405" y="43179"/>
                  </a:cubicBezTo>
                  <a:cubicBezTo>
                    <a:pt x="2641595" y="43179"/>
                    <a:pt x="2637785" y="43179"/>
                    <a:pt x="2634610" y="44449"/>
                  </a:cubicBezTo>
                  <a:cubicBezTo>
                    <a:pt x="2631435" y="45084"/>
                    <a:pt x="2628260" y="46354"/>
                    <a:pt x="2625085" y="48259"/>
                  </a:cubicBezTo>
                  <a:lnTo>
                    <a:pt x="2619370" y="36829"/>
                  </a:lnTo>
                  <a:cubicBezTo>
                    <a:pt x="2623180" y="34289"/>
                    <a:pt x="2626990" y="33019"/>
                    <a:pt x="2631435" y="31749"/>
                  </a:cubicBezTo>
                  <a:cubicBezTo>
                    <a:pt x="2635880" y="30479"/>
                    <a:pt x="2640325" y="29844"/>
                    <a:pt x="2646040" y="29844"/>
                  </a:cubicBezTo>
                  <a:close/>
                  <a:moveTo>
                    <a:pt x="1114426" y="29844"/>
                  </a:moveTo>
                  <a:lnTo>
                    <a:pt x="1129666" y="29844"/>
                  </a:lnTo>
                  <a:lnTo>
                    <a:pt x="1129666" y="107949"/>
                  </a:lnTo>
                  <a:lnTo>
                    <a:pt x="1114426" y="107949"/>
                  </a:lnTo>
                  <a:lnTo>
                    <a:pt x="1114426" y="100964"/>
                  </a:lnTo>
                  <a:cubicBezTo>
                    <a:pt x="1114426" y="100964"/>
                    <a:pt x="1109981" y="106044"/>
                    <a:pt x="1106171" y="107314"/>
                  </a:cubicBezTo>
                  <a:cubicBezTo>
                    <a:pt x="1102996" y="109219"/>
                    <a:pt x="1098551" y="109854"/>
                    <a:pt x="1094741" y="109854"/>
                  </a:cubicBezTo>
                  <a:cubicBezTo>
                    <a:pt x="1085851" y="109854"/>
                    <a:pt x="1078866" y="106679"/>
                    <a:pt x="1073786" y="100964"/>
                  </a:cubicBezTo>
                  <a:cubicBezTo>
                    <a:pt x="1069341" y="95249"/>
                    <a:pt x="1066800" y="86359"/>
                    <a:pt x="1066800" y="74929"/>
                  </a:cubicBezTo>
                  <a:lnTo>
                    <a:pt x="1066800" y="30479"/>
                  </a:lnTo>
                  <a:lnTo>
                    <a:pt x="1082040" y="30479"/>
                  </a:lnTo>
                  <a:lnTo>
                    <a:pt x="1082040" y="74294"/>
                  </a:lnTo>
                  <a:cubicBezTo>
                    <a:pt x="1082040" y="81279"/>
                    <a:pt x="1083311" y="86994"/>
                    <a:pt x="1085851" y="90169"/>
                  </a:cubicBezTo>
                  <a:cubicBezTo>
                    <a:pt x="1088390" y="93979"/>
                    <a:pt x="1092201" y="95249"/>
                    <a:pt x="1097916" y="95249"/>
                  </a:cubicBezTo>
                  <a:cubicBezTo>
                    <a:pt x="1102996" y="95249"/>
                    <a:pt x="1106806" y="93344"/>
                    <a:pt x="1109981" y="90169"/>
                  </a:cubicBezTo>
                  <a:cubicBezTo>
                    <a:pt x="1112521" y="86994"/>
                    <a:pt x="1114426" y="81914"/>
                    <a:pt x="1114426" y="75564"/>
                  </a:cubicBezTo>
                  <a:close/>
                  <a:moveTo>
                    <a:pt x="1011556" y="29844"/>
                  </a:moveTo>
                  <a:cubicBezTo>
                    <a:pt x="1013461" y="29844"/>
                    <a:pt x="1015367" y="29844"/>
                    <a:pt x="1017272" y="30479"/>
                  </a:cubicBezTo>
                  <a:cubicBezTo>
                    <a:pt x="1019176" y="30479"/>
                    <a:pt x="1021081" y="31749"/>
                    <a:pt x="1022352" y="32384"/>
                  </a:cubicBezTo>
                  <a:cubicBezTo>
                    <a:pt x="1024257" y="33019"/>
                    <a:pt x="1025526" y="34289"/>
                    <a:pt x="1026797" y="35559"/>
                  </a:cubicBezTo>
                  <a:cubicBezTo>
                    <a:pt x="1028067" y="36829"/>
                    <a:pt x="1029336" y="37464"/>
                    <a:pt x="1030607" y="38734"/>
                  </a:cubicBezTo>
                  <a:lnTo>
                    <a:pt x="1030607" y="31749"/>
                  </a:lnTo>
                  <a:lnTo>
                    <a:pt x="1045847" y="31749"/>
                  </a:lnTo>
                  <a:lnTo>
                    <a:pt x="1045847" y="130809"/>
                  </a:lnTo>
                  <a:lnTo>
                    <a:pt x="1032512" y="137477"/>
                  </a:lnTo>
                  <a:lnTo>
                    <a:pt x="1032512" y="101599"/>
                  </a:lnTo>
                  <a:cubicBezTo>
                    <a:pt x="1032512" y="101599"/>
                    <a:pt x="1026797" y="106679"/>
                    <a:pt x="1022986" y="107949"/>
                  </a:cubicBezTo>
                  <a:cubicBezTo>
                    <a:pt x="1019812" y="109854"/>
                    <a:pt x="1016001" y="110489"/>
                    <a:pt x="1011556" y="110489"/>
                  </a:cubicBezTo>
                  <a:cubicBezTo>
                    <a:pt x="1007111" y="110489"/>
                    <a:pt x="1003301" y="109854"/>
                    <a:pt x="999491" y="107949"/>
                  </a:cubicBezTo>
                  <a:cubicBezTo>
                    <a:pt x="995681" y="106679"/>
                    <a:pt x="992506" y="104139"/>
                    <a:pt x="989966" y="100329"/>
                  </a:cubicBezTo>
                  <a:cubicBezTo>
                    <a:pt x="987426" y="97154"/>
                    <a:pt x="984886" y="92709"/>
                    <a:pt x="983616" y="87629"/>
                  </a:cubicBezTo>
                  <a:cubicBezTo>
                    <a:pt x="982346" y="82549"/>
                    <a:pt x="981076" y="76199"/>
                    <a:pt x="981076" y="68579"/>
                  </a:cubicBezTo>
                  <a:cubicBezTo>
                    <a:pt x="981076" y="61594"/>
                    <a:pt x="981711" y="55879"/>
                    <a:pt x="983616" y="51434"/>
                  </a:cubicBezTo>
                  <a:cubicBezTo>
                    <a:pt x="985521" y="46354"/>
                    <a:pt x="987426" y="42544"/>
                    <a:pt x="990601" y="39369"/>
                  </a:cubicBezTo>
                  <a:cubicBezTo>
                    <a:pt x="993142" y="36194"/>
                    <a:pt x="996951" y="33654"/>
                    <a:pt x="1000126" y="32384"/>
                  </a:cubicBezTo>
                  <a:cubicBezTo>
                    <a:pt x="1003937" y="31114"/>
                    <a:pt x="1007746" y="29844"/>
                    <a:pt x="1011556" y="29844"/>
                  </a:cubicBezTo>
                  <a:close/>
                  <a:moveTo>
                    <a:pt x="4871716" y="29210"/>
                  </a:moveTo>
                  <a:cubicBezTo>
                    <a:pt x="4876796" y="29210"/>
                    <a:pt x="4881241" y="29845"/>
                    <a:pt x="4885686" y="31750"/>
                  </a:cubicBezTo>
                  <a:cubicBezTo>
                    <a:pt x="4890131" y="33655"/>
                    <a:pt x="4894576" y="35560"/>
                    <a:pt x="4897751" y="38100"/>
                  </a:cubicBezTo>
                  <a:lnTo>
                    <a:pt x="4899021" y="38100"/>
                  </a:lnTo>
                  <a:lnTo>
                    <a:pt x="4892036" y="50165"/>
                  </a:lnTo>
                  <a:cubicBezTo>
                    <a:pt x="4888861" y="47625"/>
                    <a:pt x="4885686" y="46355"/>
                    <a:pt x="4882511" y="45085"/>
                  </a:cubicBezTo>
                  <a:cubicBezTo>
                    <a:pt x="4879336" y="43815"/>
                    <a:pt x="4875526" y="43180"/>
                    <a:pt x="4872351" y="43180"/>
                  </a:cubicBezTo>
                  <a:cubicBezTo>
                    <a:pt x="4869176" y="43180"/>
                    <a:pt x="4866001" y="43815"/>
                    <a:pt x="4864096" y="45085"/>
                  </a:cubicBezTo>
                  <a:cubicBezTo>
                    <a:pt x="4862191" y="46355"/>
                    <a:pt x="4861556" y="48260"/>
                    <a:pt x="4861556" y="50165"/>
                  </a:cubicBezTo>
                  <a:cubicBezTo>
                    <a:pt x="4861556" y="51435"/>
                    <a:pt x="4861556" y="52070"/>
                    <a:pt x="4861556" y="52705"/>
                  </a:cubicBezTo>
                  <a:cubicBezTo>
                    <a:pt x="4861556" y="53340"/>
                    <a:pt x="4862826" y="54610"/>
                    <a:pt x="4863461" y="55245"/>
                  </a:cubicBezTo>
                  <a:cubicBezTo>
                    <a:pt x="4864731" y="55880"/>
                    <a:pt x="4866001" y="57150"/>
                    <a:pt x="4867906" y="57785"/>
                  </a:cubicBezTo>
                  <a:cubicBezTo>
                    <a:pt x="4869811" y="59055"/>
                    <a:pt x="4872351" y="59690"/>
                    <a:pt x="4874891" y="60960"/>
                  </a:cubicBezTo>
                  <a:cubicBezTo>
                    <a:pt x="4879336" y="62865"/>
                    <a:pt x="4883146" y="64135"/>
                    <a:pt x="4886321" y="66040"/>
                  </a:cubicBezTo>
                  <a:cubicBezTo>
                    <a:pt x="4889496" y="67310"/>
                    <a:pt x="4892036" y="69215"/>
                    <a:pt x="4894576" y="71120"/>
                  </a:cubicBezTo>
                  <a:cubicBezTo>
                    <a:pt x="4896481" y="73025"/>
                    <a:pt x="4898386" y="75565"/>
                    <a:pt x="4899656" y="78105"/>
                  </a:cubicBezTo>
                  <a:cubicBezTo>
                    <a:pt x="4900926" y="80645"/>
                    <a:pt x="4901561" y="83820"/>
                    <a:pt x="4901561" y="87630"/>
                  </a:cubicBezTo>
                  <a:cubicBezTo>
                    <a:pt x="4901561" y="92075"/>
                    <a:pt x="4900926" y="95250"/>
                    <a:pt x="4899021" y="98425"/>
                  </a:cubicBezTo>
                  <a:cubicBezTo>
                    <a:pt x="4897116" y="101600"/>
                    <a:pt x="4895211" y="103505"/>
                    <a:pt x="4892671" y="105410"/>
                  </a:cubicBezTo>
                  <a:cubicBezTo>
                    <a:pt x="4890131" y="107315"/>
                    <a:pt x="4886956" y="108585"/>
                    <a:pt x="4883146" y="109220"/>
                  </a:cubicBezTo>
                  <a:cubicBezTo>
                    <a:pt x="4879336" y="109855"/>
                    <a:pt x="4876161" y="110490"/>
                    <a:pt x="4872351" y="110490"/>
                  </a:cubicBezTo>
                  <a:cubicBezTo>
                    <a:pt x="4867271" y="110490"/>
                    <a:pt x="4862191" y="109855"/>
                    <a:pt x="4857111" y="107950"/>
                  </a:cubicBezTo>
                  <a:cubicBezTo>
                    <a:pt x="4851396" y="106045"/>
                    <a:pt x="4846951" y="103505"/>
                    <a:pt x="4842506" y="100965"/>
                  </a:cubicBezTo>
                  <a:lnTo>
                    <a:pt x="4849491" y="89535"/>
                  </a:lnTo>
                  <a:cubicBezTo>
                    <a:pt x="4853301" y="92075"/>
                    <a:pt x="4857111" y="93980"/>
                    <a:pt x="4860921" y="95250"/>
                  </a:cubicBezTo>
                  <a:cubicBezTo>
                    <a:pt x="4864731" y="96520"/>
                    <a:pt x="4868541" y="97155"/>
                    <a:pt x="4872351" y="97155"/>
                  </a:cubicBezTo>
                  <a:cubicBezTo>
                    <a:pt x="4877431" y="97155"/>
                    <a:pt x="4880606" y="96520"/>
                    <a:pt x="4883146" y="94615"/>
                  </a:cubicBezTo>
                  <a:cubicBezTo>
                    <a:pt x="4885686" y="93345"/>
                    <a:pt x="4886321" y="90805"/>
                    <a:pt x="4886321" y="88265"/>
                  </a:cubicBezTo>
                  <a:cubicBezTo>
                    <a:pt x="4886321" y="86995"/>
                    <a:pt x="4886321" y="85725"/>
                    <a:pt x="4885051" y="84455"/>
                  </a:cubicBezTo>
                  <a:cubicBezTo>
                    <a:pt x="4884416" y="83185"/>
                    <a:pt x="4883146" y="82550"/>
                    <a:pt x="4881241" y="81280"/>
                  </a:cubicBezTo>
                  <a:cubicBezTo>
                    <a:pt x="4879971" y="80010"/>
                    <a:pt x="4878066" y="79375"/>
                    <a:pt x="4875526" y="78105"/>
                  </a:cubicBezTo>
                  <a:cubicBezTo>
                    <a:pt x="4872986" y="77470"/>
                    <a:pt x="4871081" y="76200"/>
                    <a:pt x="4867906" y="74930"/>
                  </a:cubicBezTo>
                  <a:cubicBezTo>
                    <a:pt x="4863461" y="73025"/>
                    <a:pt x="4860286" y="71755"/>
                    <a:pt x="4857111" y="69850"/>
                  </a:cubicBezTo>
                  <a:cubicBezTo>
                    <a:pt x="4853936" y="67945"/>
                    <a:pt x="4852031" y="66675"/>
                    <a:pt x="4850126" y="64770"/>
                  </a:cubicBezTo>
                  <a:cubicBezTo>
                    <a:pt x="4848221" y="62865"/>
                    <a:pt x="4846951" y="60960"/>
                    <a:pt x="4846316" y="58420"/>
                  </a:cubicBezTo>
                  <a:cubicBezTo>
                    <a:pt x="4845681" y="55880"/>
                    <a:pt x="4845046" y="53340"/>
                    <a:pt x="4845046" y="50165"/>
                  </a:cubicBezTo>
                  <a:cubicBezTo>
                    <a:pt x="4845046" y="46990"/>
                    <a:pt x="4845681" y="43815"/>
                    <a:pt x="4846951" y="40640"/>
                  </a:cubicBezTo>
                  <a:cubicBezTo>
                    <a:pt x="4848221" y="38100"/>
                    <a:pt x="4850126" y="35560"/>
                    <a:pt x="4852666" y="34290"/>
                  </a:cubicBezTo>
                  <a:cubicBezTo>
                    <a:pt x="4855206" y="32385"/>
                    <a:pt x="4857746" y="31115"/>
                    <a:pt x="4860921" y="30480"/>
                  </a:cubicBezTo>
                  <a:cubicBezTo>
                    <a:pt x="4864096" y="29845"/>
                    <a:pt x="4867906" y="29210"/>
                    <a:pt x="4871716" y="29210"/>
                  </a:cubicBezTo>
                  <a:close/>
                  <a:moveTo>
                    <a:pt x="4749796" y="29210"/>
                  </a:moveTo>
                  <a:cubicBezTo>
                    <a:pt x="4752971" y="29210"/>
                    <a:pt x="4755511" y="29210"/>
                    <a:pt x="4757416" y="29845"/>
                  </a:cubicBezTo>
                  <a:cubicBezTo>
                    <a:pt x="4759321" y="30480"/>
                    <a:pt x="4761226" y="31115"/>
                    <a:pt x="4763131" y="32385"/>
                  </a:cubicBezTo>
                  <a:lnTo>
                    <a:pt x="4759321" y="46990"/>
                  </a:lnTo>
                  <a:lnTo>
                    <a:pt x="4758051" y="46990"/>
                  </a:lnTo>
                  <a:cubicBezTo>
                    <a:pt x="4758051" y="46990"/>
                    <a:pt x="4754876" y="45085"/>
                    <a:pt x="4752971" y="45085"/>
                  </a:cubicBezTo>
                  <a:cubicBezTo>
                    <a:pt x="4751066" y="45085"/>
                    <a:pt x="4749161" y="44450"/>
                    <a:pt x="4746621" y="44450"/>
                  </a:cubicBezTo>
                  <a:cubicBezTo>
                    <a:pt x="4741541" y="44450"/>
                    <a:pt x="4737731" y="46355"/>
                    <a:pt x="4735191" y="49530"/>
                  </a:cubicBezTo>
                  <a:cubicBezTo>
                    <a:pt x="4732651" y="52705"/>
                    <a:pt x="4731381" y="57785"/>
                    <a:pt x="4731381" y="64770"/>
                  </a:cubicBezTo>
                  <a:lnTo>
                    <a:pt x="4731381" y="109220"/>
                  </a:lnTo>
                  <a:lnTo>
                    <a:pt x="4716141" y="109220"/>
                  </a:lnTo>
                  <a:lnTo>
                    <a:pt x="4716141" y="31115"/>
                  </a:lnTo>
                  <a:lnTo>
                    <a:pt x="4731381" y="31115"/>
                  </a:lnTo>
                  <a:lnTo>
                    <a:pt x="4731381" y="38735"/>
                  </a:lnTo>
                  <a:cubicBezTo>
                    <a:pt x="4731381" y="38735"/>
                    <a:pt x="4733286" y="36195"/>
                    <a:pt x="4734556" y="34925"/>
                  </a:cubicBezTo>
                  <a:cubicBezTo>
                    <a:pt x="4735826" y="33655"/>
                    <a:pt x="4737096" y="33020"/>
                    <a:pt x="4739001" y="31750"/>
                  </a:cubicBezTo>
                  <a:cubicBezTo>
                    <a:pt x="4740271" y="31115"/>
                    <a:pt x="4742176" y="30480"/>
                    <a:pt x="4744081" y="29845"/>
                  </a:cubicBezTo>
                  <a:cubicBezTo>
                    <a:pt x="4745986" y="29845"/>
                    <a:pt x="4747891" y="29210"/>
                    <a:pt x="4749796" y="29210"/>
                  </a:cubicBezTo>
                  <a:close/>
                  <a:moveTo>
                    <a:pt x="4349110" y="29210"/>
                  </a:moveTo>
                  <a:cubicBezTo>
                    <a:pt x="4352285" y="29210"/>
                    <a:pt x="4354825" y="29210"/>
                    <a:pt x="4356730" y="29845"/>
                  </a:cubicBezTo>
                  <a:cubicBezTo>
                    <a:pt x="4358635" y="29845"/>
                    <a:pt x="4360540" y="31115"/>
                    <a:pt x="4362445" y="32385"/>
                  </a:cubicBezTo>
                  <a:lnTo>
                    <a:pt x="4358635" y="46990"/>
                  </a:lnTo>
                  <a:lnTo>
                    <a:pt x="4357365" y="46990"/>
                  </a:lnTo>
                  <a:cubicBezTo>
                    <a:pt x="4357365" y="46990"/>
                    <a:pt x="4354190" y="45085"/>
                    <a:pt x="4352285" y="45085"/>
                  </a:cubicBezTo>
                  <a:cubicBezTo>
                    <a:pt x="4350380" y="45085"/>
                    <a:pt x="4348475" y="44450"/>
                    <a:pt x="4345935" y="44450"/>
                  </a:cubicBezTo>
                  <a:cubicBezTo>
                    <a:pt x="4340855" y="44450"/>
                    <a:pt x="4337045" y="46355"/>
                    <a:pt x="4334505" y="49530"/>
                  </a:cubicBezTo>
                  <a:cubicBezTo>
                    <a:pt x="4331965" y="52705"/>
                    <a:pt x="4330695" y="57785"/>
                    <a:pt x="4330695" y="64770"/>
                  </a:cubicBezTo>
                  <a:lnTo>
                    <a:pt x="4330695" y="109220"/>
                  </a:lnTo>
                  <a:lnTo>
                    <a:pt x="4315455" y="109220"/>
                  </a:lnTo>
                  <a:lnTo>
                    <a:pt x="4315455" y="31115"/>
                  </a:lnTo>
                  <a:lnTo>
                    <a:pt x="4330695" y="31115"/>
                  </a:lnTo>
                  <a:lnTo>
                    <a:pt x="4330695" y="38735"/>
                  </a:lnTo>
                  <a:cubicBezTo>
                    <a:pt x="4330695" y="38735"/>
                    <a:pt x="4332600" y="36195"/>
                    <a:pt x="4333870" y="34925"/>
                  </a:cubicBezTo>
                  <a:cubicBezTo>
                    <a:pt x="4335140" y="33655"/>
                    <a:pt x="4336410" y="33020"/>
                    <a:pt x="4338315" y="31750"/>
                  </a:cubicBezTo>
                  <a:cubicBezTo>
                    <a:pt x="4339585" y="31115"/>
                    <a:pt x="4341490" y="30480"/>
                    <a:pt x="4343395" y="29845"/>
                  </a:cubicBezTo>
                  <a:cubicBezTo>
                    <a:pt x="4345300" y="29845"/>
                    <a:pt x="4347205" y="29210"/>
                    <a:pt x="4349110" y="29210"/>
                  </a:cubicBezTo>
                  <a:close/>
                  <a:moveTo>
                    <a:pt x="4044310" y="29210"/>
                  </a:moveTo>
                  <a:cubicBezTo>
                    <a:pt x="4050025" y="29210"/>
                    <a:pt x="4054470" y="30480"/>
                    <a:pt x="4058915" y="32385"/>
                  </a:cubicBezTo>
                  <a:cubicBezTo>
                    <a:pt x="4062725" y="34290"/>
                    <a:pt x="4066535" y="37465"/>
                    <a:pt x="4069075" y="40640"/>
                  </a:cubicBezTo>
                  <a:cubicBezTo>
                    <a:pt x="4071615" y="44450"/>
                    <a:pt x="4073520" y="48260"/>
                    <a:pt x="4075425" y="53340"/>
                  </a:cubicBezTo>
                  <a:cubicBezTo>
                    <a:pt x="4076695" y="57785"/>
                    <a:pt x="4077330" y="62865"/>
                    <a:pt x="4077330" y="68580"/>
                  </a:cubicBezTo>
                  <a:lnTo>
                    <a:pt x="4076060" y="68580"/>
                  </a:lnTo>
                  <a:cubicBezTo>
                    <a:pt x="4076060" y="68580"/>
                    <a:pt x="4076060" y="71120"/>
                    <a:pt x="4076060" y="72390"/>
                  </a:cubicBezTo>
                  <a:cubicBezTo>
                    <a:pt x="4076060" y="73660"/>
                    <a:pt x="4076060" y="74295"/>
                    <a:pt x="4076060" y="75565"/>
                  </a:cubicBezTo>
                  <a:lnTo>
                    <a:pt x="4024625" y="75565"/>
                  </a:lnTo>
                  <a:cubicBezTo>
                    <a:pt x="4024625" y="79375"/>
                    <a:pt x="4025895" y="82550"/>
                    <a:pt x="4027165" y="85090"/>
                  </a:cubicBezTo>
                  <a:cubicBezTo>
                    <a:pt x="4028435" y="87630"/>
                    <a:pt x="4029705" y="90170"/>
                    <a:pt x="4031610" y="91440"/>
                  </a:cubicBezTo>
                  <a:cubicBezTo>
                    <a:pt x="4033515" y="93345"/>
                    <a:pt x="4035420" y="94615"/>
                    <a:pt x="4037325" y="95250"/>
                  </a:cubicBezTo>
                  <a:cubicBezTo>
                    <a:pt x="4039230" y="95885"/>
                    <a:pt x="4041770" y="96520"/>
                    <a:pt x="4044310" y="96520"/>
                  </a:cubicBezTo>
                  <a:cubicBezTo>
                    <a:pt x="4046215" y="96520"/>
                    <a:pt x="4047485" y="96520"/>
                    <a:pt x="4049390" y="96520"/>
                  </a:cubicBezTo>
                  <a:cubicBezTo>
                    <a:pt x="4050660" y="96520"/>
                    <a:pt x="4052565" y="95885"/>
                    <a:pt x="4053835" y="95250"/>
                  </a:cubicBezTo>
                  <a:cubicBezTo>
                    <a:pt x="4055105" y="95250"/>
                    <a:pt x="4056375" y="93980"/>
                    <a:pt x="4057645" y="93345"/>
                  </a:cubicBezTo>
                  <a:cubicBezTo>
                    <a:pt x="4058915" y="93345"/>
                    <a:pt x="4060185" y="92075"/>
                    <a:pt x="4062090" y="90805"/>
                  </a:cubicBezTo>
                  <a:lnTo>
                    <a:pt x="4070980" y="100330"/>
                  </a:lnTo>
                  <a:cubicBezTo>
                    <a:pt x="4070980" y="100330"/>
                    <a:pt x="4067170" y="103505"/>
                    <a:pt x="4065265" y="104775"/>
                  </a:cubicBezTo>
                  <a:cubicBezTo>
                    <a:pt x="4063360" y="106045"/>
                    <a:pt x="4061455" y="106680"/>
                    <a:pt x="4059550" y="107950"/>
                  </a:cubicBezTo>
                  <a:cubicBezTo>
                    <a:pt x="4057645" y="108585"/>
                    <a:pt x="4055105" y="109855"/>
                    <a:pt x="4052565" y="109855"/>
                  </a:cubicBezTo>
                  <a:cubicBezTo>
                    <a:pt x="4050025" y="109855"/>
                    <a:pt x="4046850" y="110490"/>
                    <a:pt x="4043675" y="110490"/>
                  </a:cubicBezTo>
                  <a:cubicBezTo>
                    <a:pt x="4040500" y="110490"/>
                    <a:pt x="4037325" y="110490"/>
                    <a:pt x="4034150" y="109220"/>
                  </a:cubicBezTo>
                  <a:cubicBezTo>
                    <a:pt x="4030975" y="108585"/>
                    <a:pt x="4028435" y="107315"/>
                    <a:pt x="4026530" y="105410"/>
                  </a:cubicBezTo>
                  <a:cubicBezTo>
                    <a:pt x="4023990" y="104140"/>
                    <a:pt x="4022085" y="102235"/>
                    <a:pt x="4020180" y="100330"/>
                  </a:cubicBezTo>
                  <a:cubicBezTo>
                    <a:pt x="4018275" y="98425"/>
                    <a:pt x="4016370" y="95885"/>
                    <a:pt x="4015100" y="92710"/>
                  </a:cubicBezTo>
                  <a:cubicBezTo>
                    <a:pt x="4013195" y="89535"/>
                    <a:pt x="4011925" y="86360"/>
                    <a:pt x="4011290" y="82550"/>
                  </a:cubicBezTo>
                  <a:cubicBezTo>
                    <a:pt x="4010655" y="78740"/>
                    <a:pt x="4010020" y="74295"/>
                    <a:pt x="4010020" y="69850"/>
                  </a:cubicBezTo>
                  <a:cubicBezTo>
                    <a:pt x="4010020" y="63500"/>
                    <a:pt x="4010655" y="57150"/>
                    <a:pt x="4012560" y="52070"/>
                  </a:cubicBezTo>
                  <a:cubicBezTo>
                    <a:pt x="4014465" y="46990"/>
                    <a:pt x="4016370" y="42545"/>
                    <a:pt x="4019545" y="39370"/>
                  </a:cubicBezTo>
                  <a:cubicBezTo>
                    <a:pt x="4022720" y="36195"/>
                    <a:pt x="4025895" y="33020"/>
                    <a:pt x="4030340" y="31750"/>
                  </a:cubicBezTo>
                  <a:cubicBezTo>
                    <a:pt x="4034785" y="29845"/>
                    <a:pt x="4039230" y="29210"/>
                    <a:pt x="4044310" y="29210"/>
                  </a:cubicBezTo>
                  <a:close/>
                  <a:moveTo>
                    <a:pt x="3811900" y="29210"/>
                  </a:moveTo>
                  <a:cubicBezTo>
                    <a:pt x="3815075" y="29210"/>
                    <a:pt x="3817615" y="29210"/>
                    <a:pt x="3819520" y="29845"/>
                  </a:cubicBezTo>
                  <a:cubicBezTo>
                    <a:pt x="3821425" y="29845"/>
                    <a:pt x="3823330" y="31115"/>
                    <a:pt x="3825235" y="32385"/>
                  </a:cubicBezTo>
                  <a:lnTo>
                    <a:pt x="3821425" y="46990"/>
                  </a:lnTo>
                  <a:lnTo>
                    <a:pt x="3820155" y="46990"/>
                  </a:lnTo>
                  <a:cubicBezTo>
                    <a:pt x="3820155" y="46990"/>
                    <a:pt x="3816980" y="45085"/>
                    <a:pt x="3815075" y="45085"/>
                  </a:cubicBezTo>
                  <a:cubicBezTo>
                    <a:pt x="3813170" y="45085"/>
                    <a:pt x="3811265" y="44450"/>
                    <a:pt x="3808725" y="44450"/>
                  </a:cubicBezTo>
                  <a:cubicBezTo>
                    <a:pt x="3803645" y="44450"/>
                    <a:pt x="3799835" y="46355"/>
                    <a:pt x="3797295" y="49530"/>
                  </a:cubicBezTo>
                  <a:cubicBezTo>
                    <a:pt x="3794755" y="52705"/>
                    <a:pt x="3793485" y="57785"/>
                    <a:pt x="3793485" y="64770"/>
                  </a:cubicBezTo>
                  <a:lnTo>
                    <a:pt x="3793485" y="109220"/>
                  </a:lnTo>
                  <a:lnTo>
                    <a:pt x="3778245" y="109220"/>
                  </a:lnTo>
                  <a:lnTo>
                    <a:pt x="3778245" y="31115"/>
                  </a:lnTo>
                  <a:lnTo>
                    <a:pt x="3793485" y="31115"/>
                  </a:lnTo>
                  <a:lnTo>
                    <a:pt x="3793485" y="38735"/>
                  </a:lnTo>
                  <a:cubicBezTo>
                    <a:pt x="3793485" y="38735"/>
                    <a:pt x="3795390" y="36195"/>
                    <a:pt x="3796660" y="34925"/>
                  </a:cubicBezTo>
                  <a:cubicBezTo>
                    <a:pt x="3797930" y="33655"/>
                    <a:pt x="3799200" y="33020"/>
                    <a:pt x="3801105" y="31750"/>
                  </a:cubicBezTo>
                  <a:cubicBezTo>
                    <a:pt x="3802375" y="31115"/>
                    <a:pt x="3804280" y="30480"/>
                    <a:pt x="3806185" y="29845"/>
                  </a:cubicBezTo>
                  <a:cubicBezTo>
                    <a:pt x="3808090" y="29845"/>
                    <a:pt x="3809995" y="29210"/>
                    <a:pt x="3811900" y="29210"/>
                  </a:cubicBezTo>
                  <a:close/>
                  <a:moveTo>
                    <a:pt x="3729986" y="29210"/>
                  </a:moveTo>
                  <a:cubicBezTo>
                    <a:pt x="3735701" y="29210"/>
                    <a:pt x="3740146" y="30480"/>
                    <a:pt x="3744591" y="32385"/>
                  </a:cubicBezTo>
                  <a:cubicBezTo>
                    <a:pt x="3748401" y="34290"/>
                    <a:pt x="3752211" y="37465"/>
                    <a:pt x="3754751" y="40640"/>
                  </a:cubicBezTo>
                  <a:cubicBezTo>
                    <a:pt x="3757291" y="44450"/>
                    <a:pt x="3759196" y="48260"/>
                    <a:pt x="3761101" y="53340"/>
                  </a:cubicBezTo>
                  <a:cubicBezTo>
                    <a:pt x="3762371" y="57785"/>
                    <a:pt x="3763006" y="62865"/>
                    <a:pt x="3763006" y="68580"/>
                  </a:cubicBezTo>
                  <a:lnTo>
                    <a:pt x="3761736" y="68580"/>
                  </a:lnTo>
                  <a:cubicBezTo>
                    <a:pt x="3761736" y="68580"/>
                    <a:pt x="3761736" y="71120"/>
                    <a:pt x="3761736" y="72390"/>
                  </a:cubicBezTo>
                  <a:cubicBezTo>
                    <a:pt x="3761736" y="73660"/>
                    <a:pt x="3761736" y="74295"/>
                    <a:pt x="3761736" y="75565"/>
                  </a:cubicBezTo>
                  <a:lnTo>
                    <a:pt x="3710301" y="75565"/>
                  </a:lnTo>
                  <a:cubicBezTo>
                    <a:pt x="3710301" y="79375"/>
                    <a:pt x="3711571" y="82550"/>
                    <a:pt x="3712841" y="85090"/>
                  </a:cubicBezTo>
                  <a:cubicBezTo>
                    <a:pt x="3714111" y="87630"/>
                    <a:pt x="3715381" y="90170"/>
                    <a:pt x="3717286" y="91440"/>
                  </a:cubicBezTo>
                  <a:cubicBezTo>
                    <a:pt x="3719191" y="93345"/>
                    <a:pt x="3721096" y="94615"/>
                    <a:pt x="3723001" y="95250"/>
                  </a:cubicBezTo>
                  <a:cubicBezTo>
                    <a:pt x="3724906" y="95885"/>
                    <a:pt x="3727446" y="96520"/>
                    <a:pt x="3729986" y="96520"/>
                  </a:cubicBezTo>
                  <a:cubicBezTo>
                    <a:pt x="3731891" y="96520"/>
                    <a:pt x="3733161" y="96520"/>
                    <a:pt x="3735066" y="96520"/>
                  </a:cubicBezTo>
                  <a:cubicBezTo>
                    <a:pt x="3736336" y="96520"/>
                    <a:pt x="3738241" y="95885"/>
                    <a:pt x="3739511" y="95250"/>
                  </a:cubicBezTo>
                  <a:cubicBezTo>
                    <a:pt x="3740781" y="95250"/>
                    <a:pt x="3742051" y="93980"/>
                    <a:pt x="3743321" y="93345"/>
                  </a:cubicBezTo>
                  <a:cubicBezTo>
                    <a:pt x="3744591" y="93345"/>
                    <a:pt x="3745861" y="92075"/>
                    <a:pt x="3747766" y="90805"/>
                  </a:cubicBezTo>
                  <a:lnTo>
                    <a:pt x="3756656" y="100330"/>
                  </a:lnTo>
                  <a:cubicBezTo>
                    <a:pt x="3756656" y="100330"/>
                    <a:pt x="3752846" y="103505"/>
                    <a:pt x="3750941" y="104775"/>
                  </a:cubicBezTo>
                  <a:cubicBezTo>
                    <a:pt x="3749036" y="106045"/>
                    <a:pt x="3747131" y="106680"/>
                    <a:pt x="3745226" y="107950"/>
                  </a:cubicBezTo>
                  <a:cubicBezTo>
                    <a:pt x="3743321" y="108585"/>
                    <a:pt x="3740781" y="109855"/>
                    <a:pt x="3738241" y="109855"/>
                  </a:cubicBezTo>
                  <a:cubicBezTo>
                    <a:pt x="3735701" y="109855"/>
                    <a:pt x="3732526" y="110490"/>
                    <a:pt x="3729351" y="110490"/>
                  </a:cubicBezTo>
                  <a:cubicBezTo>
                    <a:pt x="3726176" y="110490"/>
                    <a:pt x="3723001" y="110490"/>
                    <a:pt x="3719826" y="109220"/>
                  </a:cubicBezTo>
                  <a:cubicBezTo>
                    <a:pt x="3716651" y="108585"/>
                    <a:pt x="3714111" y="107315"/>
                    <a:pt x="3712206" y="105410"/>
                  </a:cubicBezTo>
                  <a:cubicBezTo>
                    <a:pt x="3709666" y="104140"/>
                    <a:pt x="3707761" y="102235"/>
                    <a:pt x="3705856" y="100330"/>
                  </a:cubicBezTo>
                  <a:cubicBezTo>
                    <a:pt x="3703951" y="98425"/>
                    <a:pt x="3702046" y="95885"/>
                    <a:pt x="3700776" y="92710"/>
                  </a:cubicBezTo>
                  <a:cubicBezTo>
                    <a:pt x="3698871" y="89535"/>
                    <a:pt x="3697601" y="86360"/>
                    <a:pt x="3696966" y="82550"/>
                  </a:cubicBezTo>
                  <a:cubicBezTo>
                    <a:pt x="3696331" y="78740"/>
                    <a:pt x="3695696" y="74295"/>
                    <a:pt x="3695696" y="69850"/>
                  </a:cubicBezTo>
                  <a:cubicBezTo>
                    <a:pt x="3695696" y="63500"/>
                    <a:pt x="3696331" y="57150"/>
                    <a:pt x="3698236" y="52070"/>
                  </a:cubicBezTo>
                  <a:cubicBezTo>
                    <a:pt x="3700141" y="46990"/>
                    <a:pt x="3702046" y="42545"/>
                    <a:pt x="3705221" y="39370"/>
                  </a:cubicBezTo>
                  <a:cubicBezTo>
                    <a:pt x="3708396" y="36195"/>
                    <a:pt x="3711571" y="33020"/>
                    <a:pt x="3716016" y="31750"/>
                  </a:cubicBezTo>
                  <a:cubicBezTo>
                    <a:pt x="3720461" y="29845"/>
                    <a:pt x="3724906" y="29210"/>
                    <a:pt x="3729986" y="29210"/>
                  </a:cubicBezTo>
                  <a:close/>
                  <a:moveTo>
                    <a:pt x="3543296" y="29210"/>
                  </a:moveTo>
                  <a:cubicBezTo>
                    <a:pt x="3549011" y="29210"/>
                    <a:pt x="3553456" y="30480"/>
                    <a:pt x="3557901" y="32385"/>
                  </a:cubicBezTo>
                  <a:cubicBezTo>
                    <a:pt x="3561711" y="34290"/>
                    <a:pt x="3565521" y="37465"/>
                    <a:pt x="3568061" y="40640"/>
                  </a:cubicBezTo>
                  <a:cubicBezTo>
                    <a:pt x="3570601" y="44450"/>
                    <a:pt x="3572506" y="48260"/>
                    <a:pt x="3574411" y="53340"/>
                  </a:cubicBezTo>
                  <a:cubicBezTo>
                    <a:pt x="3575681" y="57785"/>
                    <a:pt x="3576316" y="62865"/>
                    <a:pt x="3576316" y="68580"/>
                  </a:cubicBezTo>
                  <a:lnTo>
                    <a:pt x="3575046" y="68580"/>
                  </a:lnTo>
                  <a:cubicBezTo>
                    <a:pt x="3575046" y="68580"/>
                    <a:pt x="3575046" y="71120"/>
                    <a:pt x="3575046" y="72390"/>
                  </a:cubicBezTo>
                  <a:cubicBezTo>
                    <a:pt x="3575046" y="73660"/>
                    <a:pt x="3575046" y="74295"/>
                    <a:pt x="3575046" y="75565"/>
                  </a:cubicBezTo>
                  <a:lnTo>
                    <a:pt x="3523611" y="75565"/>
                  </a:lnTo>
                  <a:cubicBezTo>
                    <a:pt x="3523611" y="79375"/>
                    <a:pt x="3524881" y="82550"/>
                    <a:pt x="3526151" y="85090"/>
                  </a:cubicBezTo>
                  <a:cubicBezTo>
                    <a:pt x="3527421" y="87630"/>
                    <a:pt x="3528691" y="90170"/>
                    <a:pt x="3530596" y="91440"/>
                  </a:cubicBezTo>
                  <a:cubicBezTo>
                    <a:pt x="3532501" y="93345"/>
                    <a:pt x="3534406" y="94615"/>
                    <a:pt x="3536311" y="95250"/>
                  </a:cubicBezTo>
                  <a:cubicBezTo>
                    <a:pt x="3538216" y="95885"/>
                    <a:pt x="3540756" y="96520"/>
                    <a:pt x="3543296" y="96520"/>
                  </a:cubicBezTo>
                  <a:cubicBezTo>
                    <a:pt x="3545201" y="96520"/>
                    <a:pt x="3546471" y="96520"/>
                    <a:pt x="3548376" y="96520"/>
                  </a:cubicBezTo>
                  <a:cubicBezTo>
                    <a:pt x="3549646" y="96520"/>
                    <a:pt x="3551551" y="95885"/>
                    <a:pt x="3552821" y="95250"/>
                  </a:cubicBezTo>
                  <a:cubicBezTo>
                    <a:pt x="3554091" y="95250"/>
                    <a:pt x="3555361" y="93980"/>
                    <a:pt x="3556631" y="93345"/>
                  </a:cubicBezTo>
                  <a:cubicBezTo>
                    <a:pt x="3557901" y="93345"/>
                    <a:pt x="3559171" y="92075"/>
                    <a:pt x="3561076" y="90805"/>
                  </a:cubicBezTo>
                  <a:lnTo>
                    <a:pt x="3569966" y="100330"/>
                  </a:lnTo>
                  <a:cubicBezTo>
                    <a:pt x="3569966" y="100330"/>
                    <a:pt x="3566156" y="103505"/>
                    <a:pt x="3564251" y="104775"/>
                  </a:cubicBezTo>
                  <a:cubicBezTo>
                    <a:pt x="3562346" y="106045"/>
                    <a:pt x="3560441" y="106680"/>
                    <a:pt x="3558536" y="107950"/>
                  </a:cubicBezTo>
                  <a:cubicBezTo>
                    <a:pt x="3556631" y="108585"/>
                    <a:pt x="3554091" y="109855"/>
                    <a:pt x="3551551" y="109855"/>
                  </a:cubicBezTo>
                  <a:cubicBezTo>
                    <a:pt x="3549011" y="109855"/>
                    <a:pt x="3545836" y="110490"/>
                    <a:pt x="3542661" y="110490"/>
                  </a:cubicBezTo>
                  <a:cubicBezTo>
                    <a:pt x="3539486" y="110490"/>
                    <a:pt x="3536311" y="110490"/>
                    <a:pt x="3533136" y="109220"/>
                  </a:cubicBezTo>
                  <a:cubicBezTo>
                    <a:pt x="3529961" y="108585"/>
                    <a:pt x="3527421" y="107315"/>
                    <a:pt x="3525516" y="105410"/>
                  </a:cubicBezTo>
                  <a:cubicBezTo>
                    <a:pt x="3522976" y="104140"/>
                    <a:pt x="3521071" y="102235"/>
                    <a:pt x="3519166" y="100330"/>
                  </a:cubicBezTo>
                  <a:cubicBezTo>
                    <a:pt x="3517261" y="98425"/>
                    <a:pt x="3515356" y="95885"/>
                    <a:pt x="3514086" y="92710"/>
                  </a:cubicBezTo>
                  <a:cubicBezTo>
                    <a:pt x="3512181" y="89535"/>
                    <a:pt x="3510911" y="86360"/>
                    <a:pt x="3510276" y="82550"/>
                  </a:cubicBezTo>
                  <a:cubicBezTo>
                    <a:pt x="3509641" y="78740"/>
                    <a:pt x="3509006" y="74295"/>
                    <a:pt x="3509006" y="69850"/>
                  </a:cubicBezTo>
                  <a:cubicBezTo>
                    <a:pt x="3509006" y="63500"/>
                    <a:pt x="3509641" y="57150"/>
                    <a:pt x="3511546" y="52070"/>
                  </a:cubicBezTo>
                  <a:cubicBezTo>
                    <a:pt x="3513451" y="46990"/>
                    <a:pt x="3515356" y="42545"/>
                    <a:pt x="3518531" y="39370"/>
                  </a:cubicBezTo>
                  <a:cubicBezTo>
                    <a:pt x="3521706" y="36195"/>
                    <a:pt x="3524881" y="33020"/>
                    <a:pt x="3529326" y="31750"/>
                  </a:cubicBezTo>
                  <a:cubicBezTo>
                    <a:pt x="3533771" y="29845"/>
                    <a:pt x="3538216" y="29210"/>
                    <a:pt x="3543296" y="29210"/>
                  </a:cubicBezTo>
                  <a:close/>
                  <a:moveTo>
                    <a:pt x="3345176" y="29210"/>
                  </a:moveTo>
                  <a:cubicBezTo>
                    <a:pt x="3350891" y="29210"/>
                    <a:pt x="3355336" y="30480"/>
                    <a:pt x="3359781" y="32385"/>
                  </a:cubicBezTo>
                  <a:cubicBezTo>
                    <a:pt x="3363591" y="34290"/>
                    <a:pt x="3367401" y="37465"/>
                    <a:pt x="3369941" y="40640"/>
                  </a:cubicBezTo>
                  <a:cubicBezTo>
                    <a:pt x="3372481" y="44450"/>
                    <a:pt x="3374386" y="48260"/>
                    <a:pt x="3376291" y="53340"/>
                  </a:cubicBezTo>
                  <a:cubicBezTo>
                    <a:pt x="3377561" y="57785"/>
                    <a:pt x="3378196" y="62865"/>
                    <a:pt x="3378196" y="68580"/>
                  </a:cubicBezTo>
                  <a:lnTo>
                    <a:pt x="3376926" y="68580"/>
                  </a:lnTo>
                  <a:cubicBezTo>
                    <a:pt x="3376926" y="68580"/>
                    <a:pt x="3376926" y="71120"/>
                    <a:pt x="3376926" y="72390"/>
                  </a:cubicBezTo>
                  <a:cubicBezTo>
                    <a:pt x="3376926" y="73660"/>
                    <a:pt x="3376926" y="74295"/>
                    <a:pt x="3376926" y="75565"/>
                  </a:cubicBezTo>
                  <a:lnTo>
                    <a:pt x="3325491" y="75565"/>
                  </a:lnTo>
                  <a:cubicBezTo>
                    <a:pt x="3325491" y="79375"/>
                    <a:pt x="3326761" y="82550"/>
                    <a:pt x="3328031" y="85090"/>
                  </a:cubicBezTo>
                  <a:cubicBezTo>
                    <a:pt x="3329301" y="87630"/>
                    <a:pt x="3330571" y="90170"/>
                    <a:pt x="3332476" y="91440"/>
                  </a:cubicBezTo>
                  <a:cubicBezTo>
                    <a:pt x="3334381" y="93345"/>
                    <a:pt x="3336286" y="94615"/>
                    <a:pt x="3338191" y="95250"/>
                  </a:cubicBezTo>
                  <a:cubicBezTo>
                    <a:pt x="3340096" y="95885"/>
                    <a:pt x="3342636" y="96520"/>
                    <a:pt x="3345176" y="96520"/>
                  </a:cubicBezTo>
                  <a:cubicBezTo>
                    <a:pt x="3347081" y="96520"/>
                    <a:pt x="3348351" y="96520"/>
                    <a:pt x="3350256" y="96520"/>
                  </a:cubicBezTo>
                  <a:cubicBezTo>
                    <a:pt x="3351526" y="96520"/>
                    <a:pt x="3353431" y="95885"/>
                    <a:pt x="3354701" y="95250"/>
                  </a:cubicBezTo>
                  <a:cubicBezTo>
                    <a:pt x="3355971" y="95250"/>
                    <a:pt x="3357241" y="93980"/>
                    <a:pt x="3358511" y="93345"/>
                  </a:cubicBezTo>
                  <a:cubicBezTo>
                    <a:pt x="3359781" y="93345"/>
                    <a:pt x="3361051" y="92075"/>
                    <a:pt x="3362956" y="90805"/>
                  </a:cubicBezTo>
                  <a:lnTo>
                    <a:pt x="3371846" y="100330"/>
                  </a:lnTo>
                  <a:cubicBezTo>
                    <a:pt x="3371846" y="100330"/>
                    <a:pt x="3368036" y="103505"/>
                    <a:pt x="3366131" y="104775"/>
                  </a:cubicBezTo>
                  <a:cubicBezTo>
                    <a:pt x="3364226" y="106045"/>
                    <a:pt x="3362321" y="106680"/>
                    <a:pt x="3360416" y="107950"/>
                  </a:cubicBezTo>
                  <a:cubicBezTo>
                    <a:pt x="3358511" y="108585"/>
                    <a:pt x="3355971" y="109855"/>
                    <a:pt x="3353431" y="109855"/>
                  </a:cubicBezTo>
                  <a:cubicBezTo>
                    <a:pt x="3350891" y="109855"/>
                    <a:pt x="3347716" y="110490"/>
                    <a:pt x="3344541" y="110490"/>
                  </a:cubicBezTo>
                  <a:cubicBezTo>
                    <a:pt x="3341366" y="110490"/>
                    <a:pt x="3338191" y="110490"/>
                    <a:pt x="3335016" y="109220"/>
                  </a:cubicBezTo>
                  <a:cubicBezTo>
                    <a:pt x="3331841" y="108585"/>
                    <a:pt x="3329301" y="107315"/>
                    <a:pt x="3327396" y="105410"/>
                  </a:cubicBezTo>
                  <a:cubicBezTo>
                    <a:pt x="3324856" y="104140"/>
                    <a:pt x="3322951" y="102235"/>
                    <a:pt x="3321046" y="100330"/>
                  </a:cubicBezTo>
                  <a:cubicBezTo>
                    <a:pt x="3319141" y="98425"/>
                    <a:pt x="3317236" y="95885"/>
                    <a:pt x="3315966" y="92710"/>
                  </a:cubicBezTo>
                  <a:cubicBezTo>
                    <a:pt x="3314061" y="89535"/>
                    <a:pt x="3312791" y="86360"/>
                    <a:pt x="3312156" y="82550"/>
                  </a:cubicBezTo>
                  <a:cubicBezTo>
                    <a:pt x="3311521" y="78740"/>
                    <a:pt x="3310886" y="74295"/>
                    <a:pt x="3310886" y="69850"/>
                  </a:cubicBezTo>
                  <a:cubicBezTo>
                    <a:pt x="3310886" y="63500"/>
                    <a:pt x="3311521" y="57150"/>
                    <a:pt x="3313426" y="52070"/>
                  </a:cubicBezTo>
                  <a:cubicBezTo>
                    <a:pt x="3315331" y="46990"/>
                    <a:pt x="3317236" y="42545"/>
                    <a:pt x="3320411" y="39370"/>
                  </a:cubicBezTo>
                  <a:cubicBezTo>
                    <a:pt x="3323586" y="36195"/>
                    <a:pt x="3326761" y="33020"/>
                    <a:pt x="3331206" y="31750"/>
                  </a:cubicBezTo>
                  <a:cubicBezTo>
                    <a:pt x="3335651" y="29845"/>
                    <a:pt x="3340096" y="29210"/>
                    <a:pt x="3345176" y="29210"/>
                  </a:cubicBezTo>
                  <a:close/>
                  <a:moveTo>
                    <a:pt x="3060696" y="29210"/>
                  </a:moveTo>
                  <a:cubicBezTo>
                    <a:pt x="3063871" y="29210"/>
                    <a:pt x="3066411" y="29210"/>
                    <a:pt x="3068316" y="29845"/>
                  </a:cubicBezTo>
                  <a:cubicBezTo>
                    <a:pt x="3070221" y="29845"/>
                    <a:pt x="3072126" y="31115"/>
                    <a:pt x="3074031" y="32385"/>
                  </a:cubicBezTo>
                  <a:lnTo>
                    <a:pt x="3070221" y="46990"/>
                  </a:lnTo>
                  <a:lnTo>
                    <a:pt x="3068951" y="46990"/>
                  </a:lnTo>
                  <a:cubicBezTo>
                    <a:pt x="3068951" y="46990"/>
                    <a:pt x="3065776" y="45085"/>
                    <a:pt x="3063871" y="45085"/>
                  </a:cubicBezTo>
                  <a:cubicBezTo>
                    <a:pt x="3061966" y="45085"/>
                    <a:pt x="3060061" y="44450"/>
                    <a:pt x="3057521" y="44450"/>
                  </a:cubicBezTo>
                  <a:cubicBezTo>
                    <a:pt x="3052441" y="44450"/>
                    <a:pt x="3048631" y="46355"/>
                    <a:pt x="3046091" y="49530"/>
                  </a:cubicBezTo>
                  <a:cubicBezTo>
                    <a:pt x="3043551" y="52705"/>
                    <a:pt x="3042281" y="57785"/>
                    <a:pt x="3042281" y="64770"/>
                  </a:cubicBezTo>
                  <a:lnTo>
                    <a:pt x="3042281" y="109220"/>
                  </a:lnTo>
                  <a:lnTo>
                    <a:pt x="3027041" y="109220"/>
                  </a:lnTo>
                  <a:lnTo>
                    <a:pt x="3027041" y="31115"/>
                  </a:lnTo>
                  <a:lnTo>
                    <a:pt x="3042281" y="31115"/>
                  </a:lnTo>
                  <a:lnTo>
                    <a:pt x="3042281" y="38735"/>
                  </a:lnTo>
                  <a:cubicBezTo>
                    <a:pt x="3042281" y="38735"/>
                    <a:pt x="3044186" y="36195"/>
                    <a:pt x="3045456" y="34925"/>
                  </a:cubicBezTo>
                  <a:cubicBezTo>
                    <a:pt x="3046726" y="33655"/>
                    <a:pt x="3047996" y="33020"/>
                    <a:pt x="3049901" y="31750"/>
                  </a:cubicBezTo>
                  <a:cubicBezTo>
                    <a:pt x="3051171" y="31115"/>
                    <a:pt x="3053076" y="30480"/>
                    <a:pt x="3054981" y="29845"/>
                  </a:cubicBezTo>
                  <a:cubicBezTo>
                    <a:pt x="3056886" y="29845"/>
                    <a:pt x="3058791" y="29210"/>
                    <a:pt x="3060696" y="29210"/>
                  </a:cubicBezTo>
                  <a:close/>
                  <a:moveTo>
                    <a:pt x="2978781" y="29210"/>
                  </a:moveTo>
                  <a:cubicBezTo>
                    <a:pt x="2984496" y="29210"/>
                    <a:pt x="2988941" y="30480"/>
                    <a:pt x="2993386" y="32385"/>
                  </a:cubicBezTo>
                  <a:cubicBezTo>
                    <a:pt x="2997196" y="34290"/>
                    <a:pt x="3001006" y="37465"/>
                    <a:pt x="3003546" y="40640"/>
                  </a:cubicBezTo>
                  <a:cubicBezTo>
                    <a:pt x="3006086" y="44450"/>
                    <a:pt x="3007991" y="48260"/>
                    <a:pt x="3009896" y="53340"/>
                  </a:cubicBezTo>
                  <a:cubicBezTo>
                    <a:pt x="3011166" y="57785"/>
                    <a:pt x="3011801" y="62865"/>
                    <a:pt x="3011801" y="68580"/>
                  </a:cubicBezTo>
                  <a:lnTo>
                    <a:pt x="3010531" y="68580"/>
                  </a:lnTo>
                  <a:cubicBezTo>
                    <a:pt x="3010531" y="68580"/>
                    <a:pt x="3010531" y="71120"/>
                    <a:pt x="3010531" y="72390"/>
                  </a:cubicBezTo>
                  <a:cubicBezTo>
                    <a:pt x="3010531" y="73660"/>
                    <a:pt x="3010531" y="74295"/>
                    <a:pt x="3010531" y="75565"/>
                  </a:cubicBezTo>
                  <a:lnTo>
                    <a:pt x="2959096" y="75565"/>
                  </a:lnTo>
                  <a:cubicBezTo>
                    <a:pt x="2959096" y="79375"/>
                    <a:pt x="2960366" y="82550"/>
                    <a:pt x="2961636" y="85090"/>
                  </a:cubicBezTo>
                  <a:cubicBezTo>
                    <a:pt x="2962906" y="87630"/>
                    <a:pt x="2964176" y="90170"/>
                    <a:pt x="2966081" y="91440"/>
                  </a:cubicBezTo>
                  <a:cubicBezTo>
                    <a:pt x="2967986" y="93345"/>
                    <a:pt x="2969891" y="94615"/>
                    <a:pt x="2971796" y="95250"/>
                  </a:cubicBezTo>
                  <a:cubicBezTo>
                    <a:pt x="2974336" y="95885"/>
                    <a:pt x="2976241" y="96520"/>
                    <a:pt x="2978781" y="96520"/>
                  </a:cubicBezTo>
                  <a:cubicBezTo>
                    <a:pt x="2980686" y="96520"/>
                    <a:pt x="2981956" y="96520"/>
                    <a:pt x="2983861" y="96520"/>
                  </a:cubicBezTo>
                  <a:cubicBezTo>
                    <a:pt x="2985131" y="96520"/>
                    <a:pt x="2987036" y="95885"/>
                    <a:pt x="2988306" y="95250"/>
                  </a:cubicBezTo>
                  <a:cubicBezTo>
                    <a:pt x="2989576" y="95250"/>
                    <a:pt x="2990846" y="93980"/>
                    <a:pt x="2992116" y="93345"/>
                  </a:cubicBezTo>
                  <a:cubicBezTo>
                    <a:pt x="2993386" y="93345"/>
                    <a:pt x="2994656" y="92075"/>
                    <a:pt x="2996561" y="90805"/>
                  </a:cubicBezTo>
                  <a:lnTo>
                    <a:pt x="3005451" y="100330"/>
                  </a:lnTo>
                  <a:cubicBezTo>
                    <a:pt x="3005451" y="100330"/>
                    <a:pt x="3001641" y="103505"/>
                    <a:pt x="2999736" y="104775"/>
                  </a:cubicBezTo>
                  <a:cubicBezTo>
                    <a:pt x="2997831" y="106045"/>
                    <a:pt x="2995926" y="106680"/>
                    <a:pt x="2994021" y="107950"/>
                  </a:cubicBezTo>
                  <a:cubicBezTo>
                    <a:pt x="2992116" y="108585"/>
                    <a:pt x="2989576" y="109855"/>
                    <a:pt x="2987036" y="109855"/>
                  </a:cubicBezTo>
                  <a:cubicBezTo>
                    <a:pt x="2984496" y="109855"/>
                    <a:pt x="2981321" y="110490"/>
                    <a:pt x="2978146" y="110490"/>
                  </a:cubicBezTo>
                  <a:cubicBezTo>
                    <a:pt x="2974971" y="110490"/>
                    <a:pt x="2971796" y="110490"/>
                    <a:pt x="2968621" y="109220"/>
                  </a:cubicBezTo>
                  <a:cubicBezTo>
                    <a:pt x="2965446" y="108585"/>
                    <a:pt x="2962906" y="107315"/>
                    <a:pt x="2961001" y="105410"/>
                  </a:cubicBezTo>
                  <a:cubicBezTo>
                    <a:pt x="2958461" y="104140"/>
                    <a:pt x="2956556" y="102235"/>
                    <a:pt x="2954651" y="100330"/>
                  </a:cubicBezTo>
                  <a:cubicBezTo>
                    <a:pt x="2952746" y="98425"/>
                    <a:pt x="2950841" y="95885"/>
                    <a:pt x="2949571" y="92710"/>
                  </a:cubicBezTo>
                  <a:cubicBezTo>
                    <a:pt x="2947666" y="89535"/>
                    <a:pt x="2946396" y="86360"/>
                    <a:pt x="2945761" y="82550"/>
                  </a:cubicBezTo>
                  <a:cubicBezTo>
                    <a:pt x="2945126" y="78740"/>
                    <a:pt x="2944491" y="74295"/>
                    <a:pt x="2944491" y="69850"/>
                  </a:cubicBezTo>
                  <a:cubicBezTo>
                    <a:pt x="2944491" y="63500"/>
                    <a:pt x="2945126" y="57150"/>
                    <a:pt x="2947031" y="52070"/>
                  </a:cubicBezTo>
                  <a:cubicBezTo>
                    <a:pt x="2948936" y="46990"/>
                    <a:pt x="2950841" y="42545"/>
                    <a:pt x="2954016" y="39370"/>
                  </a:cubicBezTo>
                  <a:cubicBezTo>
                    <a:pt x="2957191" y="36195"/>
                    <a:pt x="2960366" y="33020"/>
                    <a:pt x="2964811" y="31750"/>
                  </a:cubicBezTo>
                  <a:cubicBezTo>
                    <a:pt x="2969256" y="29845"/>
                    <a:pt x="2973701" y="29210"/>
                    <a:pt x="2978781" y="29210"/>
                  </a:cubicBezTo>
                  <a:close/>
                  <a:moveTo>
                    <a:pt x="2798440" y="29210"/>
                  </a:moveTo>
                  <a:cubicBezTo>
                    <a:pt x="2803520" y="29210"/>
                    <a:pt x="2807965" y="29845"/>
                    <a:pt x="2813045" y="31750"/>
                  </a:cubicBezTo>
                  <a:cubicBezTo>
                    <a:pt x="2817490" y="33655"/>
                    <a:pt x="2821935" y="35560"/>
                    <a:pt x="2825110" y="38100"/>
                  </a:cubicBezTo>
                  <a:lnTo>
                    <a:pt x="2827015" y="38100"/>
                  </a:lnTo>
                  <a:lnTo>
                    <a:pt x="2820030" y="50165"/>
                  </a:lnTo>
                  <a:cubicBezTo>
                    <a:pt x="2816855" y="47625"/>
                    <a:pt x="2813680" y="46355"/>
                    <a:pt x="2810505" y="45085"/>
                  </a:cubicBezTo>
                  <a:cubicBezTo>
                    <a:pt x="2807330" y="43815"/>
                    <a:pt x="2803520" y="43180"/>
                    <a:pt x="2799710" y="43180"/>
                  </a:cubicBezTo>
                  <a:cubicBezTo>
                    <a:pt x="2795900" y="43180"/>
                    <a:pt x="2793360" y="43815"/>
                    <a:pt x="2791455" y="45085"/>
                  </a:cubicBezTo>
                  <a:cubicBezTo>
                    <a:pt x="2789550" y="46355"/>
                    <a:pt x="2788915" y="48260"/>
                    <a:pt x="2788915" y="50165"/>
                  </a:cubicBezTo>
                  <a:cubicBezTo>
                    <a:pt x="2788915" y="51435"/>
                    <a:pt x="2788915" y="52070"/>
                    <a:pt x="2788915" y="52705"/>
                  </a:cubicBezTo>
                  <a:cubicBezTo>
                    <a:pt x="2788915" y="53340"/>
                    <a:pt x="2790185" y="54610"/>
                    <a:pt x="2790820" y="55245"/>
                  </a:cubicBezTo>
                  <a:cubicBezTo>
                    <a:pt x="2792090" y="55880"/>
                    <a:pt x="2793360" y="57150"/>
                    <a:pt x="2795265" y="57785"/>
                  </a:cubicBezTo>
                  <a:cubicBezTo>
                    <a:pt x="2797170" y="59055"/>
                    <a:pt x="2799710" y="59690"/>
                    <a:pt x="2802250" y="60960"/>
                  </a:cubicBezTo>
                  <a:cubicBezTo>
                    <a:pt x="2806695" y="62865"/>
                    <a:pt x="2810505" y="64135"/>
                    <a:pt x="2813680" y="66040"/>
                  </a:cubicBezTo>
                  <a:cubicBezTo>
                    <a:pt x="2816855" y="67310"/>
                    <a:pt x="2819395" y="69215"/>
                    <a:pt x="2821935" y="71120"/>
                  </a:cubicBezTo>
                  <a:cubicBezTo>
                    <a:pt x="2823840" y="73025"/>
                    <a:pt x="2825745" y="75565"/>
                    <a:pt x="2827015" y="78105"/>
                  </a:cubicBezTo>
                  <a:cubicBezTo>
                    <a:pt x="2828285" y="80645"/>
                    <a:pt x="2828920" y="83820"/>
                    <a:pt x="2828920" y="87630"/>
                  </a:cubicBezTo>
                  <a:cubicBezTo>
                    <a:pt x="2828920" y="92075"/>
                    <a:pt x="2828285" y="95250"/>
                    <a:pt x="2826380" y="98425"/>
                  </a:cubicBezTo>
                  <a:cubicBezTo>
                    <a:pt x="2824475" y="101600"/>
                    <a:pt x="2822570" y="103505"/>
                    <a:pt x="2820030" y="105410"/>
                  </a:cubicBezTo>
                  <a:cubicBezTo>
                    <a:pt x="2817490" y="107315"/>
                    <a:pt x="2814315" y="108585"/>
                    <a:pt x="2810505" y="109220"/>
                  </a:cubicBezTo>
                  <a:cubicBezTo>
                    <a:pt x="2806695" y="109855"/>
                    <a:pt x="2803520" y="110490"/>
                    <a:pt x="2799710" y="110490"/>
                  </a:cubicBezTo>
                  <a:cubicBezTo>
                    <a:pt x="2794630" y="110490"/>
                    <a:pt x="2789550" y="109855"/>
                    <a:pt x="2783835" y="107950"/>
                  </a:cubicBezTo>
                  <a:cubicBezTo>
                    <a:pt x="2778120" y="106045"/>
                    <a:pt x="2773675" y="103505"/>
                    <a:pt x="2769230" y="100965"/>
                  </a:cubicBezTo>
                  <a:lnTo>
                    <a:pt x="2776215" y="89535"/>
                  </a:lnTo>
                  <a:cubicBezTo>
                    <a:pt x="2780025" y="92075"/>
                    <a:pt x="2783835" y="93980"/>
                    <a:pt x="2787645" y="95250"/>
                  </a:cubicBezTo>
                  <a:cubicBezTo>
                    <a:pt x="2791455" y="96520"/>
                    <a:pt x="2795265" y="97155"/>
                    <a:pt x="2799075" y="97155"/>
                  </a:cubicBezTo>
                  <a:cubicBezTo>
                    <a:pt x="2804155" y="97155"/>
                    <a:pt x="2807330" y="96520"/>
                    <a:pt x="2809870" y="94615"/>
                  </a:cubicBezTo>
                  <a:cubicBezTo>
                    <a:pt x="2812410" y="93345"/>
                    <a:pt x="2813045" y="90805"/>
                    <a:pt x="2813045" y="88265"/>
                  </a:cubicBezTo>
                  <a:cubicBezTo>
                    <a:pt x="2813045" y="86995"/>
                    <a:pt x="2813045" y="85725"/>
                    <a:pt x="2811775" y="84455"/>
                  </a:cubicBezTo>
                  <a:cubicBezTo>
                    <a:pt x="2811140" y="83185"/>
                    <a:pt x="2809870" y="82550"/>
                    <a:pt x="2807965" y="81280"/>
                  </a:cubicBezTo>
                  <a:cubicBezTo>
                    <a:pt x="2806695" y="80010"/>
                    <a:pt x="2804790" y="79375"/>
                    <a:pt x="2802250" y="78105"/>
                  </a:cubicBezTo>
                  <a:cubicBezTo>
                    <a:pt x="2800345" y="77470"/>
                    <a:pt x="2797805" y="76200"/>
                    <a:pt x="2794630" y="74930"/>
                  </a:cubicBezTo>
                  <a:cubicBezTo>
                    <a:pt x="2790185" y="73025"/>
                    <a:pt x="2787010" y="71755"/>
                    <a:pt x="2783835" y="69850"/>
                  </a:cubicBezTo>
                  <a:cubicBezTo>
                    <a:pt x="2780660" y="67945"/>
                    <a:pt x="2778755" y="66675"/>
                    <a:pt x="2776850" y="64770"/>
                  </a:cubicBezTo>
                  <a:cubicBezTo>
                    <a:pt x="2774945" y="62865"/>
                    <a:pt x="2773675" y="60960"/>
                    <a:pt x="2773040" y="58420"/>
                  </a:cubicBezTo>
                  <a:cubicBezTo>
                    <a:pt x="2772405" y="55880"/>
                    <a:pt x="2771770" y="53340"/>
                    <a:pt x="2771770" y="50165"/>
                  </a:cubicBezTo>
                  <a:cubicBezTo>
                    <a:pt x="2771770" y="46990"/>
                    <a:pt x="2772405" y="43815"/>
                    <a:pt x="2773675" y="40640"/>
                  </a:cubicBezTo>
                  <a:cubicBezTo>
                    <a:pt x="2774945" y="38100"/>
                    <a:pt x="2776850" y="35560"/>
                    <a:pt x="2779390" y="34290"/>
                  </a:cubicBezTo>
                  <a:cubicBezTo>
                    <a:pt x="2781930" y="32385"/>
                    <a:pt x="2784470" y="31115"/>
                    <a:pt x="2787645" y="30480"/>
                  </a:cubicBezTo>
                  <a:cubicBezTo>
                    <a:pt x="2790820" y="29845"/>
                    <a:pt x="2794630" y="29210"/>
                    <a:pt x="2798440" y="29210"/>
                  </a:cubicBezTo>
                  <a:close/>
                  <a:moveTo>
                    <a:pt x="2723510" y="29210"/>
                  </a:moveTo>
                  <a:cubicBezTo>
                    <a:pt x="2725415" y="29210"/>
                    <a:pt x="2727320" y="29210"/>
                    <a:pt x="2729225" y="29210"/>
                  </a:cubicBezTo>
                  <a:cubicBezTo>
                    <a:pt x="2733670" y="29210"/>
                    <a:pt x="2738115" y="29845"/>
                    <a:pt x="2741290" y="31750"/>
                  </a:cubicBezTo>
                  <a:cubicBezTo>
                    <a:pt x="2744465" y="33020"/>
                    <a:pt x="2747640" y="35560"/>
                    <a:pt x="2750180" y="38100"/>
                  </a:cubicBezTo>
                  <a:cubicBezTo>
                    <a:pt x="2752720" y="41275"/>
                    <a:pt x="2753990" y="44450"/>
                    <a:pt x="2755260" y="48895"/>
                  </a:cubicBezTo>
                  <a:cubicBezTo>
                    <a:pt x="2756530" y="53340"/>
                    <a:pt x="2757165" y="58420"/>
                    <a:pt x="2757165" y="64135"/>
                  </a:cubicBezTo>
                  <a:lnTo>
                    <a:pt x="2757165" y="108585"/>
                  </a:lnTo>
                  <a:lnTo>
                    <a:pt x="2741925" y="108585"/>
                  </a:lnTo>
                  <a:lnTo>
                    <a:pt x="2741290" y="108585"/>
                  </a:lnTo>
                  <a:lnTo>
                    <a:pt x="2741290" y="64770"/>
                  </a:lnTo>
                  <a:cubicBezTo>
                    <a:pt x="2741290" y="57785"/>
                    <a:pt x="2740020" y="52070"/>
                    <a:pt x="2737480" y="48895"/>
                  </a:cubicBezTo>
                  <a:cubicBezTo>
                    <a:pt x="2734940" y="45085"/>
                    <a:pt x="2731130" y="43180"/>
                    <a:pt x="2725415" y="43180"/>
                  </a:cubicBezTo>
                  <a:cubicBezTo>
                    <a:pt x="2722875" y="43180"/>
                    <a:pt x="2720970" y="43180"/>
                    <a:pt x="2718430" y="44450"/>
                  </a:cubicBezTo>
                  <a:cubicBezTo>
                    <a:pt x="2716525" y="45085"/>
                    <a:pt x="2714620" y="46990"/>
                    <a:pt x="2713350" y="48260"/>
                  </a:cubicBezTo>
                  <a:cubicBezTo>
                    <a:pt x="2712080" y="50165"/>
                    <a:pt x="2710810" y="52070"/>
                    <a:pt x="2710175" y="54610"/>
                  </a:cubicBezTo>
                  <a:cubicBezTo>
                    <a:pt x="2710175" y="57150"/>
                    <a:pt x="2709540" y="59690"/>
                    <a:pt x="2709540" y="62865"/>
                  </a:cubicBezTo>
                  <a:lnTo>
                    <a:pt x="2709540" y="108585"/>
                  </a:lnTo>
                  <a:lnTo>
                    <a:pt x="2694300" y="108585"/>
                  </a:lnTo>
                  <a:lnTo>
                    <a:pt x="2694300" y="30480"/>
                  </a:lnTo>
                  <a:lnTo>
                    <a:pt x="2709540" y="30480"/>
                  </a:lnTo>
                  <a:lnTo>
                    <a:pt x="2709540" y="38100"/>
                  </a:lnTo>
                  <a:cubicBezTo>
                    <a:pt x="2709540" y="38100"/>
                    <a:pt x="2711445" y="35560"/>
                    <a:pt x="2713350" y="34290"/>
                  </a:cubicBezTo>
                  <a:cubicBezTo>
                    <a:pt x="2714620" y="33020"/>
                    <a:pt x="2716525" y="32385"/>
                    <a:pt x="2717795" y="31115"/>
                  </a:cubicBezTo>
                  <a:cubicBezTo>
                    <a:pt x="2719700" y="30480"/>
                    <a:pt x="2721605" y="29845"/>
                    <a:pt x="2723510" y="29210"/>
                  </a:cubicBezTo>
                  <a:close/>
                  <a:moveTo>
                    <a:pt x="2530470" y="29210"/>
                  </a:moveTo>
                  <a:cubicBezTo>
                    <a:pt x="2536185" y="29210"/>
                    <a:pt x="2540630" y="30480"/>
                    <a:pt x="2545075" y="32385"/>
                  </a:cubicBezTo>
                  <a:cubicBezTo>
                    <a:pt x="2548885" y="34290"/>
                    <a:pt x="2552695" y="37465"/>
                    <a:pt x="2555235" y="40640"/>
                  </a:cubicBezTo>
                  <a:cubicBezTo>
                    <a:pt x="2557775" y="44450"/>
                    <a:pt x="2559680" y="48260"/>
                    <a:pt x="2561585" y="53340"/>
                  </a:cubicBezTo>
                  <a:cubicBezTo>
                    <a:pt x="2562855" y="57785"/>
                    <a:pt x="2563490" y="62865"/>
                    <a:pt x="2563490" y="68580"/>
                  </a:cubicBezTo>
                  <a:lnTo>
                    <a:pt x="2562220" y="68580"/>
                  </a:lnTo>
                  <a:cubicBezTo>
                    <a:pt x="2562220" y="68580"/>
                    <a:pt x="2562220" y="71120"/>
                    <a:pt x="2562220" y="72390"/>
                  </a:cubicBezTo>
                  <a:cubicBezTo>
                    <a:pt x="2562220" y="73660"/>
                    <a:pt x="2562220" y="74295"/>
                    <a:pt x="2562220" y="75565"/>
                  </a:cubicBezTo>
                  <a:lnTo>
                    <a:pt x="2510785" y="75565"/>
                  </a:lnTo>
                  <a:cubicBezTo>
                    <a:pt x="2510785" y="79375"/>
                    <a:pt x="2512055" y="82550"/>
                    <a:pt x="2513325" y="85090"/>
                  </a:cubicBezTo>
                  <a:cubicBezTo>
                    <a:pt x="2514595" y="87630"/>
                    <a:pt x="2515865" y="90170"/>
                    <a:pt x="2517770" y="91440"/>
                  </a:cubicBezTo>
                  <a:cubicBezTo>
                    <a:pt x="2519675" y="93345"/>
                    <a:pt x="2521580" y="94615"/>
                    <a:pt x="2523485" y="95250"/>
                  </a:cubicBezTo>
                  <a:cubicBezTo>
                    <a:pt x="2525390" y="95885"/>
                    <a:pt x="2527930" y="96520"/>
                    <a:pt x="2530470" y="96520"/>
                  </a:cubicBezTo>
                  <a:cubicBezTo>
                    <a:pt x="2532375" y="96520"/>
                    <a:pt x="2533645" y="96520"/>
                    <a:pt x="2535550" y="96520"/>
                  </a:cubicBezTo>
                  <a:cubicBezTo>
                    <a:pt x="2536820" y="96520"/>
                    <a:pt x="2538725" y="95885"/>
                    <a:pt x="2539995" y="95250"/>
                  </a:cubicBezTo>
                  <a:cubicBezTo>
                    <a:pt x="2541265" y="95250"/>
                    <a:pt x="2542535" y="93980"/>
                    <a:pt x="2543805" y="93345"/>
                  </a:cubicBezTo>
                  <a:cubicBezTo>
                    <a:pt x="2545075" y="93345"/>
                    <a:pt x="2546345" y="92075"/>
                    <a:pt x="2548250" y="90805"/>
                  </a:cubicBezTo>
                  <a:lnTo>
                    <a:pt x="2557140" y="100330"/>
                  </a:lnTo>
                  <a:cubicBezTo>
                    <a:pt x="2557140" y="100330"/>
                    <a:pt x="2553330" y="103505"/>
                    <a:pt x="2551425" y="104775"/>
                  </a:cubicBezTo>
                  <a:cubicBezTo>
                    <a:pt x="2549520" y="106045"/>
                    <a:pt x="2547615" y="106680"/>
                    <a:pt x="2545710" y="107950"/>
                  </a:cubicBezTo>
                  <a:cubicBezTo>
                    <a:pt x="2543805" y="108585"/>
                    <a:pt x="2541265" y="109855"/>
                    <a:pt x="2538725" y="109855"/>
                  </a:cubicBezTo>
                  <a:cubicBezTo>
                    <a:pt x="2536185" y="109855"/>
                    <a:pt x="2533010" y="110490"/>
                    <a:pt x="2529835" y="110490"/>
                  </a:cubicBezTo>
                  <a:cubicBezTo>
                    <a:pt x="2526660" y="110490"/>
                    <a:pt x="2523485" y="110490"/>
                    <a:pt x="2520310" y="109220"/>
                  </a:cubicBezTo>
                  <a:cubicBezTo>
                    <a:pt x="2517135" y="108585"/>
                    <a:pt x="2514595" y="107315"/>
                    <a:pt x="2512690" y="105410"/>
                  </a:cubicBezTo>
                  <a:cubicBezTo>
                    <a:pt x="2510785" y="103505"/>
                    <a:pt x="2508245" y="102235"/>
                    <a:pt x="2506340" y="100330"/>
                  </a:cubicBezTo>
                  <a:cubicBezTo>
                    <a:pt x="2504435" y="98425"/>
                    <a:pt x="2502530" y="95885"/>
                    <a:pt x="2501260" y="92710"/>
                  </a:cubicBezTo>
                  <a:cubicBezTo>
                    <a:pt x="2499355" y="89535"/>
                    <a:pt x="2498085" y="86360"/>
                    <a:pt x="2497450" y="82550"/>
                  </a:cubicBezTo>
                  <a:cubicBezTo>
                    <a:pt x="2496815" y="78740"/>
                    <a:pt x="2496180" y="74295"/>
                    <a:pt x="2496180" y="69850"/>
                  </a:cubicBezTo>
                  <a:cubicBezTo>
                    <a:pt x="2496180" y="63500"/>
                    <a:pt x="2496815" y="57150"/>
                    <a:pt x="2498720" y="52070"/>
                  </a:cubicBezTo>
                  <a:cubicBezTo>
                    <a:pt x="2500625" y="46990"/>
                    <a:pt x="2502530" y="42545"/>
                    <a:pt x="2505705" y="39370"/>
                  </a:cubicBezTo>
                  <a:cubicBezTo>
                    <a:pt x="2508880" y="36195"/>
                    <a:pt x="2512055" y="33020"/>
                    <a:pt x="2516500" y="31750"/>
                  </a:cubicBezTo>
                  <a:cubicBezTo>
                    <a:pt x="2520945" y="29845"/>
                    <a:pt x="2525390" y="29210"/>
                    <a:pt x="2530470" y="29210"/>
                  </a:cubicBezTo>
                  <a:close/>
                  <a:moveTo>
                    <a:pt x="2298061" y="29210"/>
                  </a:moveTo>
                  <a:cubicBezTo>
                    <a:pt x="2301236" y="29210"/>
                    <a:pt x="2303776" y="29210"/>
                    <a:pt x="2305681" y="29845"/>
                  </a:cubicBezTo>
                  <a:cubicBezTo>
                    <a:pt x="2307586" y="29845"/>
                    <a:pt x="2309491" y="31115"/>
                    <a:pt x="2311396" y="32385"/>
                  </a:cubicBezTo>
                  <a:lnTo>
                    <a:pt x="2307586" y="46990"/>
                  </a:lnTo>
                  <a:lnTo>
                    <a:pt x="2306316" y="46990"/>
                  </a:lnTo>
                  <a:cubicBezTo>
                    <a:pt x="2306316" y="46990"/>
                    <a:pt x="2303141" y="45085"/>
                    <a:pt x="2301236" y="45085"/>
                  </a:cubicBezTo>
                  <a:cubicBezTo>
                    <a:pt x="2299331" y="45085"/>
                    <a:pt x="2297426" y="44450"/>
                    <a:pt x="2294886" y="44450"/>
                  </a:cubicBezTo>
                  <a:cubicBezTo>
                    <a:pt x="2289806" y="44450"/>
                    <a:pt x="2285996" y="46355"/>
                    <a:pt x="2283456" y="49530"/>
                  </a:cubicBezTo>
                  <a:cubicBezTo>
                    <a:pt x="2280916" y="52705"/>
                    <a:pt x="2279646" y="57785"/>
                    <a:pt x="2279646" y="64770"/>
                  </a:cubicBezTo>
                  <a:lnTo>
                    <a:pt x="2279646" y="109220"/>
                  </a:lnTo>
                  <a:lnTo>
                    <a:pt x="2264406" y="109220"/>
                  </a:lnTo>
                  <a:lnTo>
                    <a:pt x="2264406" y="31115"/>
                  </a:lnTo>
                  <a:lnTo>
                    <a:pt x="2279646" y="31115"/>
                  </a:lnTo>
                  <a:lnTo>
                    <a:pt x="2279646" y="38735"/>
                  </a:lnTo>
                  <a:cubicBezTo>
                    <a:pt x="2279646" y="38735"/>
                    <a:pt x="2281551" y="36195"/>
                    <a:pt x="2282821" y="34925"/>
                  </a:cubicBezTo>
                  <a:cubicBezTo>
                    <a:pt x="2284091" y="33655"/>
                    <a:pt x="2285361" y="33020"/>
                    <a:pt x="2287266" y="31750"/>
                  </a:cubicBezTo>
                  <a:cubicBezTo>
                    <a:pt x="2288536" y="31115"/>
                    <a:pt x="2290441" y="30480"/>
                    <a:pt x="2292346" y="29845"/>
                  </a:cubicBezTo>
                  <a:cubicBezTo>
                    <a:pt x="2294251" y="29845"/>
                    <a:pt x="2296156" y="29210"/>
                    <a:pt x="2298061" y="29210"/>
                  </a:cubicBezTo>
                  <a:close/>
                  <a:moveTo>
                    <a:pt x="2216145" y="29210"/>
                  </a:moveTo>
                  <a:cubicBezTo>
                    <a:pt x="2221860" y="29210"/>
                    <a:pt x="2226305" y="30480"/>
                    <a:pt x="2230750" y="32385"/>
                  </a:cubicBezTo>
                  <a:cubicBezTo>
                    <a:pt x="2234560" y="34290"/>
                    <a:pt x="2238370" y="37465"/>
                    <a:pt x="2240910" y="40640"/>
                  </a:cubicBezTo>
                  <a:cubicBezTo>
                    <a:pt x="2243450" y="44450"/>
                    <a:pt x="2245355" y="48260"/>
                    <a:pt x="2247260" y="53340"/>
                  </a:cubicBezTo>
                  <a:cubicBezTo>
                    <a:pt x="2248530" y="57785"/>
                    <a:pt x="2249165" y="62865"/>
                    <a:pt x="2249165" y="68580"/>
                  </a:cubicBezTo>
                  <a:lnTo>
                    <a:pt x="2247895" y="68580"/>
                  </a:lnTo>
                  <a:cubicBezTo>
                    <a:pt x="2247895" y="68580"/>
                    <a:pt x="2247895" y="71120"/>
                    <a:pt x="2247895" y="72390"/>
                  </a:cubicBezTo>
                  <a:cubicBezTo>
                    <a:pt x="2247895" y="73660"/>
                    <a:pt x="2247895" y="74295"/>
                    <a:pt x="2247895" y="75565"/>
                  </a:cubicBezTo>
                  <a:lnTo>
                    <a:pt x="2196460" y="75565"/>
                  </a:lnTo>
                  <a:cubicBezTo>
                    <a:pt x="2196460" y="79375"/>
                    <a:pt x="2197730" y="82550"/>
                    <a:pt x="2199000" y="85090"/>
                  </a:cubicBezTo>
                  <a:cubicBezTo>
                    <a:pt x="2200270" y="87630"/>
                    <a:pt x="2201540" y="90170"/>
                    <a:pt x="2203445" y="91440"/>
                  </a:cubicBezTo>
                  <a:cubicBezTo>
                    <a:pt x="2205350" y="93345"/>
                    <a:pt x="2207255" y="94615"/>
                    <a:pt x="2209160" y="95250"/>
                  </a:cubicBezTo>
                  <a:cubicBezTo>
                    <a:pt x="2211065" y="95885"/>
                    <a:pt x="2213605" y="96520"/>
                    <a:pt x="2216145" y="96520"/>
                  </a:cubicBezTo>
                  <a:cubicBezTo>
                    <a:pt x="2218050" y="96520"/>
                    <a:pt x="2219320" y="96520"/>
                    <a:pt x="2221225" y="96520"/>
                  </a:cubicBezTo>
                  <a:cubicBezTo>
                    <a:pt x="2222495" y="96520"/>
                    <a:pt x="2224400" y="95885"/>
                    <a:pt x="2225670" y="95250"/>
                  </a:cubicBezTo>
                  <a:cubicBezTo>
                    <a:pt x="2226940" y="95250"/>
                    <a:pt x="2228210" y="93980"/>
                    <a:pt x="2229480" y="93345"/>
                  </a:cubicBezTo>
                  <a:cubicBezTo>
                    <a:pt x="2230750" y="93345"/>
                    <a:pt x="2232020" y="92075"/>
                    <a:pt x="2233925" y="90805"/>
                  </a:cubicBezTo>
                  <a:lnTo>
                    <a:pt x="2242815" y="100330"/>
                  </a:lnTo>
                  <a:cubicBezTo>
                    <a:pt x="2242815" y="100330"/>
                    <a:pt x="2239005" y="103505"/>
                    <a:pt x="2237100" y="104775"/>
                  </a:cubicBezTo>
                  <a:cubicBezTo>
                    <a:pt x="2235195" y="106045"/>
                    <a:pt x="2233290" y="106680"/>
                    <a:pt x="2231385" y="107950"/>
                  </a:cubicBezTo>
                  <a:cubicBezTo>
                    <a:pt x="2229480" y="108585"/>
                    <a:pt x="2226940" y="109855"/>
                    <a:pt x="2224400" y="109855"/>
                  </a:cubicBezTo>
                  <a:cubicBezTo>
                    <a:pt x="2221860" y="109855"/>
                    <a:pt x="2218685" y="110490"/>
                    <a:pt x="2215510" y="110490"/>
                  </a:cubicBezTo>
                  <a:cubicBezTo>
                    <a:pt x="2212335" y="110490"/>
                    <a:pt x="2209160" y="110490"/>
                    <a:pt x="2205985" y="109220"/>
                  </a:cubicBezTo>
                  <a:cubicBezTo>
                    <a:pt x="2202810" y="108585"/>
                    <a:pt x="2200270" y="107315"/>
                    <a:pt x="2198365" y="105410"/>
                  </a:cubicBezTo>
                  <a:cubicBezTo>
                    <a:pt x="2195825" y="104140"/>
                    <a:pt x="2193920" y="102235"/>
                    <a:pt x="2192015" y="100330"/>
                  </a:cubicBezTo>
                  <a:cubicBezTo>
                    <a:pt x="2190110" y="98425"/>
                    <a:pt x="2188205" y="95885"/>
                    <a:pt x="2186935" y="92710"/>
                  </a:cubicBezTo>
                  <a:cubicBezTo>
                    <a:pt x="2185030" y="89535"/>
                    <a:pt x="2183760" y="86360"/>
                    <a:pt x="2183125" y="82550"/>
                  </a:cubicBezTo>
                  <a:cubicBezTo>
                    <a:pt x="2182490" y="78740"/>
                    <a:pt x="2181855" y="74295"/>
                    <a:pt x="2181855" y="69850"/>
                  </a:cubicBezTo>
                  <a:cubicBezTo>
                    <a:pt x="2181855" y="63500"/>
                    <a:pt x="2182490" y="57150"/>
                    <a:pt x="2184395" y="52070"/>
                  </a:cubicBezTo>
                  <a:cubicBezTo>
                    <a:pt x="2186300" y="46990"/>
                    <a:pt x="2188205" y="42545"/>
                    <a:pt x="2191380" y="39370"/>
                  </a:cubicBezTo>
                  <a:cubicBezTo>
                    <a:pt x="2194555" y="36195"/>
                    <a:pt x="2197730" y="33020"/>
                    <a:pt x="2202175" y="31750"/>
                  </a:cubicBezTo>
                  <a:cubicBezTo>
                    <a:pt x="2206620" y="29845"/>
                    <a:pt x="2211065" y="29210"/>
                    <a:pt x="2216145" y="29210"/>
                  </a:cubicBezTo>
                  <a:close/>
                  <a:moveTo>
                    <a:pt x="2029456" y="29210"/>
                  </a:moveTo>
                  <a:cubicBezTo>
                    <a:pt x="2035171" y="29210"/>
                    <a:pt x="2039616" y="30480"/>
                    <a:pt x="2044061" y="32385"/>
                  </a:cubicBezTo>
                  <a:cubicBezTo>
                    <a:pt x="2047871" y="34290"/>
                    <a:pt x="2051681" y="37465"/>
                    <a:pt x="2054221" y="40640"/>
                  </a:cubicBezTo>
                  <a:cubicBezTo>
                    <a:pt x="2056761" y="44450"/>
                    <a:pt x="2058666" y="48260"/>
                    <a:pt x="2060571" y="53340"/>
                  </a:cubicBezTo>
                  <a:cubicBezTo>
                    <a:pt x="2061841" y="57785"/>
                    <a:pt x="2062476" y="62865"/>
                    <a:pt x="2062476" y="68580"/>
                  </a:cubicBezTo>
                  <a:lnTo>
                    <a:pt x="2061206" y="68580"/>
                  </a:lnTo>
                  <a:cubicBezTo>
                    <a:pt x="2061206" y="68580"/>
                    <a:pt x="2061206" y="71120"/>
                    <a:pt x="2061206" y="72390"/>
                  </a:cubicBezTo>
                  <a:cubicBezTo>
                    <a:pt x="2061206" y="73660"/>
                    <a:pt x="2061206" y="74295"/>
                    <a:pt x="2061206" y="75565"/>
                  </a:cubicBezTo>
                  <a:lnTo>
                    <a:pt x="2009771" y="75565"/>
                  </a:lnTo>
                  <a:cubicBezTo>
                    <a:pt x="2009771" y="79375"/>
                    <a:pt x="2011041" y="82550"/>
                    <a:pt x="2012311" y="85090"/>
                  </a:cubicBezTo>
                  <a:cubicBezTo>
                    <a:pt x="2013581" y="87630"/>
                    <a:pt x="2014851" y="90170"/>
                    <a:pt x="2016756" y="91440"/>
                  </a:cubicBezTo>
                  <a:cubicBezTo>
                    <a:pt x="2018661" y="93345"/>
                    <a:pt x="2020566" y="94615"/>
                    <a:pt x="2022471" y="95250"/>
                  </a:cubicBezTo>
                  <a:cubicBezTo>
                    <a:pt x="2024376" y="95885"/>
                    <a:pt x="2026916" y="96520"/>
                    <a:pt x="2029456" y="96520"/>
                  </a:cubicBezTo>
                  <a:cubicBezTo>
                    <a:pt x="2031361" y="96520"/>
                    <a:pt x="2032631" y="96520"/>
                    <a:pt x="2034536" y="96520"/>
                  </a:cubicBezTo>
                  <a:cubicBezTo>
                    <a:pt x="2035806" y="96520"/>
                    <a:pt x="2037711" y="95885"/>
                    <a:pt x="2038981" y="95250"/>
                  </a:cubicBezTo>
                  <a:cubicBezTo>
                    <a:pt x="2040251" y="95250"/>
                    <a:pt x="2041521" y="93980"/>
                    <a:pt x="2042791" y="93345"/>
                  </a:cubicBezTo>
                  <a:cubicBezTo>
                    <a:pt x="2044061" y="93345"/>
                    <a:pt x="2045331" y="92075"/>
                    <a:pt x="2047236" y="90805"/>
                  </a:cubicBezTo>
                  <a:lnTo>
                    <a:pt x="2056126" y="100330"/>
                  </a:lnTo>
                  <a:cubicBezTo>
                    <a:pt x="2056126" y="100330"/>
                    <a:pt x="2052316" y="103505"/>
                    <a:pt x="2050411" y="104775"/>
                  </a:cubicBezTo>
                  <a:cubicBezTo>
                    <a:pt x="2048506" y="106045"/>
                    <a:pt x="2046601" y="106680"/>
                    <a:pt x="2044696" y="107950"/>
                  </a:cubicBezTo>
                  <a:cubicBezTo>
                    <a:pt x="2042791" y="108585"/>
                    <a:pt x="2040251" y="109855"/>
                    <a:pt x="2037711" y="109855"/>
                  </a:cubicBezTo>
                  <a:cubicBezTo>
                    <a:pt x="2035171" y="109855"/>
                    <a:pt x="2031996" y="110490"/>
                    <a:pt x="2028821" y="110490"/>
                  </a:cubicBezTo>
                  <a:cubicBezTo>
                    <a:pt x="2025646" y="110490"/>
                    <a:pt x="2022471" y="110490"/>
                    <a:pt x="2019296" y="109220"/>
                  </a:cubicBezTo>
                  <a:cubicBezTo>
                    <a:pt x="2016121" y="108585"/>
                    <a:pt x="2013581" y="107315"/>
                    <a:pt x="2011676" y="105410"/>
                  </a:cubicBezTo>
                  <a:cubicBezTo>
                    <a:pt x="2009136" y="104140"/>
                    <a:pt x="2007231" y="102235"/>
                    <a:pt x="2005326" y="100330"/>
                  </a:cubicBezTo>
                  <a:cubicBezTo>
                    <a:pt x="2003421" y="98425"/>
                    <a:pt x="2001516" y="95885"/>
                    <a:pt x="2000246" y="92710"/>
                  </a:cubicBezTo>
                  <a:cubicBezTo>
                    <a:pt x="1998341" y="89535"/>
                    <a:pt x="1997071" y="86360"/>
                    <a:pt x="1996436" y="82550"/>
                  </a:cubicBezTo>
                  <a:cubicBezTo>
                    <a:pt x="1995801" y="78740"/>
                    <a:pt x="1995166" y="74295"/>
                    <a:pt x="1995166" y="69850"/>
                  </a:cubicBezTo>
                  <a:cubicBezTo>
                    <a:pt x="1995166" y="63500"/>
                    <a:pt x="1995801" y="57150"/>
                    <a:pt x="1997706" y="52070"/>
                  </a:cubicBezTo>
                  <a:cubicBezTo>
                    <a:pt x="1999611" y="46990"/>
                    <a:pt x="2001516" y="42545"/>
                    <a:pt x="2004691" y="39370"/>
                  </a:cubicBezTo>
                  <a:cubicBezTo>
                    <a:pt x="2007866" y="36195"/>
                    <a:pt x="2011041" y="33020"/>
                    <a:pt x="2015486" y="31750"/>
                  </a:cubicBezTo>
                  <a:cubicBezTo>
                    <a:pt x="2019931" y="29845"/>
                    <a:pt x="2024376" y="29210"/>
                    <a:pt x="2029456" y="29210"/>
                  </a:cubicBezTo>
                  <a:close/>
                  <a:moveTo>
                    <a:pt x="1831336" y="29210"/>
                  </a:moveTo>
                  <a:cubicBezTo>
                    <a:pt x="1837051" y="29210"/>
                    <a:pt x="1841496" y="30480"/>
                    <a:pt x="1845941" y="32385"/>
                  </a:cubicBezTo>
                  <a:cubicBezTo>
                    <a:pt x="1849751" y="34290"/>
                    <a:pt x="1853561" y="37465"/>
                    <a:pt x="1856101" y="40640"/>
                  </a:cubicBezTo>
                  <a:cubicBezTo>
                    <a:pt x="1858641" y="44450"/>
                    <a:pt x="1860546" y="48260"/>
                    <a:pt x="1862451" y="53340"/>
                  </a:cubicBezTo>
                  <a:cubicBezTo>
                    <a:pt x="1863721" y="57785"/>
                    <a:pt x="1864356" y="62865"/>
                    <a:pt x="1864356" y="68580"/>
                  </a:cubicBezTo>
                  <a:lnTo>
                    <a:pt x="1863086" y="68580"/>
                  </a:lnTo>
                  <a:cubicBezTo>
                    <a:pt x="1863086" y="68580"/>
                    <a:pt x="1863086" y="71120"/>
                    <a:pt x="1863086" y="72390"/>
                  </a:cubicBezTo>
                  <a:cubicBezTo>
                    <a:pt x="1863086" y="73660"/>
                    <a:pt x="1863086" y="74295"/>
                    <a:pt x="1863086" y="75565"/>
                  </a:cubicBezTo>
                  <a:lnTo>
                    <a:pt x="1811651" y="75565"/>
                  </a:lnTo>
                  <a:cubicBezTo>
                    <a:pt x="1811651" y="79375"/>
                    <a:pt x="1812921" y="82550"/>
                    <a:pt x="1814191" y="85090"/>
                  </a:cubicBezTo>
                  <a:cubicBezTo>
                    <a:pt x="1815461" y="87630"/>
                    <a:pt x="1816731" y="90170"/>
                    <a:pt x="1818636" y="91440"/>
                  </a:cubicBezTo>
                  <a:cubicBezTo>
                    <a:pt x="1820541" y="93345"/>
                    <a:pt x="1822446" y="94615"/>
                    <a:pt x="1824351" y="95250"/>
                  </a:cubicBezTo>
                  <a:cubicBezTo>
                    <a:pt x="1826256" y="95885"/>
                    <a:pt x="1828796" y="96520"/>
                    <a:pt x="1831336" y="96520"/>
                  </a:cubicBezTo>
                  <a:cubicBezTo>
                    <a:pt x="1833241" y="96520"/>
                    <a:pt x="1834511" y="96520"/>
                    <a:pt x="1836416" y="96520"/>
                  </a:cubicBezTo>
                  <a:cubicBezTo>
                    <a:pt x="1837686" y="96520"/>
                    <a:pt x="1839591" y="95885"/>
                    <a:pt x="1840861" y="95250"/>
                  </a:cubicBezTo>
                  <a:cubicBezTo>
                    <a:pt x="1842131" y="95250"/>
                    <a:pt x="1843401" y="93980"/>
                    <a:pt x="1844671" y="93345"/>
                  </a:cubicBezTo>
                  <a:cubicBezTo>
                    <a:pt x="1845941" y="93345"/>
                    <a:pt x="1847211" y="92075"/>
                    <a:pt x="1849116" y="90805"/>
                  </a:cubicBezTo>
                  <a:lnTo>
                    <a:pt x="1858006" y="100330"/>
                  </a:lnTo>
                  <a:cubicBezTo>
                    <a:pt x="1858006" y="100330"/>
                    <a:pt x="1854196" y="103505"/>
                    <a:pt x="1852291" y="104775"/>
                  </a:cubicBezTo>
                  <a:cubicBezTo>
                    <a:pt x="1850386" y="106045"/>
                    <a:pt x="1848481" y="106680"/>
                    <a:pt x="1846576" y="107950"/>
                  </a:cubicBezTo>
                  <a:cubicBezTo>
                    <a:pt x="1844671" y="108585"/>
                    <a:pt x="1842131" y="109855"/>
                    <a:pt x="1839591" y="109855"/>
                  </a:cubicBezTo>
                  <a:cubicBezTo>
                    <a:pt x="1837051" y="109855"/>
                    <a:pt x="1833876" y="110490"/>
                    <a:pt x="1830701" y="110490"/>
                  </a:cubicBezTo>
                  <a:cubicBezTo>
                    <a:pt x="1827526" y="110490"/>
                    <a:pt x="1824351" y="110490"/>
                    <a:pt x="1821176" y="109220"/>
                  </a:cubicBezTo>
                  <a:cubicBezTo>
                    <a:pt x="1818001" y="108585"/>
                    <a:pt x="1815461" y="107315"/>
                    <a:pt x="1813556" y="105410"/>
                  </a:cubicBezTo>
                  <a:cubicBezTo>
                    <a:pt x="1811016" y="104140"/>
                    <a:pt x="1809111" y="102235"/>
                    <a:pt x="1807206" y="100330"/>
                  </a:cubicBezTo>
                  <a:cubicBezTo>
                    <a:pt x="1805301" y="98425"/>
                    <a:pt x="1803396" y="95885"/>
                    <a:pt x="1802126" y="92710"/>
                  </a:cubicBezTo>
                  <a:cubicBezTo>
                    <a:pt x="1800221" y="89535"/>
                    <a:pt x="1798951" y="86360"/>
                    <a:pt x="1798316" y="82550"/>
                  </a:cubicBezTo>
                  <a:cubicBezTo>
                    <a:pt x="1797681" y="78740"/>
                    <a:pt x="1797046" y="74295"/>
                    <a:pt x="1797046" y="69850"/>
                  </a:cubicBezTo>
                  <a:cubicBezTo>
                    <a:pt x="1797046" y="63500"/>
                    <a:pt x="1797681" y="57150"/>
                    <a:pt x="1799586" y="52070"/>
                  </a:cubicBezTo>
                  <a:cubicBezTo>
                    <a:pt x="1801491" y="46990"/>
                    <a:pt x="1803396" y="42545"/>
                    <a:pt x="1806571" y="39370"/>
                  </a:cubicBezTo>
                  <a:cubicBezTo>
                    <a:pt x="1809746" y="36195"/>
                    <a:pt x="1812921" y="33020"/>
                    <a:pt x="1817366" y="31750"/>
                  </a:cubicBezTo>
                  <a:cubicBezTo>
                    <a:pt x="1821811" y="29845"/>
                    <a:pt x="1826256" y="29210"/>
                    <a:pt x="1831336" y="29210"/>
                  </a:cubicBezTo>
                  <a:close/>
                  <a:moveTo>
                    <a:pt x="1501140" y="29210"/>
                  </a:moveTo>
                  <a:cubicBezTo>
                    <a:pt x="1503046" y="29210"/>
                    <a:pt x="1504951" y="29210"/>
                    <a:pt x="1506856" y="29210"/>
                  </a:cubicBezTo>
                  <a:cubicBezTo>
                    <a:pt x="1511301" y="29210"/>
                    <a:pt x="1515746" y="29845"/>
                    <a:pt x="1518920" y="31750"/>
                  </a:cubicBezTo>
                  <a:cubicBezTo>
                    <a:pt x="1522096" y="33020"/>
                    <a:pt x="1525271" y="35560"/>
                    <a:pt x="1527811" y="38100"/>
                  </a:cubicBezTo>
                  <a:cubicBezTo>
                    <a:pt x="1530351" y="41275"/>
                    <a:pt x="1531621" y="44450"/>
                    <a:pt x="1532891" y="48895"/>
                  </a:cubicBezTo>
                  <a:cubicBezTo>
                    <a:pt x="1534161" y="53340"/>
                    <a:pt x="1534796" y="58420"/>
                    <a:pt x="1534796" y="64135"/>
                  </a:cubicBezTo>
                  <a:lnTo>
                    <a:pt x="1534796" y="108585"/>
                  </a:lnTo>
                  <a:lnTo>
                    <a:pt x="1519556" y="108585"/>
                  </a:lnTo>
                  <a:lnTo>
                    <a:pt x="1518920" y="108585"/>
                  </a:lnTo>
                  <a:lnTo>
                    <a:pt x="1518920" y="64770"/>
                  </a:lnTo>
                  <a:cubicBezTo>
                    <a:pt x="1518920" y="57785"/>
                    <a:pt x="1517651" y="52070"/>
                    <a:pt x="1515111" y="48895"/>
                  </a:cubicBezTo>
                  <a:cubicBezTo>
                    <a:pt x="1512571" y="45085"/>
                    <a:pt x="1508761" y="43180"/>
                    <a:pt x="1503046" y="43180"/>
                  </a:cubicBezTo>
                  <a:cubicBezTo>
                    <a:pt x="1500506" y="43180"/>
                    <a:pt x="1498601" y="43180"/>
                    <a:pt x="1496061" y="44450"/>
                  </a:cubicBezTo>
                  <a:cubicBezTo>
                    <a:pt x="1494156" y="45085"/>
                    <a:pt x="1492250" y="46990"/>
                    <a:pt x="1490981" y="48260"/>
                  </a:cubicBezTo>
                  <a:cubicBezTo>
                    <a:pt x="1489711" y="50165"/>
                    <a:pt x="1488441" y="52070"/>
                    <a:pt x="1487806" y="54610"/>
                  </a:cubicBezTo>
                  <a:cubicBezTo>
                    <a:pt x="1487806" y="57150"/>
                    <a:pt x="1487170" y="59690"/>
                    <a:pt x="1487170" y="62865"/>
                  </a:cubicBezTo>
                  <a:lnTo>
                    <a:pt x="1487170" y="108585"/>
                  </a:lnTo>
                  <a:lnTo>
                    <a:pt x="1471931" y="108585"/>
                  </a:lnTo>
                  <a:lnTo>
                    <a:pt x="1471931" y="30480"/>
                  </a:lnTo>
                  <a:lnTo>
                    <a:pt x="1487170" y="30480"/>
                  </a:lnTo>
                  <a:lnTo>
                    <a:pt x="1487170" y="38100"/>
                  </a:lnTo>
                  <a:cubicBezTo>
                    <a:pt x="1487170" y="38100"/>
                    <a:pt x="1489076" y="35560"/>
                    <a:pt x="1490981" y="34290"/>
                  </a:cubicBezTo>
                  <a:cubicBezTo>
                    <a:pt x="1492250" y="33020"/>
                    <a:pt x="1494156" y="32385"/>
                    <a:pt x="1495426" y="31115"/>
                  </a:cubicBezTo>
                  <a:cubicBezTo>
                    <a:pt x="1497331" y="30480"/>
                    <a:pt x="1499236" y="29845"/>
                    <a:pt x="1501140" y="29210"/>
                  </a:cubicBezTo>
                  <a:close/>
                  <a:moveTo>
                    <a:pt x="1250316" y="29210"/>
                  </a:moveTo>
                  <a:cubicBezTo>
                    <a:pt x="1255396" y="29210"/>
                    <a:pt x="1259841" y="29845"/>
                    <a:pt x="1264286" y="31750"/>
                  </a:cubicBezTo>
                  <a:cubicBezTo>
                    <a:pt x="1268731" y="33655"/>
                    <a:pt x="1273176" y="35560"/>
                    <a:pt x="1276350" y="38100"/>
                  </a:cubicBezTo>
                  <a:lnTo>
                    <a:pt x="1278256" y="38100"/>
                  </a:lnTo>
                  <a:lnTo>
                    <a:pt x="1271271" y="50165"/>
                  </a:lnTo>
                  <a:cubicBezTo>
                    <a:pt x="1268095" y="47625"/>
                    <a:pt x="1264921" y="46355"/>
                    <a:pt x="1261746" y="45085"/>
                  </a:cubicBezTo>
                  <a:cubicBezTo>
                    <a:pt x="1258570" y="43815"/>
                    <a:pt x="1254761" y="43180"/>
                    <a:pt x="1250951" y="43180"/>
                  </a:cubicBezTo>
                  <a:cubicBezTo>
                    <a:pt x="1247141" y="43180"/>
                    <a:pt x="1244601" y="43815"/>
                    <a:pt x="1242696" y="45085"/>
                  </a:cubicBezTo>
                  <a:cubicBezTo>
                    <a:pt x="1240791" y="46355"/>
                    <a:pt x="1240156" y="48260"/>
                    <a:pt x="1240156" y="50165"/>
                  </a:cubicBezTo>
                  <a:cubicBezTo>
                    <a:pt x="1240156" y="51435"/>
                    <a:pt x="1240156" y="52070"/>
                    <a:pt x="1240156" y="52705"/>
                  </a:cubicBezTo>
                  <a:cubicBezTo>
                    <a:pt x="1240156" y="53340"/>
                    <a:pt x="1241426" y="54610"/>
                    <a:pt x="1242061" y="55245"/>
                  </a:cubicBezTo>
                  <a:cubicBezTo>
                    <a:pt x="1243331" y="55880"/>
                    <a:pt x="1244601" y="57150"/>
                    <a:pt x="1246506" y="57785"/>
                  </a:cubicBezTo>
                  <a:cubicBezTo>
                    <a:pt x="1248411" y="59055"/>
                    <a:pt x="1250951" y="59690"/>
                    <a:pt x="1253491" y="60960"/>
                  </a:cubicBezTo>
                  <a:cubicBezTo>
                    <a:pt x="1257936" y="62865"/>
                    <a:pt x="1261746" y="64135"/>
                    <a:pt x="1264921" y="66040"/>
                  </a:cubicBezTo>
                  <a:cubicBezTo>
                    <a:pt x="1268095" y="67310"/>
                    <a:pt x="1270635" y="69215"/>
                    <a:pt x="1273176" y="71120"/>
                  </a:cubicBezTo>
                  <a:cubicBezTo>
                    <a:pt x="1275080" y="73025"/>
                    <a:pt x="1276985" y="75565"/>
                    <a:pt x="1278256" y="78105"/>
                  </a:cubicBezTo>
                  <a:cubicBezTo>
                    <a:pt x="1279525" y="80645"/>
                    <a:pt x="1280161" y="83820"/>
                    <a:pt x="1280161" y="87630"/>
                  </a:cubicBezTo>
                  <a:cubicBezTo>
                    <a:pt x="1280161" y="92075"/>
                    <a:pt x="1279525" y="95250"/>
                    <a:pt x="1277621" y="98425"/>
                  </a:cubicBezTo>
                  <a:cubicBezTo>
                    <a:pt x="1275716" y="101600"/>
                    <a:pt x="1273811" y="103505"/>
                    <a:pt x="1271271" y="105410"/>
                  </a:cubicBezTo>
                  <a:cubicBezTo>
                    <a:pt x="1268731" y="107315"/>
                    <a:pt x="1265556" y="108585"/>
                    <a:pt x="1261746" y="109220"/>
                  </a:cubicBezTo>
                  <a:cubicBezTo>
                    <a:pt x="1257936" y="109855"/>
                    <a:pt x="1254761" y="110490"/>
                    <a:pt x="1250951" y="110490"/>
                  </a:cubicBezTo>
                  <a:cubicBezTo>
                    <a:pt x="1245871" y="110490"/>
                    <a:pt x="1240791" y="109855"/>
                    <a:pt x="1235711" y="107950"/>
                  </a:cubicBezTo>
                  <a:cubicBezTo>
                    <a:pt x="1229996" y="106045"/>
                    <a:pt x="1225551" y="103505"/>
                    <a:pt x="1221106" y="100965"/>
                  </a:cubicBezTo>
                  <a:lnTo>
                    <a:pt x="1228091" y="89535"/>
                  </a:lnTo>
                  <a:cubicBezTo>
                    <a:pt x="1231901" y="92075"/>
                    <a:pt x="1235711" y="93980"/>
                    <a:pt x="1239521" y="95250"/>
                  </a:cubicBezTo>
                  <a:cubicBezTo>
                    <a:pt x="1243331" y="96520"/>
                    <a:pt x="1247141" y="97155"/>
                    <a:pt x="1250951" y="97155"/>
                  </a:cubicBezTo>
                  <a:cubicBezTo>
                    <a:pt x="1256031" y="97155"/>
                    <a:pt x="1259205" y="96520"/>
                    <a:pt x="1261746" y="94615"/>
                  </a:cubicBezTo>
                  <a:cubicBezTo>
                    <a:pt x="1264286" y="93345"/>
                    <a:pt x="1264921" y="90805"/>
                    <a:pt x="1264921" y="88265"/>
                  </a:cubicBezTo>
                  <a:cubicBezTo>
                    <a:pt x="1264921" y="86995"/>
                    <a:pt x="1264921" y="85725"/>
                    <a:pt x="1263650" y="84455"/>
                  </a:cubicBezTo>
                  <a:cubicBezTo>
                    <a:pt x="1263015" y="83185"/>
                    <a:pt x="1261746" y="82550"/>
                    <a:pt x="1259841" y="81280"/>
                  </a:cubicBezTo>
                  <a:cubicBezTo>
                    <a:pt x="1258570" y="80010"/>
                    <a:pt x="1256666" y="79375"/>
                    <a:pt x="1254125" y="78105"/>
                  </a:cubicBezTo>
                  <a:cubicBezTo>
                    <a:pt x="1252221" y="77470"/>
                    <a:pt x="1249681" y="76200"/>
                    <a:pt x="1246506" y="74930"/>
                  </a:cubicBezTo>
                  <a:cubicBezTo>
                    <a:pt x="1242061" y="73025"/>
                    <a:pt x="1238886" y="71755"/>
                    <a:pt x="1235711" y="69850"/>
                  </a:cubicBezTo>
                  <a:cubicBezTo>
                    <a:pt x="1232536" y="67945"/>
                    <a:pt x="1230631" y="66675"/>
                    <a:pt x="1228726" y="64770"/>
                  </a:cubicBezTo>
                  <a:cubicBezTo>
                    <a:pt x="1226821" y="62865"/>
                    <a:pt x="1225551" y="60960"/>
                    <a:pt x="1224916" y="58420"/>
                  </a:cubicBezTo>
                  <a:cubicBezTo>
                    <a:pt x="1224281" y="55880"/>
                    <a:pt x="1223646" y="53340"/>
                    <a:pt x="1223646" y="50165"/>
                  </a:cubicBezTo>
                  <a:cubicBezTo>
                    <a:pt x="1223646" y="46990"/>
                    <a:pt x="1224281" y="43815"/>
                    <a:pt x="1225551" y="40640"/>
                  </a:cubicBezTo>
                  <a:cubicBezTo>
                    <a:pt x="1226821" y="38100"/>
                    <a:pt x="1228726" y="35560"/>
                    <a:pt x="1231266" y="34290"/>
                  </a:cubicBezTo>
                  <a:cubicBezTo>
                    <a:pt x="1233806" y="32385"/>
                    <a:pt x="1236346" y="31115"/>
                    <a:pt x="1239521" y="30480"/>
                  </a:cubicBezTo>
                  <a:cubicBezTo>
                    <a:pt x="1242696" y="29845"/>
                    <a:pt x="1246506" y="29210"/>
                    <a:pt x="1250316" y="29210"/>
                  </a:cubicBezTo>
                  <a:close/>
                  <a:moveTo>
                    <a:pt x="1180466" y="29210"/>
                  </a:moveTo>
                  <a:cubicBezTo>
                    <a:pt x="1186181" y="29210"/>
                    <a:pt x="1190626" y="30480"/>
                    <a:pt x="1195071" y="32385"/>
                  </a:cubicBezTo>
                  <a:cubicBezTo>
                    <a:pt x="1198881" y="34290"/>
                    <a:pt x="1202691" y="37465"/>
                    <a:pt x="1205231" y="40640"/>
                  </a:cubicBezTo>
                  <a:cubicBezTo>
                    <a:pt x="1207771" y="44450"/>
                    <a:pt x="1209676" y="48260"/>
                    <a:pt x="1211581" y="53340"/>
                  </a:cubicBezTo>
                  <a:cubicBezTo>
                    <a:pt x="1212851" y="57785"/>
                    <a:pt x="1213486" y="62865"/>
                    <a:pt x="1213486" y="68580"/>
                  </a:cubicBezTo>
                  <a:lnTo>
                    <a:pt x="1212216" y="68580"/>
                  </a:lnTo>
                  <a:cubicBezTo>
                    <a:pt x="1212216" y="68580"/>
                    <a:pt x="1212216" y="71120"/>
                    <a:pt x="1212216" y="72390"/>
                  </a:cubicBezTo>
                  <a:cubicBezTo>
                    <a:pt x="1212216" y="73660"/>
                    <a:pt x="1212216" y="74295"/>
                    <a:pt x="1212216" y="75565"/>
                  </a:cubicBezTo>
                  <a:lnTo>
                    <a:pt x="1160781" y="75565"/>
                  </a:lnTo>
                  <a:cubicBezTo>
                    <a:pt x="1160781" y="79375"/>
                    <a:pt x="1162051" y="82550"/>
                    <a:pt x="1163321" y="85090"/>
                  </a:cubicBezTo>
                  <a:cubicBezTo>
                    <a:pt x="1164591" y="87630"/>
                    <a:pt x="1165861" y="90170"/>
                    <a:pt x="1167766" y="91440"/>
                  </a:cubicBezTo>
                  <a:cubicBezTo>
                    <a:pt x="1169671" y="93345"/>
                    <a:pt x="1171576" y="94615"/>
                    <a:pt x="1173481" y="95250"/>
                  </a:cubicBezTo>
                  <a:cubicBezTo>
                    <a:pt x="1175386" y="95885"/>
                    <a:pt x="1177926" y="96520"/>
                    <a:pt x="1180466" y="96520"/>
                  </a:cubicBezTo>
                  <a:cubicBezTo>
                    <a:pt x="1182371" y="96520"/>
                    <a:pt x="1183641" y="96520"/>
                    <a:pt x="1185546" y="96520"/>
                  </a:cubicBezTo>
                  <a:cubicBezTo>
                    <a:pt x="1186816" y="96520"/>
                    <a:pt x="1188721" y="95885"/>
                    <a:pt x="1189991" y="95250"/>
                  </a:cubicBezTo>
                  <a:cubicBezTo>
                    <a:pt x="1191261" y="95250"/>
                    <a:pt x="1192531" y="93980"/>
                    <a:pt x="1193801" y="93345"/>
                  </a:cubicBezTo>
                  <a:cubicBezTo>
                    <a:pt x="1195071" y="93345"/>
                    <a:pt x="1196341" y="92075"/>
                    <a:pt x="1198246" y="90805"/>
                  </a:cubicBezTo>
                  <a:lnTo>
                    <a:pt x="1207136" y="100330"/>
                  </a:lnTo>
                  <a:cubicBezTo>
                    <a:pt x="1207136" y="100330"/>
                    <a:pt x="1203326" y="103505"/>
                    <a:pt x="1201421" y="104775"/>
                  </a:cubicBezTo>
                  <a:cubicBezTo>
                    <a:pt x="1199516" y="106045"/>
                    <a:pt x="1197611" y="106680"/>
                    <a:pt x="1195706" y="107950"/>
                  </a:cubicBezTo>
                  <a:cubicBezTo>
                    <a:pt x="1193801" y="108585"/>
                    <a:pt x="1191261" y="109855"/>
                    <a:pt x="1188721" y="109855"/>
                  </a:cubicBezTo>
                  <a:cubicBezTo>
                    <a:pt x="1186181" y="109855"/>
                    <a:pt x="1183006" y="110490"/>
                    <a:pt x="1179831" y="110490"/>
                  </a:cubicBezTo>
                  <a:cubicBezTo>
                    <a:pt x="1176656" y="110490"/>
                    <a:pt x="1173481" y="110490"/>
                    <a:pt x="1170306" y="109220"/>
                  </a:cubicBezTo>
                  <a:cubicBezTo>
                    <a:pt x="1167131" y="108585"/>
                    <a:pt x="1164591" y="107315"/>
                    <a:pt x="1162686" y="105410"/>
                  </a:cubicBezTo>
                  <a:cubicBezTo>
                    <a:pt x="1160781" y="103505"/>
                    <a:pt x="1158241" y="102235"/>
                    <a:pt x="1156336" y="100330"/>
                  </a:cubicBezTo>
                  <a:cubicBezTo>
                    <a:pt x="1154431" y="98425"/>
                    <a:pt x="1152526" y="95885"/>
                    <a:pt x="1151256" y="92710"/>
                  </a:cubicBezTo>
                  <a:cubicBezTo>
                    <a:pt x="1149351" y="89535"/>
                    <a:pt x="1148081" y="86360"/>
                    <a:pt x="1147446" y="82550"/>
                  </a:cubicBezTo>
                  <a:cubicBezTo>
                    <a:pt x="1146811" y="78740"/>
                    <a:pt x="1146176" y="74295"/>
                    <a:pt x="1146176" y="69850"/>
                  </a:cubicBezTo>
                  <a:cubicBezTo>
                    <a:pt x="1146176" y="63500"/>
                    <a:pt x="1146811" y="57150"/>
                    <a:pt x="1148716" y="52070"/>
                  </a:cubicBezTo>
                  <a:cubicBezTo>
                    <a:pt x="1150621" y="46990"/>
                    <a:pt x="1152526" y="42545"/>
                    <a:pt x="1155701" y="39370"/>
                  </a:cubicBezTo>
                  <a:cubicBezTo>
                    <a:pt x="1158876" y="36195"/>
                    <a:pt x="1162051" y="33020"/>
                    <a:pt x="1166496" y="31750"/>
                  </a:cubicBezTo>
                  <a:cubicBezTo>
                    <a:pt x="1170941" y="29845"/>
                    <a:pt x="1175386" y="29210"/>
                    <a:pt x="1180466" y="29210"/>
                  </a:cubicBezTo>
                  <a:close/>
                  <a:moveTo>
                    <a:pt x="901065" y="29210"/>
                  </a:moveTo>
                  <a:cubicBezTo>
                    <a:pt x="906780" y="29210"/>
                    <a:pt x="911225" y="30480"/>
                    <a:pt x="915670" y="32385"/>
                  </a:cubicBezTo>
                  <a:cubicBezTo>
                    <a:pt x="919480" y="34290"/>
                    <a:pt x="923290" y="37465"/>
                    <a:pt x="925830" y="40640"/>
                  </a:cubicBezTo>
                  <a:cubicBezTo>
                    <a:pt x="928370" y="44450"/>
                    <a:pt x="930275" y="48260"/>
                    <a:pt x="932180" y="53340"/>
                  </a:cubicBezTo>
                  <a:cubicBezTo>
                    <a:pt x="933450" y="57785"/>
                    <a:pt x="934085" y="62865"/>
                    <a:pt x="934085" y="68580"/>
                  </a:cubicBezTo>
                  <a:lnTo>
                    <a:pt x="932815" y="68580"/>
                  </a:lnTo>
                  <a:cubicBezTo>
                    <a:pt x="932815" y="68580"/>
                    <a:pt x="932815" y="71120"/>
                    <a:pt x="932815" y="72390"/>
                  </a:cubicBezTo>
                  <a:cubicBezTo>
                    <a:pt x="932815" y="73660"/>
                    <a:pt x="932815" y="74295"/>
                    <a:pt x="932815" y="75565"/>
                  </a:cubicBezTo>
                  <a:lnTo>
                    <a:pt x="881380" y="75565"/>
                  </a:lnTo>
                  <a:cubicBezTo>
                    <a:pt x="881380" y="79375"/>
                    <a:pt x="882650" y="82550"/>
                    <a:pt x="883920" y="85090"/>
                  </a:cubicBezTo>
                  <a:cubicBezTo>
                    <a:pt x="885190" y="87630"/>
                    <a:pt x="886460" y="90170"/>
                    <a:pt x="888365" y="91440"/>
                  </a:cubicBezTo>
                  <a:cubicBezTo>
                    <a:pt x="890270" y="93345"/>
                    <a:pt x="892175" y="94615"/>
                    <a:pt x="894080" y="95250"/>
                  </a:cubicBezTo>
                  <a:cubicBezTo>
                    <a:pt x="895985" y="95885"/>
                    <a:pt x="898525" y="96520"/>
                    <a:pt x="901065" y="96520"/>
                  </a:cubicBezTo>
                  <a:cubicBezTo>
                    <a:pt x="902970" y="96520"/>
                    <a:pt x="904240" y="96520"/>
                    <a:pt x="906145" y="96520"/>
                  </a:cubicBezTo>
                  <a:cubicBezTo>
                    <a:pt x="907415" y="96520"/>
                    <a:pt x="909320" y="95885"/>
                    <a:pt x="910590" y="95250"/>
                  </a:cubicBezTo>
                  <a:cubicBezTo>
                    <a:pt x="911860" y="95250"/>
                    <a:pt x="913130" y="93980"/>
                    <a:pt x="914400" y="93345"/>
                  </a:cubicBezTo>
                  <a:cubicBezTo>
                    <a:pt x="915670" y="93345"/>
                    <a:pt x="916940" y="92075"/>
                    <a:pt x="918845" y="90805"/>
                  </a:cubicBezTo>
                  <a:lnTo>
                    <a:pt x="927735" y="100330"/>
                  </a:lnTo>
                  <a:cubicBezTo>
                    <a:pt x="927735" y="100330"/>
                    <a:pt x="923925" y="103505"/>
                    <a:pt x="922020" y="104775"/>
                  </a:cubicBezTo>
                  <a:cubicBezTo>
                    <a:pt x="920115" y="106045"/>
                    <a:pt x="918210" y="106680"/>
                    <a:pt x="916305" y="107950"/>
                  </a:cubicBezTo>
                  <a:cubicBezTo>
                    <a:pt x="914400" y="108585"/>
                    <a:pt x="911860" y="109855"/>
                    <a:pt x="909320" y="109855"/>
                  </a:cubicBezTo>
                  <a:cubicBezTo>
                    <a:pt x="906780" y="109855"/>
                    <a:pt x="903605" y="110490"/>
                    <a:pt x="900430" y="110490"/>
                  </a:cubicBezTo>
                  <a:cubicBezTo>
                    <a:pt x="897255" y="110490"/>
                    <a:pt x="894080" y="110490"/>
                    <a:pt x="890905" y="109220"/>
                  </a:cubicBezTo>
                  <a:cubicBezTo>
                    <a:pt x="887730" y="108585"/>
                    <a:pt x="885190" y="107315"/>
                    <a:pt x="883285" y="105410"/>
                  </a:cubicBezTo>
                  <a:cubicBezTo>
                    <a:pt x="881380" y="103505"/>
                    <a:pt x="878840" y="102235"/>
                    <a:pt x="876935" y="100330"/>
                  </a:cubicBezTo>
                  <a:cubicBezTo>
                    <a:pt x="875030" y="98425"/>
                    <a:pt x="873125" y="95885"/>
                    <a:pt x="871855" y="92710"/>
                  </a:cubicBezTo>
                  <a:cubicBezTo>
                    <a:pt x="869950" y="89535"/>
                    <a:pt x="868680" y="86360"/>
                    <a:pt x="868045" y="82550"/>
                  </a:cubicBezTo>
                  <a:cubicBezTo>
                    <a:pt x="867410" y="78740"/>
                    <a:pt x="866775" y="74295"/>
                    <a:pt x="866775" y="69850"/>
                  </a:cubicBezTo>
                  <a:cubicBezTo>
                    <a:pt x="866775" y="63500"/>
                    <a:pt x="867410" y="57150"/>
                    <a:pt x="869315" y="52070"/>
                  </a:cubicBezTo>
                  <a:cubicBezTo>
                    <a:pt x="871220" y="46990"/>
                    <a:pt x="873125" y="42545"/>
                    <a:pt x="876300" y="39370"/>
                  </a:cubicBezTo>
                  <a:cubicBezTo>
                    <a:pt x="879475" y="36195"/>
                    <a:pt x="882650" y="33020"/>
                    <a:pt x="887095" y="31750"/>
                  </a:cubicBezTo>
                  <a:cubicBezTo>
                    <a:pt x="891540" y="29845"/>
                    <a:pt x="895985" y="29210"/>
                    <a:pt x="901065" y="29210"/>
                  </a:cubicBezTo>
                  <a:close/>
                  <a:moveTo>
                    <a:pt x="668656" y="29210"/>
                  </a:moveTo>
                  <a:cubicBezTo>
                    <a:pt x="671830" y="29210"/>
                    <a:pt x="674370" y="29210"/>
                    <a:pt x="676275" y="29845"/>
                  </a:cubicBezTo>
                  <a:cubicBezTo>
                    <a:pt x="678181" y="29845"/>
                    <a:pt x="680086" y="31115"/>
                    <a:pt x="681991" y="32385"/>
                  </a:cubicBezTo>
                  <a:lnTo>
                    <a:pt x="678181" y="46990"/>
                  </a:lnTo>
                  <a:lnTo>
                    <a:pt x="676910" y="46990"/>
                  </a:lnTo>
                  <a:cubicBezTo>
                    <a:pt x="676910" y="46990"/>
                    <a:pt x="673736" y="45085"/>
                    <a:pt x="671830" y="45085"/>
                  </a:cubicBezTo>
                  <a:cubicBezTo>
                    <a:pt x="669925" y="45085"/>
                    <a:pt x="668020" y="44450"/>
                    <a:pt x="665480" y="44450"/>
                  </a:cubicBezTo>
                  <a:cubicBezTo>
                    <a:pt x="660400" y="44450"/>
                    <a:pt x="656590" y="46355"/>
                    <a:pt x="654050" y="49530"/>
                  </a:cubicBezTo>
                  <a:cubicBezTo>
                    <a:pt x="651510" y="52705"/>
                    <a:pt x="650240" y="57785"/>
                    <a:pt x="650240" y="64770"/>
                  </a:cubicBezTo>
                  <a:lnTo>
                    <a:pt x="650240" y="109220"/>
                  </a:lnTo>
                  <a:lnTo>
                    <a:pt x="635000" y="109220"/>
                  </a:lnTo>
                  <a:lnTo>
                    <a:pt x="635000" y="31115"/>
                  </a:lnTo>
                  <a:lnTo>
                    <a:pt x="650240" y="31115"/>
                  </a:lnTo>
                  <a:lnTo>
                    <a:pt x="650240" y="38735"/>
                  </a:lnTo>
                  <a:cubicBezTo>
                    <a:pt x="650240" y="38735"/>
                    <a:pt x="652145" y="36195"/>
                    <a:pt x="653416" y="34925"/>
                  </a:cubicBezTo>
                  <a:cubicBezTo>
                    <a:pt x="654685" y="33655"/>
                    <a:pt x="655955" y="33020"/>
                    <a:pt x="657861" y="31750"/>
                  </a:cubicBezTo>
                  <a:cubicBezTo>
                    <a:pt x="659130" y="31115"/>
                    <a:pt x="661035" y="30480"/>
                    <a:pt x="662940" y="29845"/>
                  </a:cubicBezTo>
                  <a:cubicBezTo>
                    <a:pt x="664845" y="29845"/>
                    <a:pt x="666751" y="29210"/>
                    <a:pt x="668656" y="29210"/>
                  </a:cubicBezTo>
                  <a:close/>
                  <a:moveTo>
                    <a:pt x="586739" y="29210"/>
                  </a:moveTo>
                  <a:cubicBezTo>
                    <a:pt x="592454" y="29210"/>
                    <a:pt x="596899" y="30480"/>
                    <a:pt x="601344" y="32385"/>
                  </a:cubicBezTo>
                  <a:cubicBezTo>
                    <a:pt x="605154" y="34290"/>
                    <a:pt x="608964" y="37465"/>
                    <a:pt x="611504" y="40640"/>
                  </a:cubicBezTo>
                  <a:cubicBezTo>
                    <a:pt x="614044" y="44450"/>
                    <a:pt x="615949" y="48260"/>
                    <a:pt x="617854" y="53340"/>
                  </a:cubicBezTo>
                  <a:cubicBezTo>
                    <a:pt x="619124" y="57785"/>
                    <a:pt x="619759" y="62865"/>
                    <a:pt x="619759" y="68580"/>
                  </a:cubicBezTo>
                  <a:lnTo>
                    <a:pt x="618489" y="68580"/>
                  </a:lnTo>
                  <a:cubicBezTo>
                    <a:pt x="618489" y="68580"/>
                    <a:pt x="618489" y="71120"/>
                    <a:pt x="618489" y="72390"/>
                  </a:cubicBezTo>
                  <a:cubicBezTo>
                    <a:pt x="618489" y="73660"/>
                    <a:pt x="618489" y="74295"/>
                    <a:pt x="618489" y="75565"/>
                  </a:cubicBezTo>
                  <a:lnTo>
                    <a:pt x="567054" y="75565"/>
                  </a:lnTo>
                  <a:cubicBezTo>
                    <a:pt x="567054" y="79375"/>
                    <a:pt x="568324" y="82550"/>
                    <a:pt x="569594" y="85090"/>
                  </a:cubicBezTo>
                  <a:cubicBezTo>
                    <a:pt x="570864" y="87630"/>
                    <a:pt x="572134" y="90170"/>
                    <a:pt x="574039" y="91440"/>
                  </a:cubicBezTo>
                  <a:cubicBezTo>
                    <a:pt x="575944" y="93345"/>
                    <a:pt x="577849" y="94615"/>
                    <a:pt x="579754" y="95250"/>
                  </a:cubicBezTo>
                  <a:cubicBezTo>
                    <a:pt x="581659" y="95885"/>
                    <a:pt x="584199" y="96520"/>
                    <a:pt x="586739" y="96520"/>
                  </a:cubicBezTo>
                  <a:cubicBezTo>
                    <a:pt x="588644" y="96520"/>
                    <a:pt x="589914" y="96520"/>
                    <a:pt x="591819" y="96520"/>
                  </a:cubicBezTo>
                  <a:cubicBezTo>
                    <a:pt x="593089" y="96520"/>
                    <a:pt x="594994" y="95885"/>
                    <a:pt x="596264" y="95250"/>
                  </a:cubicBezTo>
                  <a:cubicBezTo>
                    <a:pt x="597534" y="95250"/>
                    <a:pt x="598804" y="93980"/>
                    <a:pt x="600074" y="93345"/>
                  </a:cubicBezTo>
                  <a:cubicBezTo>
                    <a:pt x="601344" y="93345"/>
                    <a:pt x="602614" y="92075"/>
                    <a:pt x="604519" y="90805"/>
                  </a:cubicBezTo>
                  <a:lnTo>
                    <a:pt x="613409" y="100330"/>
                  </a:lnTo>
                  <a:cubicBezTo>
                    <a:pt x="613409" y="100330"/>
                    <a:pt x="609599" y="103505"/>
                    <a:pt x="607694" y="104775"/>
                  </a:cubicBezTo>
                  <a:cubicBezTo>
                    <a:pt x="605789" y="106045"/>
                    <a:pt x="603884" y="106680"/>
                    <a:pt x="601979" y="107950"/>
                  </a:cubicBezTo>
                  <a:cubicBezTo>
                    <a:pt x="600074" y="108585"/>
                    <a:pt x="597534" y="109855"/>
                    <a:pt x="594994" y="109855"/>
                  </a:cubicBezTo>
                  <a:cubicBezTo>
                    <a:pt x="592454" y="109855"/>
                    <a:pt x="589279" y="110490"/>
                    <a:pt x="586104" y="110490"/>
                  </a:cubicBezTo>
                  <a:cubicBezTo>
                    <a:pt x="582929" y="110490"/>
                    <a:pt x="579754" y="110490"/>
                    <a:pt x="576579" y="109220"/>
                  </a:cubicBezTo>
                  <a:cubicBezTo>
                    <a:pt x="573404" y="108585"/>
                    <a:pt x="570864" y="107315"/>
                    <a:pt x="568959" y="105410"/>
                  </a:cubicBezTo>
                  <a:cubicBezTo>
                    <a:pt x="566419" y="104140"/>
                    <a:pt x="564514" y="102235"/>
                    <a:pt x="562609" y="100330"/>
                  </a:cubicBezTo>
                  <a:cubicBezTo>
                    <a:pt x="560704" y="98425"/>
                    <a:pt x="558799" y="95885"/>
                    <a:pt x="557529" y="92710"/>
                  </a:cubicBezTo>
                  <a:cubicBezTo>
                    <a:pt x="555624" y="89535"/>
                    <a:pt x="554354" y="86360"/>
                    <a:pt x="553719" y="82550"/>
                  </a:cubicBezTo>
                  <a:cubicBezTo>
                    <a:pt x="553084" y="78740"/>
                    <a:pt x="552449" y="74295"/>
                    <a:pt x="552449" y="69850"/>
                  </a:cubicBezTo>
                  <a:cubicBezTo>
                    <a:pt x="552449" y="63500"/>
                    <a:pt x="553084" y="57150"/>
                    <a:pt x="554989" y="52070"/>
                  </a:cubicBezTo>
                  <a:cubicBezTo>
                    <a:pt x="556894" y="46990"/>
                    <a:pt x="558799" y="42545"/>
                    <a:pt x="561974" y="39370"/>
                  </a:cubicBezTo>
                  <a:cubicBezTo>
                    <a:pt x="565149" y="36195"/>
                    <a:pt x="568324" y="33020"/>
                    <a:pt x="572769" y="31750"/>
                  </a:cubicBezTo>
                  <a:cubicBezTo>
                    <a:pt x="577214" y="29845"/>
                    <a:pt x="581659" y="29210"/>
                    <a:pt x="586739" y="29210"/>
                  </a:cubicBezTo>
                  <a:close/>
                  <a:moveTo>
                    <a:pt x="400050" y="29210"/>
                  </a:moveTo>
                  <a:cubicBezTo>
                    <a:pt x="405765" y="29210"/>
                    <a:pt x="410210" y="30480"/>
                    <a:pt x="414655" y="32385"/>
                  </a:cubicBezTo>
                  <a:cubicBezTo>
                    <a:pt x="418465" y="34290"/>
                    <a:pt x="422275" y="37465"/>
                    <a:pt x="424815" y="40640"/>
                  </a:cubicBezTo>
                  <a:cubicBezTo>
                    <a:pt x="427355" y="44450"/>
                    <a:pt x="429260" y="48260"/>
                    <a:pt x="431165" y="53340"/>
                  </a:cubicBezTo>
                  <a:cubicBezTo>
                    <a:pt x="432435" y="57785"/>
                    <a:pt x="433070" y="62865"/>
                    <a:pt x="433070" y="68580"/>
                  </a:cubicBezTo>
                  <a:lnTo>
                    <a:pt x="431800" y="68580"/>
                  </a:lnTo>
                  <a:cubicBezTo>
                    <a:pt x="431800" y="68580"/>
                    <a:pt x="431800" y="71120"/>
                    <a:pt x="431800" y="72390"/>
                  </a:cubicBezTo>
                  <a:cubicBezTo>
                    <a:pt x="431800" y="73660"/>
                    <a:pt x="431800" y="74295"/>
                    <a:pt x="431800" y="75565"/>
                  </a:cubicBezTo>
                  <a:lnTo>
                    <a:pt x="380365" y="75565"/>
                  </a:lnTo>
                  <a:cubicBezTo>
                    <a:pt x="380365" y="79375"/>
                    <a:pt x="381635" y="82550"/>
                    <a:pt x="382905" y="85090"/>
                  </a:cubicBezTo>
                  <a:cubicBezTo>
                    <a:pt x="384175" y="87630"/>
                    <a:pt x="385445" y="90170"/>
                    <a:pt x="387350" y="91440"/>
                  </a:cubicBezTo>
                  <a:cubicBezTo>
                    <a:pt x="389255" y="93345"/>
                    <a:pt x="391160" y="94615"/>
                    <a:pt x="393065" y="95250"/>
                  </a:cubicBezTo>
                  <a:cubicBezTo>
                    <a:pt x="394970" y="95885"/>
                    <a:pt x="397510" y="96520"/>
                    <a:pt x="400050" y="96520"/>
                  </a:cubicBezTo>
                  <a:cubicBezTo>
                    <a:pt x="401955" y="96520"/>
                    <a:pt x="403225" y="96520"/>
                    <a:pt x="405130" y="96520"/>
                  </a:cubicBezTo>
                  <a:cubicBezTo>
                    <a:pt x="406400" y="96520"/>
                    <a:pt x="408305" y="95885"/>
                    <a:pt x="409575" y="95250"/>
                  </a:cubicBezTo>
                  <a:cubicBezTo>
                    <a:pt x="410845" y="95250"/>
                    <a:pt x="412115" y="93980"/>
                    <a:pt x="413385" y="93345"/>
                  </a:cubicBezTo>
                  <a:cubicBezTo>
                    <a:pt x="414655" y="93345"/>
                    <a:pt x="415925" y="92075"/>
                    <a:pt x="417830" y="90805"/>
                  </a:cubicBezTo>
                  <a:lnTo>
                    <a:pt x="426720" y="100330"/>
                  </a:lnTo>
                  <a:cubicBezTo>
                    <a:pt x="426720" y="100330"/>
                    <a:pt x="422910" y="103505"/>
                    <a:pt x="421005" y="104775"/>
                  </a:cubicBezTo>
                  <a:cubicBezTo>
                    <a:pt x="419100" y="106045"/>
                    <a:pt x="417195" y="106680"/>
                    <a:pt x="415290" y="107950"/>
                  </a:cubicBezTo>
                  <a:cubicBezTo>
                    <a:pt x="413385" y="108585"/>
                    <a:pt x="410845" y="109855"/>
                    <a:pt x="408305" y="109855"/>
                  </a:cubicBezTo>
                  <a:cubicBezTo>
                    <a:pt x="405765" y="109855"/>
                    <a:pt x="402590" y="110490"/>
                    <a:pt x="399415" y="110490"/>
                  </a:cubicBezTo>
                  <a:cubicBezTo>
                    <a:pt x="396240" y="110490"/>
                    <a:pt x="393065" y="110490"/>
                    <a:pt x="389890" y="109220"/>
                  </a:cubicBezTo>
                  <a:cubicBezTo>
                    <a:pt x="386715" y="108585"/>
                    <a:pt x="384175" y="107315"/>
                    <a:pt x="382270" y="105410"/>
                  </a:cubicBezTo>
                  <a:cubicBezTo>
                    <a:pt x="380365" y="103505"/>
                    <a:pt x="377825" y="102235"/>
                    <a:pt x="375920" y="100330"/>
                  </a:cubicBezTo>
                  <a:cubicBezTo>
                    <a:pt x="374015" y="98425"/>
                    <a:pt x="372110" y="95885"/>
                    <a:pt x="370840" y="92710"/>
                  </a:cubicBezTo>
                  <a:cubicBezTo>
                    <a:pt x="368935" y="89535"/>
                    <a:pt x="367665" y="86360"/>
                    <a:pt x="367030" y="82550"/>
                  </a:cubicBezTo>
                  <a:cubicBezTo>
                    <a:pt x="366395" y="78740"/>
                    <a:pt x="365760" y="74295"/>
                    <a:pt x="365760" y="69850"/>
                  </a:cubicBezTo>
                  <a:cubicBezTo>
                    <a:pt x="365760" y="63500"/>
                    <a:pt x="366395" y="57150"/>
                    <a:pt x="368300" y="52070"/>
                  </a:cubicBezTo>
                  <a:cubicBezTo>
                    <a:pt x="370205" y="46990"/>
                    <a:pt x="372110" y="42545"/>
                    <a:pt x="375285" y="39370"/>
                  </a:cubicBezTo>
                  <a:cubicBezTo>
                    <a:pt x="378460" y="36195"/>
                    <a:pt x="381635" y="33020"/>
                    <a:pt x="386080" y="31750"/>
                  </a:cubicBezTo>
                  <a:cubicBezTo>
                    <a:pt x="390525" y="29845"/>
                    <a:pt x="394970" y="29210"/>
                    <a:pt x="400050" y="29210"/>
                  </a:cubicBezTo>
                  <a:close/>
                  <a:moveTo>
                    <a:pt x="201930" y="29210"/>
                  </a:moveTo>
                  <a:cubicBezTo>
                    <a:pt x="207645" y="29210"/>
                    <a:pt x="212090" y="30480"/>
                    <a:pt x="216535" y="32385"/>
                  </a:cubicBezTo>
                  <a:cubicBezTo>
                    <a:pt x="220345" y="34290"/>
                    <a:pt x="224155" y="37465"/>
                    <a:pt x="226695" y="40640"/>
                  </a:cubicBezTo>
                  <a:cubicBezTo>
                    <a:pt x="229235" y="44450"/>
                    <a:pt x="231140" y="48260"/>
                    <a:pt x="233045" y="53340"/>
                  </a:cubicBezTo>
                  <a:cubicBezTo>
                    <a:pt x="234315" y="57785"/>
                    <a:pt x="234950" y="62865"/>
                    <a:pt x="234950" y="68580"/>
                  </a:cubicBezTo>
                  <a:lnTo>
                    <a:pt x="233680" y="68580"/>
                  </a:lnTo>
                  <a:cubicBezTo>
                    <a:pt x="233680" y="68580"/>
                    <a:pt x="233680" y="71120"/>
                    <a:pt x="233680" y="72390"/>
                  </a:cubicBezTo>
                  <a:cubicBezTo>
                    <a:pt x="233680" y="73660"/>
                    <a:pt x="233680" y="74295"/>
                    <a:pt x="233680" y="75565"/>
                  </a:cubicBezTo>
                  <a:lnTo>
                    <a:pt x="182245" y="75565"/>
                  </a:lnTo>
                  <a:cubicBezTo>
                    <a:pt x="182245" y="79375"/>
                    <a:pt x="183515" y="82550"/>
                    <a:pt x="184785" y="85090"/>
                  </a:cubicBezTo>
                  <a:cubicBezTo>
                    <a:pt x="186055" y="87630"/>
                    <a:pt x="187325" y="90170"/>
                    <a:pt x="189230" y="91440"/>
                  </a:cubicBezTo>
                  <a:cubicBezTo>
                    <a:pt x="191135" y="93345"/>
                    <a:pt x="193040" y="94615"/>
                    <a:pt x="194945" y="95250"/>
                  </a:cubicBezTo>
                  <a:cubicBezTo>
                    <a:pt x="196850" y="95885"/>
                    <a:pt x="199390" y="96520"/>
                    <a:pt x="201930" y="96520"/>
                  </a:cubicBezTo>
                  <a:cubicBezTo>
                    <a:pt x="203835" y="96520"/>
                    <a:pt x="205105" y="96520"/>
                    <a:pt x="207010" y="96520"/>
                  </a:cubicBezTo>
                  <a:cubicBezTo>
                    <a:pt x="208280" y="96520"/>
                    <a:pt x="210185" y="95885"/>
                    <a:pt x="211455" y="95250"/>
                  </a:cubicBezTo>
                  <a:cubicBezTo>
                    <a:pt x="212725" y="95250"/>
                    <a:pt x="213995" y="93980"/>
                    <a:pt x="215265" y="93345"/>
                  </a:cubicBezTo>
                  <a:cubicBezTo>
                    <a:pt x="216535" y="93345"/>
                    <a:pt x="217805" y="92075"/>
                    <a:pt x="219710" y="90805"/>
                  </a:cubicBezTo>
                  <a:lnTo>
                    <a:pt x="228600" y="100330"/>
                  </a:lnTo>
                  <a:cubicBezTo>
                    <a:pt x="228600" y="100330"/>
                    <a:pt x="224790" y="103505"/>
                    <a:pt x="222885" y="104775"/>
                  </a:cubicBezTo>
                  <a:cubicBezTo>
                    <a:pt x="220980" y="106045"/>
                    <a:pt x="219075" y="106680"/>
                    <a:pt x="217170" y="107950"/>
                  </a:cubicBezTo>
                  <a:cubicBezTo>
                    <a:pt x="215265" y="108585"/>
                    <a:pt x="212725" y="109855"/>
                    <a:pt x="210185" y="109855"/>
                  </a:cubicBezTo>
                  <a:cubicBezTo>
                    <a:pt x="207645" y="109855"/>
                    <a:pt x="204470" y="110490"/>
                    <a:pt x="201295" y="110490"/>
                  </a:cubicBezTo>
                  <a:cubicBezTo>
                    <a:pt x="198120" y="110490"/>
                    <a:pt x="194945" y="110490"/>
                    <a:pt x="191770" y="109220"/>
                  </a:cubicBezTo>
                  <a:cubicBezTo>
                    <a:pt x="188595" y="108585"/>
                    <a:pt x="186055" y="107315"/>
                    <a:pt x="184150" y="105410"/>
                  </a:cubicBezTo>
                  <a:cubicBezTo>
                    <a:pt x="181610" y="104140"/>
                    <a:pt x="179705" y="102235"/>
                    <a:pt x="177800" y="100330"/>
                  </a:cubicBezTo>
                  <a:cubicBezTo>
                    <a:pt x="175895" y="98425"/>
                    <a:pt x="173990" y="95885"/>
                    <a:pt x="172720" y="92710"/>
                  </a:cubicBezTo>
                  <a:cubicBezTo>
                    <a:pt x="170815" y="89535"/>
                    <a:pt x="169545" y="86360"/>
                    <a:pt x="168910" y="82550"/>
                  </a:cubicBezTo>
                  <a:cubicBezTo>
                    <a:pt x="168275" y="78740"/>
                    <a:pt x="167640" y="74295"/>
                    <a:pt x="167640" y="69850"/>
                  </a:cubicBezTo>
                  <a:cubicBezTo>
                    <a:pt x="167640" y="63500"/>
                    <a:pt x="168275" y="57150"/>
                    <a:pt x="170180" y="52070"/>
                  </a:cubicBezTo>
                  <a:cubicBezTo>
                    <a:pt x="172085" y="46990"/>
                    <a:pt x="173990" y="42545"/>
                    <a:pt x="177165" y="39370"/>
                  </a:cubicBezTo>
                  <a:cubicBezTo>
                    <a:pt x="180340" y="36195"/>
                    <a:pt x="183515" y="33020"/>
                    <a:pt x="187960" y="31750"/>
                  </a:cubicBezTo>
                  <a:cubicBezTo>
                    <a:pt x="192405" y="29845"/>
                    <a:pt x="196850" y="29210"/>
                    <a:pt x="201930" y="29210"/>
                  </a:cubicBezTo>
                  <a:close/>
                  <a:moveTo>
                    <a:pt x="4664706" y="28574"/>
                  </a:moveTo>
                  <a:cubicBezTo>
                    <a:pt x="4669786" y="28574"/>
                    <a:pt x="4674231" y="29209"/>
                    <a:pt x="4678676" y="31749"/>
                  </a:cubicBezTo>
                  <a:cubicBezTo>
                    <a:pt x="4683121" y="33654"/>
                    <a:pt x="4686296" y="36194"/>
                    <a:pt x="4689471" y="40004"/>
                  </a:cubicBezTo>
                  <a:cubicBezTo>
                    <a:pt x="4692646" y="43814"/>
                    <a:pt x="4695186" y="47624"/>
                    <a:pt x="4696456" y="52704"/>
                  </a:cubicBezTo>
                  <a:cubicBezTo>
                    <a:pt x="4698361" y="57784"/>
                    <a:pt x="4698996" y="63499"/>
                    <a:pt x="4698996" y="69214"/>
                  </a:cubicBezTo>
                  <a:lnTo>
                    <a:pt x="4699631" y="69214"/>
                  </a:lnTo>
                  <a:cubicBezTo>
                    <a:pt x="4699631" y="75564"/>
                    <a:pt x="4698996" y="81279"/>
                    <a:pt x="4697091" y="86359"/>
                  </a:cubicBezTo>
                  <a:cubicBezTo>
                    <a:pt x="4695186" y="91439"/>
                    <a:pt x="4692646" y="95884"/>
                    <a:pt x="4689471" y="99059"/>
                  </a:cubicBezTo>
                  <a:cubicBezTo>
                    <a:pt x="4686296" y="102869"/>
                    <a:pt x="4682486" y="105409"/>
                    <a:pt x="4678041" y="107314"/>
                  </a:cubicBezTo>
                  <a:cubicBezTo>
                    <a:pt x="4673596" y="109219"/>
                    <a:pt x="4669151" y="109854"/>
                    <a:pt x="4664071" y="109854"/>
                  </a:cubicBezTo>
                  <a:cubicBezTo>
                    <a:pt x="4658991" y="109854"/>
                    <a:pt x="4654546" y="108584"/>
                    <a:pt x="4650101" y="106679"/>
                  </a:cubicBezTo>
                  <a:cubicBezTo>
                    <a:pt x="4645656" y="104774"/>
                    <a:pt x="4642481" y="102234"/>
                    <a:pt x="4639306" y="98424"/>
                  </a:cubicBezTo>
                  <a:cubicBezTo>
                    <a:pt x="4636131" y="94614"/>
                    <a:pt x="4633591" y="90804"/>
                    <a:pt x="4632321" y="85724"/>
                  </a:cubicBezTo>
                  <a:cubicBezTo>
                    <a:pt x="4630416" y="80644"/>
                    <a:pt x="4629781" y="74929"/>
                    <a:pt x="4629781" y="69214"/>
                  </a:cubicBezTo>
                  <a:cubicBezTo>
                    <a:pt x="4629781" y="63499"/>
                    <a:pt x="4630416" y="57149"/>
                    <a:pt x="4632321" y="52069"/>
                  </a:cubicBezTo>
                  <a:cubicBezTo>
                    <a:pt x="4634226" y="46989"/>
                    <a:pt x="4636766" y="42544"/>
                    <a:pt x="4639941" y="39369"/>
                  </a:cubicBezTo>
                  <a:cubicBezTo>
                    <a:pt x="4643116" y="35559"/>
                    <a:pt x="4646926" y="33019"/>
                    <a:pt x="4650736" y="31114"/>
                  </a:cubicBezTo>
                  <a:cubicBezTo>
                    <a:pt x="4655181" y="29209"/>
                    <a:pt x="4659626" y="28574"/>
                    <a:pt x="4664706" y="28574"/>
                  </a:cubicBezTo>
                  <a:close/>
                  <a:moveTo>
                    <a:pt x="4264655" y="28574"/>
                  </a:moveTo>
                  <a:cubicBezTo>
                    <a:pt x="4269735" y="28574"/>
                    <a:pt x="4274180" y="29209"/>
                    <a:pt x="4278625" y="31749"/>
                  </a:cubicBezTo>
                  <a:cubicBezTo>
                    <a:pt x="4283070" y="33654"/>
                    <a:pt x="4286245" y="36194"/>
                    <a:pt x="4289420" y="40004"/>
                  </a:cubicBezTo>
                  <a:cubicBezTo>
                    <a:pt x="4292595" y="43814"/>
                    <a:pt x="4295135" y="47624"/>
                    <a:pt x="4296405" y="52704"/>
                  </a:cubicBezTo>
                  <a:cubicBezTo>
                    <a:pt x="4298310" y="57784"/>
                    <a:pt x="4298945" y="63499"/>
                    <a:pt x="4298945" y="69214"/>
                  </a:cubicBezTo>
                  <a:lnTo>
                    <a:pt x="4299580" y="69214"/>
                  </a:lnTo>
                  <a:cubicBezTo>
                    <a:pt x="4299580" y="75564"/>
                    <a:pt x="4298945" y="81279"/>
                    <a:pt x="4297040" y="86359"/>
                  </a:cubicBezTo>
                  <a:cubicBezTo>
                    <a:pt x="4295135" y="91439"/>
                    <a:pt x="4292595" y="95884"/>
                    <a:pt x="4289420" y="99059"/>
                  </a:cubicBezTo>
                  <a:cubicBezTo>
                    <a:pt x="4286245" y="102869"/>
                    <a:pt x="4282435" y="105409"/>
                    <a:pt x="4277990" y="107314"/>
                  </a:cubicBezTo>
                  <a:cubicBezTo>
                    <a:pt x="4273545" y="109219"/>
                    <a:pt x="4269100" y="109854"/>
                    <a:pt x="4264020" y="109854"/>
                  </a:cubicBezTo>
                  <a:cubicBezTo>
                    <a:pt x="4258940" y="109854"/>
                    <a:pt x="4254495" y="108584"/>
                    <a:pt x="4250050" y="106679"/>
                  </a:cubicBezTo>
                  <a:cubicBezTo>
                    <a:pt x="4245605" y="104774"/>
                    <a:pt x="4242430" y="102234"/>
                    <a:pt x="4239255" y="98424"/>
                  </a:cubicBezTo>
                  <a:cubicBezTo>
                    <a:pt x="4236080" y="94614"/>
                    <a:pt x="4233540" y="90804"/>
                    <a:pt x="4232270" y="85724"/>
                  </a:cubicBezTo>
                  <a:cubicBezTo>
                    <a:pt x="4230365" y="80644"/>
                    <a:pt x="4229730" y="74929"/>
                    <a:pt x="4229730" y="69214"/>
                  </a:cubicBezTo>
                  <a:cubicBezTo>
                    <a:pt x="4229730" y="63499"/>
                    <a:pt x="4230365" y="57149"/>
                    <a:pt x="4232270" y="52069"/>
                  </a:cubicBezTo>
                  <a:cubicBezTo>
                    <a:pt x="4234175" y="46989"/>
                    <a:pt x="4236715" y="42544"/>
                    <a:pt x="4239890" y="39369"/>
                  </a:cubicBezTo>
                  <a:cubicBezTo>
                    <a:pt x="4243065" y="35559"/>
                    <a:pt x="4246875" y="33019"/>
                    <a:pt x="4250685" y="31114"/>
                  </a:cubicBezTo>
                  <a:cubicBezTo>
                    <a:pt x="4255130" y="29209"/>
                    <a:pt x="4259575" y="28574"/>
                    <a:pt x="4264655" y="28574"/>
                  </a:cubicBezTo>
                  <a:close/>
                  <a:moveTo>
                    <a:pt x="1420495" y="28574"/>
                  </a:moveTo>
                  <a:cubicBezTo>
                    <a:pt x="1425575" y="28574"/>
                    <a:pt x="1430020" y="29209"/>
                    <a:pt x="1434465" y="31749"/>
                  </a:cubicBezTo>
                  <a:cubicBezTo>
                    <a:pt x="1438910" y="33654"/>
                    <a:pt x="1442085" y="36194"/>
                    <a:pt x="1445260" y="40004"/>
                  </a:cubicBezTo>
                  <a:cubicBezTo>
                    <a:pt x="1448435" y="43814"/>
                    <a:pt x="1450975" y="47624"/>
                    <a:pt x="1452245" y="52704"/>
                  </a:cubicBezTo>
                  <a:cubicBezTo>
                    <a:pt x="1454150" y="57784"/>
                    <a:pt x="1454785" y="63499"/>
                    <a:pt x="1454785" y="69214"/>
                  </a:cubicBezTo>
                  <a:lnTo>
                    <a:pt x="1455420" y="69214"/>
                  </a:lnTo>
                  <a:cubicBezTo>
                    <a:pt x="1455420" y="75564"/>
                    <a:pt x="1454785" y="81279"/>
                    <a:pt x="1452880" y="86359"/>
                  </a:cubicBezTo>
                  <a:cubicBezTo>
                    <a:pt x="1450975" y="91439"/>
                    <a:pt x="1448435" y="95884"/>
                    <a:pt x="1445260" y="99059"/>
                  </a:cubicBezTo>
                  <a:cubicBezTo>
                    <a:pt x="1442085" y="102869"/>
                    <a:pt x="1438275" y="105409"/>
                    <a:pt x="1433830" y="107314"/>
                  </a:cubicBezTo>
                  <a:cubicBezTo>
                    <a:pt x="1429385" y="109219"/>
                    <a:pt x="1424940" y="109854"/>
                    <a:pt x="1419860" y="109854"/>
                  </a:cubicBezTo>
                  <a:cubicBezTo>
                    <a:pt x="1414780" y="109854"/>
                    <a:pt x="1410335" y="108584"/>
                    <a:pt x="1405890" y="106679"/>
                  </a:cubicBezTo>
                  <a:cubicBezTo>
                    <a:pt x="1401444" y="104774"/>
                    <a:pt x="1398270" y="102234"/>
                    <a:pt x="1395095" y="98424"/>
                  </a:cubicBezTo>
                  <a:cubicBezTo>
                    <a:pt x="1391920" y="94614"/>
                    <a:pt x="1389380" y="90804"/>
                    <a:pt x="1388110" y="85724"/>
                  </a:cubicBezTo>
                  <a:cubicBezTo>
                    <a:pt x="1386205" y="80644"/>
                    <a:pt x="1385570" y="74929"/>
                    <a:pt x="1385570" y="69214"/>
                  </a:cubicBezTo>
                  <a:cubicBezTo>
                    <a:pt x="1385570" y="63499"/>
                    <a:pt x="1386205" y="57149"/>
                    <a:pt x="1388110" y="52069"/>
                  </a:cubicBezTo>
                  <a:cubicBezTo>
                    <a:pt x="1390015" y="46989"/>
                    <a:pt x="1392555" y="42544"/>
                    <a:pt x="1395730" y="39369"/>
                  </a:cubicBezTo>
                  <a:cubicBezTo>
                    <a:pt x="1398905" y="35559"/>
                    <a:pt x="1402715" y="33019"/>
                    <a:pt x="1406525" y="31114"/>
                  </a:cubicBezTo>
                  <a:cubicBezTo>
                    <a:pt x="1410970" y="29209"/>
                    <a:pt x="1415415" y="28574"/>
                    <a:pt x="1420495" y="28574"/>
                  </a:cubicBezTo>
                  <a:close/>
                  <a:moveTo>
                    <a:pt x="3143245" y="5079"/>
                  </a:moveTo>
                  <a:lnTo>
                    <a:pt x="3219445" y="5079"/>
                  </a:lnTo>
                  <a:lnTo>
                    <a:pt x="3219445" y="20319"/>
                  </a:lnTo>
                  <a:lnTo>
                    <a:pt x="3188965" y="20319"/>
                  </a:lnTo>
                  <a:lnTo>
                    <a:pt x="3188965" y="108584"/>
                  </a:lnTo>
                  <a:lnTo>
                    <a:pt x="3173090" y="108584"/>
                  </a:lnTo>
                  <a:lnTo>
                    <a:pt x="3173090" y="20319"/>
                  </a:lnTo>
                  <a:lnTo>
                    <a:pt x="3143245" y="20319"/>
                  </a:lnTo>
                  <a:close/>
                  <a:moveTo>
                    <a:pt x="1628774" y="5079"/>
                  </a:moveTo>
                  <a:lnTo>
                    <a:pt x="1704970" y="5079"/>
                  </a:lnTo>
                  <a:lnTo>
                    <a:pt x="1704970" y="20319"/>
                  </a:lnTo>
                  <a:lnTo>
                    <a:pt x="1675129" y="20319"/>
                  </a:lnTo>
                  <a:lnTo>
                    <a:pt x="1675129" y="108584"/>
                  </a:lnTo>
                  <a:lnTo>
                    <a:pt x="1659255" y="108584"/>
                  </a:lnTo>
                  <a:lnTo>
                    <a:pt x="1659255" y="20319"/>
                  </a:lnTo>
                  <a:lnTo>
                    <a:pt x="1628774" y="20319"/>
                  </a:lnTo>
                  <a:close/>
                  <a:moveTo>
                    <a:pt x="0" y="5079"/>
                  </a:moveTo>
                  <a:lnTo>
                    <a:pt x="76200" y="5079"/>
                  </a:lnTo>
                  <a:lnTo>
                    <a:pt x="76200" y="20319"/>
                  </a:lnTo>
                  <a:lnTo>
                    <a:pt x="45720" y="20319"/>
                  </a:lnTo>
                  <a:lnTo>
                    <a:pt x="45720" y="108584"/>
                  </a:lnTo>
                  <a:lnTo>
                    <a:pt x="29845" y="108584"/>
                  </a:lnTo>
                  <a:lnTo>
                    <a:pt x="29845" y="20319"/>
                  </a:lnTo>
                  <a:lnTo>
                    <a:pt x="0" y="20319"/>
                  </a:lnTo>
                  <a:close/>
                  <a:moveTo>
                    <a:pt x="1362075" y="1269"/>
                  </a:moveTo>
                  <a:cubicBezTo>
                    <a:pt x="1363345" y="1269"/>
                    <a:pt x="1364615" y="1269"/>
                    <a:pt x="1365885" y="1904"/>
                  </a:cubicBezTo>
                  <a:cubicBezTo>
                    <a:pt x="1367155" y="1904"/>
                    <a:pt x="1367790" y="3174"/>
                    <a:pt x="1369060" y="3809"/>
                  </a:cubicBezTo>
                  <a:cubicBezTo>
                    <a:pt x="1369695" y="4444"/>
                    <a:pt x="1370965" y="5714"/>
                    <a:pt x="1370965" y="6984"/>
                  </a:cubicBezTo>
                  <a:cubicBezTo>
                    <a:pt x="1370965" y="8254"/>
                    <a:pt x="1371600" y="9524"/>
                    <a:pt x="1371600" y="10794"/>
                  </a:cubicBezTo>
                  <a:cubicBezTo>
                    <a:pt x="1371600" y="10794"/>
                    <a:pt x="1371600" y="13334"/>
                    <a:pt x="1370965" y="14604"/>
                  </a:cubicBezTo>
                  <a:cubicBezTo>
                    <a:pt x="1370965" y="15874"/>
                    <a:pt x="1369695" y="17144"/>
                    <a:pt x="1369060" y="17779"/>
                  </a:cubicBezTo>
                  <a:cubicBezTo>
                    <a:pt x="1368425" y="18414"/>
                    <a:pt x="1367155" y="19684"/>
                    <a:pt x="1365885" y="19684"/>
                  </a:cubicBezTo>
                  <a:cubicBezTo>
                    <a:pt x="1364615" y="19684"/>
                    <a:pt x="1363345" y="20319"/>
                    <a:pt x="1362075" y="20319"/>
                  </a:cubicBezTo>
                  <a:cubicBezTo>
                    <a:pt x="1360805" y="20319"/>
                    <a:pt x="1359535" y="20319"/>
                    <a:pt x="1358265" y="19684"/>
                  </a:cubicBezTo>
                  <a:cubicBezTo>
                    <a:pt x="1356995" y="19684"/>
                    <a:pt x="1355725" y="18414"/>
                    <a:pt x="1355090" y="17779"/>
                  </a:cubicBezTo>
                  <a:cubicBezTo>
                    <a:pt x="1354455" y="17144"/>
                    <a:pt x="1353185" y="15874"/>
                    <a:pt x="1353185" y="14604"/>
                  </a:cubicBezTo>
                  <a:cubicBezTo>
                    <a:pt x="1353185" y="13334"/>
                    <a:pt x="1352550" y="12064"/>
                    <a:pt x="1352550" y="10794"/>
                  </a:cubicBezTo>
                  <a:cubicBezTo>
                    <a:pt x="1352550" y="9524"/>
                    <a:pt x="1352550" y="8254"/>
                    <a:pt x="1353185" y="6984"/>
                  </a:cubicBezTo>
                  <a:cubicBezTo>
                    <a:pt x="1353185" y="5714"/>
                    <a:pt x="1354455" y="4444"/>
                    <a:pt x="1355090" y="3809"/>
                  </a:cubicBezTo>
                  <a:cubicBezTo>
                    <a:pt x="1355725" y="3174"/>
                    <a:pt x="1356995" y="1904"/>
                    <a:pt x="1358265" y="1904"/>
                  </a:cubicBezTo>
                  <a:cubicBezTo>
                    <a:pt x="1359535" y="1904"/>
                    <a:pt x="1360805" y="1269"/>
                    <a:pt x="1362075" y="1269"/>
                  </a:cubicBezTo>
                  <a:close/>
                  <a:moveTo>
                    <a:pt x="4789801" y="634"/>
                  </a:moveTo>
                  <a:lnTo>
                    <a:pt x="4789801" y="65404"/>
                  </a:lnTo>
                  <a:lnTo>
                    <a:pt x="4814566" y="31114"/>
                  </a:lnTo>
                  <a:lnTo>
                    <a:pt x="4831711" y="31114"/>
                  </a:lnTo>
                  <a:lnTo>
                    <a:pt x="4812026" y="57149"/>
                  </a:lnTo>
                  <a:lnTo>
                    <a:pt x="4835521" y="108584"/>
                  </a:lnTo>
                  <a:lnTo>
                    <a:pt x="4819011" y="108584"/>
                  </a:lnTo>
                  <a:lnTo>
                    <a:pt x="4801866" y="69849"/>
                  </a:lnTo>
                  <a:lnTo>
                    <a:pt x="4789801" y="85724"/>
                  </a:lnTo>
                  <a:lnTo>
                    <a:pt x="4789801" y="108584"/>
                  </a:lnTo>
                  <a:lnTo>
                    <a:pt x="4774561" y="108584"/>
                  </a:lnTo>
                  <a:lnTo>
                    <a:pt x="4774561" y="8889"/>
                  </a:lnTo>
                  <a:close/>
                  <a:moveTo>
                    <a:pt x="4472301" y="634"/>
                  </a:moveTo>
                  <a:lnTo>
                    <a:pt x="4472301" y="109219"/>
                  </a:lnTo>
                  <a:lnTo>
                    <a:pt x="4457061" y="109219"/>
                  </a:lnTo>
                  <a:lnTo>
                    <a:pt x="4457696" y="108584"/>
                  </a:lnTo>
                  <a:lnTo>
                    <a:pt x="4457696" y="100964"/>
                  </a:lnTo>
                  <a:cubicBezTo>
                    <a:pt x="4457696" y="100964"/>
                    <a:pt x="4454521" y="103504"/>
                    <a:pt x="4453251" y="104774"/>
                  </a:cubicBezTo>
                  <a:cubicBezTo>
                    <a:pt x="4451981" y="106044"/>
                    <a:pt x="4450076" y="106679"/>
                    <a:pt x="4448171" y="107949"/>
                  </a:cubicBezTo>
                  <a:cubicBezTo>
                    <a:pt x="4446266" y="108584"/>
                    <a:pt x="4444361" y="109219"/>
                    <a:pt x="4443091" y="109854"/>
                  </a:cubicBezTo>
                  <a:cubicBezTo>
                    <a:pt x="4441186" y="109854"/>
                    <a:pt x="4439281" y="109854"/>
                    <a:pt x="4437376" y="109854"/>
                  </a:cubicBezTo>
                  <a:cubicBezTo>
                    <a:pt x="4432931" y="109854"/>
                    <a:pt x="4429121" y="109219"/>
                    <a:pt x="4425946" y="107314"/>
                  </a:cubicBezTo>
                  <a:cubicBezTo>
                    <a:pt x="4422136" y="106044"/>
                    <a:pt x="4418961" y="103504"/>
                    <a:pt x="4416421" y="99694"/>
                  </a:cubicBezTo>
                  <a:cubicBezTo>
                    <a:pt x="4413881" y="96519"/>
                    <a:pt x="4411341" y="92074"/>
                    <a:pt x="4410071" y="86994"/>
                  </a:cubicBezTo>
                  <a:cubicBezTo>
                    <a:pt x="4408801" y="81914"/>
                    <a:pt x="4407531" y="75564"/>
                    <a:pt x="4407531" y="67944"/>
                  </a:cubicBezTo>
                  <a:cubicBezTo>
                    <a:pt x="4407531" y="61594"/>
                    <a:pt x="4408166" y="55244"/>
                    <a:pt x="4410071" y="50799"/>
                  </a:cubicBezTo>
                  <a:cubicBezTo>
                    <a:pt x="4411976" y="45719"/>
                    <a:pt x="4413881" y="41909"/>
                    <a:pt x="4417056" y="38734"/>
                  </a:cubicBezTo>
                  <a:cubicBezTo>
                    <a:pt x="4419596" y="35559"/>
                    <a:pt x="4423406" y="33019"/>
                    <a:pt x="4426581" y="31749"/>
                  </a:cubicBezTo>
                  <a:cubicBezTo>
                    <a:pt x="4430391" y="29844"/>
                    <a:pt x="4434201" y="29209"/>
                    <a:pt x="4438011" y="29209"/>
                  </a:cubicBezTo>
                  <a:cubicBezTo>
                    <a:pt x="4439916" y="29209"/>
                    <a:pt x="4441821" y="29209"/>
                    <a:pt x="4443726" y="29844"/>
                  </a:cubicBezTo>
                  <a:cubicBezTo>
                    <a:pt x="4445631" y="29844"/>
                    <a:pt x="4447536" y="31114"/>
                    <a:pt x="4448806" y="31749"/>
                  </a:cubicBezTo>
                  <a:cubicBezTo>
                    <a:pt x="4450711" y="32384"/>
                    <a:pt x="4451981" y="33654"/>
                    <a:pt x="4453251" y="34924"/>
                  </a:cubicBezTo>
                  <a:cubicBezTo>
                    <a:pt x="4454521" y="36194"/>
                    <a:pt x="4455791" y="36829"/>
                    <a:pt x="4457061" y="38099"/>
                  </a:cubicBezTo>
                  <a:lnTo>
                    <a:pt x="4457061" y="8254"/>
                  </a:lnTo>
                  <a:close/>
                  <a:moveTo>
                    <a:pt x="4390385" y="634"/>
                  </a:moveTo>
                  <a:lnTo>
                    <a:pt x="4390385" y="108584"/>
                  </a:lnTo>
                  <a:lnTo>
                    <a:pt x="4375145" y="108584"/>
                  </a:lnTo>
                  <a:lnTo>
                    <a:pt x="4375145" y="8889"/>
                  </a:lnTo>
                  <a:close/>
                  <a:moveTo>
                    <a:pt x="3946521" y="634"/>
                  </a:moveTo>
                  <a:lnTo>
                    <a:pt x="3946521" y="38099"/>
                  </a:lnTo>
                  <a:cubicBezTo>
                    <a:pt x="3946521" y="38099"/>
                    <a:pt x="3948426" y="35559"/>
                    <a:pt x="3950331" y="34289"/>
                  </a:cubicBezTo>
                  <a:cubicBezTo>
                    <a:pt x="3951601" y="33019"/>
                    <a:pt x="3953506" y="32384"/>
                    <a:pt x="3954776" y="31114"/>
                  </a:cubicBezTo>
                  <a:cubicBezTo>
                    <a:pt x="3956681" y="30479"/>
                    <a:pt x="3958586" y="29844"/>
                    <a:pt x="3960491" y="29209"/>
                  </a:cubicBezTo>
                  <a:cubicBezTo>
                    <a:pt x="3962396" y="29209"/>
                    <a:pt x="3964301" y="29209"/>
                    <a:pt x="3966206" y="29209"/>
                  </a:cubicBezTo>
                  <a:cubicBezTo>
                    <a:pt x="3970651" y="29209"/>
                    <a:pt x="3975096" y="29844"/>
                    <a:pt x="3978271" y="31749"/>
                  </a:cubicBezTo>
                  <a:cubicBezTo>
                    <a:pt x="3981446" y="33019"/>
                    <a:pt x="3984621" y="35559"/>
                    <a:pt x="3987161" y="38099"/>
                  </a:cubicBezTo>
                  <a:cubicBezTo>
                    <a:pt x="3989701" y="41274"/>
                    <a:pt x="3990971" y="44449"/>
                    <a:pt x="3992241" y="49529"/>
                  </a:cubicBezTo>
                  <a:cubicBezTo>
                    <a:pt x="3993511" y="53974"/>
                    <a:pt x="3994146" y="59054"/>
                    <a:pt x="3994146" y="64134"/>
                  </a:cubicBezTo>
                  <a:lnTo>
                    <a:pt x="3994146" y="108584"/>
                  </a:lnTo>
                  <a:lnTo>
                    <a:pt x="3978906" y="108584"/>
                  </a:lnTo>
                  <a:lnTo>
                    <a:pt x="3978271" y="108584"/>
                  </a:lnTo>
                  <a:lnTo>
                    <a:pt x="3978271" y="64769"/>
                  </a:lnTo>
                  <a:cubicBezTo>
                    <a:pt x="3978271" y="57784"/>
                    <a:pt x="3977001" y="52069"/>
                    <a:pt x="3974461" y="48894"/>
                  </a:cubicBezTo>
                  <a:cubicBezTo>
                    <a:pt x="3971921" y="45084"/>
                    <a:pt x="3968111" y="43814"/>
                    <a:pt x="3962396" y="43814"/>
                  </a:cubicBezTo>
                  <a:cubicBezTo>
                    <a:pt x="3959856" y="43814"/>
                    <a:pt x="3957951" y="43814"/>
                    <a:pt x="3956046" y="45084"/>
                  </a:cubicBezTo>
                  <a:cubicBezTo>
                    <a:pt x="3954141" y="45719"/>
                    <a:pt x="3952236" y="46989"/>
                    <a:pt x="3950966" y="48894"/>
                  </a:cubicBezTo>
                  <a:cubicBezTo>
                    <a:pt x="3949696" y="50799"/>
                    <a:pt x="3948426" y="52704"/>
                    <a:pt x="3947791" y="55244"/>
                  </a:cubicBezTo>
                  <a:cubicBezTo>
                    <a:pt x="3947156" y="57784"/>
                    <a:pt x="3946521" y="60324"/>
                    <a:pt x="3946521" y="63499"/>
                  </a:cubicBezTo>
                  <a:lnTo>
                    <a:pt x="3946521" y="109219"/>
                  </a:lnTo>
                  <a:lnTo>
                    <a:pt x="3931281" y="109219"/>
                  </a:lnTo>
                  <a:lnTo>
                    <a:pt x="3931281" y="8889"/>
                  </a:lnTo>
                  <a:close/>
                  <a:moveTo>
                    <a:pt x="3248021" y="634"/>
                  </a:moveTo>
                  <a:lnTo>
                    <a:pt x="3248021" y="38099"/>
                  </a:lnTo>
                  <a:cubicBezTo>
                    <a:pt x="3248021" y="38099"/>
                    <a:pt x="3249926" y="35559"/>
                    <a:pt x="3251831" y="34289"/>
                  </a:cubicBezTo>
                  <a:cubicBezTo>
                    <a:pt x="3253101" y="33019"/>
                    <a:pt x="3255006" y="32384"/>
                    <a:pt x="3256276" y="31114"/>
                  </a:cubicBezTo>
                  <a:cubicBezTo>
                    <a:pt x="3258181" y="30479"/>
                    <a:pt x="3260086" y="29844"/>
                    <a:pt x="3261991" y="29209"/>
                  </a:cubicBezTo>
                  <a:cubicBezTo>
                    <a:pt x="3263896" y="29209"/>
                    <a:pt x="3265801" y="29209"/>
                    <a:pt x="3267706" y="29209"/>
                  </a:cubicBezTo>
                  <a:cubicBezTo>
                    <a:pt x="3272151" y="29209"/>
                    <a:pt x="3276596" y="29844"/>
                    <a:pt x="3279771" y="31749"/>
                  </a:cubicBezTo>
                  <a:cubicBezTo>
                    <a:pt x="3282946" y="33019"/>
                    <a:pt x="3286121" y="35559"/>
                    <a:pt x="3288661" y="38099"/>
                  </a:cubicBezTo>
                  <a:cubicBezTo>
                    <a:pt x="3291201" y="41274"/>
                    <a:pt x="3292471" y="44449"/>
                    <a:pt x="3293741" y="49529"/>
                  </a:cubicBezTo>
                  <a:cubicBezTo>
                    <a:pt x="3295011" y="53974"/>
                    <a:pt x="3295646" y="59054"/>
                    <a:pt x="3295646" y="64134"/>
                  </a:cubicBezTo>
                  <a:lnTo>
                    <a:pt x="3295646" y="108584"/>
                  </a:lnTo>
                  <a:lnTo>
                    <a:pt x="3280406" y="108584"/>
                  </a:lnTo>
                  <a:lnTo>
                    <a:pt x="3279771" y="108584"/>
                  </a:lnTo>
                  <a:lnTo>
                    <a:pt x="3279771" y="64769"/>
                  </a:lnTo>
                  <a:cubicBezTo>
                    <a:pt x="3279771" y="57784"/>
                    <a:pt x="3278501" y="52069"/>
                    <a:pt x="3275961" y="48894"/>
                  </a:cubicBezTo>
                  <a:cubicBezTo>
                    <a:pt x="3273421" y="45084"/>
                    <a:pt x="3269611" y="43814"/>
                    <a:pt x="3263896" y="43814"/>
                  </a:cubicBezTo>
                  <a:cubicBezTo>
                    <a:pt x="3261356" y="43814"/>
                    <a:pt x="3259451" y="43814"/>
                    <a:pt x="3257546" y="45084"/>
                  </a:cubicBezTo>
                  <a:cubicBezTo>
                    <a:pt x="3255641" y="45719"/>
                    <a:pt x="3253736" y="46989"/>
                    <a:pt x="3252466" y="48894"/>
                  </a:cubicBezTo>
                  <a:cubicBezTo>
                    <a:pt x="3251196" y="50799"/>
                    <a:pt x="3249926" y="52704"/>
                    <a:pt x="3249291" y="55244"/>
                  </a:cubicBezTo>
                  <a:cubicBezTo>
                    <a:pt x="3248656" y="57784"/>
                    <a:pt x="3248021" y="60324"/>
                    <a:pt x="3248021" y="63499"/>
                  </a:cubicBezTo>
                  <a:lnTo>
                    <a:pt x="3248021" y="109219"/>
                  </a:lnTo>
                  <a:lnTo>
                    <a:pt x="3232781" y="109219"/>
                  </a:lnTo>
                  <a:lnTo>
                    <a:pt x="3232781" y="8889"/>
                  </a:lnTo>
                  <a:close/>
                  <a:moveTo>
                    <a:pt x="2432681" y="634"/>
                  </a:moveTo>
                  <a:lnTo>
                    <a:pt x="2432681" y="38099"/>
                  </a:lnTo>
                  <a:cubicBezTo>
                    <a:pt x="2432681" y="38099"/>
                    <a:pt x="2434586" y="35559"/>
                    <a:pt x="2436491" y="34289"/>
                  </a:cubicBezTo>
                  <a:cubicBezTo>
                    <a:pt x="2437761" y="33019"/>
                    <a:pt x="2439666" y="32384"/>
                    <a:pt x="2440936" y="31114"/>
                  </a:cubicBezTo>
                  <a:cubicBezTo>
                    <a:pt x="2442841" y="30479"/>
                    <a:pt x="2444746" y="29844"/>
                    <a:pt x="2446651" y="29209"/>
                  </a:cubicBezTo>
                  <a:cubicBezTo>
                    <a:pt x="2448556" y="29209"/>
                    <a:pt x="2450461" y="29209"/>
                    <a:pt x="2452366" y="29209"/>
                  </a:cubicBezTo>
                  <a:cubicBezTo>
                    <a:pt x="2456811" y="29209"/>
                    <a:pt x="2461256" y="29844"/>
                    <a:pt x="2464431" y="31749"/>
                  </a:cubicBezTo>
                  <a:cubicBezTo>
                    <a:pt x="2467606" y="33019"/>
                    <a:pt x="2470781" y="35559"/>
                    <a:pt x="2473321" y="38099"/>
                  </a:cubicBezTo>
                  <a:cubicBezTo>
                    <a:pt x="2475861" y="41274"/>
                    <a:pt x="2477131" y="44449"/>
                    <a:pt x="2478401" y="49529"/>
                  </a:cubicBezTo>
                  <a:cubicBezTo>
                    <a:pt x="2479671" y="53974"/>
                    <a:pt x="2480306" y="59054"/>
                    <a:pt x="2480306" y="64134"/>
                  </a:cubicBezTo>
                  <a:lnTo>
                    <a:pt x="2480306" y="108584"/>
                  </a:lnTo>
                  <a:lnTo>
                    <a:pt x="2465066" y="108584"/>
                  </a:lnTo>
                  <a:lnTo>
                    <a:pt x="2464431" y="108584"/>
                  </a:lnTo>
                  <a:lnTo>
                    <a:pt x="2464431" y="64769"/>
                  </a:lnTo>
                  <a:cubicBezTo>
                    <a:pt x="2464431" y="57784"/>
                    <a:pt x="2463161" y="52069"/>
                    <a:pt x="2460621" y="48894"/>
                  </a:cubicBezTo>
                  <a:cubicBezTo>
                    <a:pt x="2458081" y="45084"/>
                    <a:pt x="2454271" y="43814"/>
                    <a:pt x="2448556" y="43814"/>
                  </a:cubicBezTo>
                  <a:cubicBezTo>
                    <a:pt x="2446016" y="43814"/>
                    <a:pt x="2444111" y="43814"/>
                    <a:pt x="2442206" y="45084"/>
                  </a:cubicBezTo>
                  <a:cubicBezTo>
                    <a:pt x="2440301" y="45719"/>
                    <a:pt x="2438396" y="46989"/>
                    <a:pt x="2437126" y="48894"/>
                  </a:cubicBezTo>
                  <a:cubicBezTo>
                    <a:pt x="2435856" y="50799"/>
                    <a:pt x="2434586" y="52704"/>
                    <a:pt x="2433951" y="55244"/>
                  </a:cubicBezTo>
                  <a:cubicBezTo>
                    <a:pt x="2433316" y="57784"/>
                    <a:pt x="2432681" y="60324"/>
                    <a:pt x="2432681" y="63499"/>
                  </a:cubicBezTo>
                  <a:lnTo>
                    <a:pt x="2432681" y="109219"/>
                  </a:lnTo>
                  <a:lnTo>
                    <a:pt x="2417441" y="109219"/>
                  </a:lnTo>
                  <a:lnTo>
                    <a:pt x="2417441" y="8889"/>
                  </a:lnTo>
                  <a:close/>
                  <a:moveTo>
                    <a:pt x="1734181" y="634"/>
                  </a:moveTo>
                  <a:lnTo>
                    <a:pt x="1734181" y="38099"/>
                  </a:lnTo>
                  <a:cubicBezTo>
                    <a:pt x="1734181" y="38099"/>
                    <a:pt x="1736086" y="35559"/>
                    <a:pt x="1737991" y="34289"/>
                  </a:cubicBezTo>
                  <a:cubicBezTo>
                    <a:pt x="1739261" y="33019"/>
                    <a:pt x="1741166" y="32384"/>
                    <a:pt x="1742436" y="31114"/>
                  </a:cubicBezTo>
                  <a:cubicBezTo>
                    <a:pt x="1744341" y="30479"/>
                    <a:pt x="1746246" y="29844"/>
                    <a:pt x="1748151" y="29209"/>
                  </a:cubicBezTo>
                  <a:cubicBezTo>
                    <a:pt x="1750056" y="29209"/>
                    <a:pt x="1751961" y="29209"/>
                    <a:pt x="1753866" y="29209"/>
                  </a:cubicBezTo>
                  <a:cubicBezTo>
                    <a:pt x="1758311" y="29209"/>
                    <a:pt x="1762756" y="29844"/>
                    <a:pt x="1765931" y="31749"/>
                  </a:cubicBezTo>
                  <a:cubicBezTo>
                    <a:pt x="1769106" y="33019"/>
                    <a:pt x="1772281" y="35559"/>
                    <a:pt x="1774821" y="38099"/>
                  </a:cubicBezTo>
                  <a:cubicBezTo>
                    <a:pt x="1777361" y="41274"/>
                    <a:pt x="1778631" y="44449"/>
                    <a:pt x="1779901" y="49529"/>
                  </a:cubicBezTo>
                  <a:cubicBezTo>
                    <a:pt x="1781171" y="53974"/>
                    <a:pt x="1781806" y="59054"/>
                    <a:pt x="1781806" y="64134"/>
                  </a:cubicBezTo>
                  <a:lnTo>
                    <a:pt x="1781806" y="108584"/>
                  </a:lnTo>
                  <a:lnTo>
                    <a:pt x="1766566" y="108584"/>
                  </a:lnTo>
                  <a:lnTo>
                    <a:pt x="1765931" y="108584"/>
                  </a:lnTo>
                  <a:lnTo>
                    <a:pt x="1765931" y="64769"/>
                  </a:lnTo>
                  <a:cubicBezTo>
                    <a:pt x="1765931" y="57784"/>
                    <a:pt x="1764661" y="52069"/>
                    <a:pt x="1762121" y="48894"/>
                  </a:cubicBezTo>
                  <a:cubicBezTo>
                    <a:pt x="1759581" y="45084"/>
                    <a:pt x="1755771" y="43814"/>
                    <a:pt x="1750056" y="43814"/>
                  </a:cubicBezTo>
                  <a:cubicBezTo>
                    <a:pt x="1747516" y="43814"/>
                    <a:pt x="1745611" y="43814"/>
                    <a:pt x="1743706" y="45084"/>
                  </a:cubicBezTo>
                  <a:cubicBezTo>
                    <a:pt x="1741801" y="45719"/>
                    <a:pt x="1739896" y="46989"/>
                    <a:pt x="1738626" y="48894"/>
                  </a:cubicBezTo>
                  <a:cubicBezTo>
                    <a:pt x="1737356" y="50799"/>
                    <a:pt x="1736086" y="52704"/>
                    <a:pt x="1735451" y="55244"/>
                  </a:cubicBezTo>
                  <a:cubicBezTo>
                    <a:pt x="1734816" y="57784"/>
                    <a:pt x="1734181" y="60324"/>
                    <a:pt x="1734181" y="63499"/>
                  </a:cubicBezTo>
                  <a:lnTo>
                    <a:pt x="1734181" y="109219"/>
                  </a:lnTo>
                  <a:lnTo>
                    <a:pt x="1718941" y="109219"/>
                  </a:lnTo>
                  <a:lnTo>
                    <a:pt x="1718941" y="8889"/>
                  </a:lnTo>
                  <a:close/>
                  <a:moveTo>
                    <a:pt x="803275" y="634"/>
                  </a:moveTo>
                  <a:lnTo>
                    <a:pt x="803275" y="38099"/>
                  </a:lnTo>
                  <a:cubicBezTo>
                    <a:pt x="803275" y="38099"/>
                    <a:pt x="805180" y="35559"/>
                    <a:pt x="807085" y="34289"/>
                  </a:cubicBezTo>
                  <a:cubicBezTo>
                    <a:pt x="808355" y="33019"/>
                    <a:pt x="810260" y="32384"/>
                    <a:pt x="811530" y="31114"/>
                  </a:cubicBezTo>
                  <a:cubicBezTo>
                    <a:pt x="813435" y="30479"/>
                    <a:pt x="815340" y="29844"/>
                    <a:pt x="817245" y="29209"/>
                  </a:cubicBezTo>
                  <a:cubicBezTo>
                    <a:pt x="819150" y="29209"/>
                    <a:pt x="821055" y="29209"/>
                    <a:pt x="822960" y="29209"/>
                  </a:cubicBezTo>
                  <a:cubicBezTo>
                    <a:pt x="827405" y="29209"/>
                    <a:pt x="831850" y="29844"/>
                    <a:pt x="835025" y="31749"/>
                  </a:cubicBezTo>
                  <a:cubicBezTo>
                    <a:pt x="838200" y="33019"/>
                    <a:pt x="841375" y="35559"/>
                    <a:pt x="843915" y="38099"/>
                  </a:cubicBezTo>
                  <a:cubicBezTo>
                    <a:pt x="846455" y="41274"/>
                    <a:pt x="847725" y="44449"/>
                    <a:pt x="848995" y="49529"/>
                  </a:cubicBezTo>
                  <a:cubicBezTo>
                    <a:pt x="850265" y="53974"/>
                    <a:pt x="850900" y="59054"/>
                    <a:pt x="850900" y="64134"/>
                  </a:cubicBezTo>
                  <a:lnTo>
                    <a:pt x="850900" y="108584"/>
                  </a:lnTo>
                  <a:lnTo>
                    <a:pt x="835660" y="108584"/>
                  </a:lnTo>
                  <a:lnTo>
                    <a:pt x="835025" y="108584"/>
                  </a:lnTo>
                  <a:lnTo>
                    <a:pt x="835025" y="64769"/>
                  </a:lnTo>
                  <a:cubicBezTo>
                    <a:pt x="835025" y="57784"/>
                    <a:pt x="833755" y="52069"/>
                    <a:pt x="831215" y="48894"/>
                  </a:cubicBezTo>
                  <a:cubicBezTo>
                    <a:pt x="828675" y="45084"/>
                    <a:pt x="824865" y="43814"/>
                    <a:pt x="819150" y="43814"/>
                  </a:cubicBezTo>
                  <a:cubicBezTo>
                    <a:pt x="816610" y="43814"/>
                    <a:pt x="814705" y="43814"/>
                    <a:pt x="812800" y="45084"/>
                  </a:cubicBezTo>
                  <a:cubicBezTo>
                    <a:pt x="810895" y="45719"/>
                    <a:pt x="808990" y="46989"/>
                    <a:pt x="807720" y="48894"/>
                  </a:cubicBezTo>
                  <a:cubicBezTo>
                    <a:pt x="806450" y="50799"/>
                    <a:pt x="805180" y="52704"/>
                    <a:pt x="804545" y="55244"/>
                  </a:cubicBezTo>
                  <a:cubicBezTo>
                    <a:pt x="803910" y="57784"/>
                    <a:pt x="803275" y="60324"/>
                    <a:pt x="803275" y="63499"/>
                  </a:cubicBezTo>
                  <a:lnTo>
                    <a:pt x="803275" y="109219"/>
                  </a:lnTo>
                  <a:lnTo>
                    <a:pt x="788035" y="109219"/>
                  </a:lnTo>
                  <a:lnTo>
                    <a:pt x="788035" y="8889"/>
                  </a:lnTo>
                  <a:close/>
                  <a:moveTo>
                    <a:pt x="104774" y="634"/>
                  </a:moveTo>
                  <a:lnTo>
                    <a:pt x="104774" y="38099"/>
                  </a:lnTo>
                  <a:cubicBezTo>
                    <a:pt x="104774" y="38099"/>
                    <a:pt x="106679" y="35559"/>
                    <a:pt x="108584" y="34289"/>
                  </a:cubicBezTo>
                  <a:cubicBezTo>
                    <a:pt x="109854" y="33019"/>
                    <a:pt x="111759" y="32384"/>
                    <a:pt x="113029" y="31114"/>
                  </a:cubicBezTo>
                  <a:cubicBezTo>
                    <a:pt x="114934" y="30479"/>
                    <a:pt x="116839" y="29844"/>
                    <a:pt x="118744" y="29209"/>
                  </a:cubicBezTo>
                  <a:cubicBezTo>
                    <a:pt x="120649" y="29209"/>
                    <a:pt x="122554" y="29209"/>
                    <a:pt x="124459" y="29209"/>
                  </a:cubicBezTo>
                  <a:cubicBezTo>
                    <a:pt x="128904" y="29209"/>
                    <a:pt x="133349" y="29844"/>
                    <a:pt x="136524" y="31749"/>
                  </a:cubicBezTo>
                  <a:cubicBezTo>
                    <a:pt x="139699" y="33019"/>
                    <a:pt x="142874" y="35559"/>
                    <a:pt x="145414" y="38099"/>
                  </a:cubicBezTo>
                  <a:cubicBezTo>
                    <a:pt x="147954" y="41274"/>
                    <a:pt x="149224" y="44449"/>
                    <a:pt x="150494" y="49529"/>
                  </a:cubicBezTo>
                  <a:cubicBezTo>
                    <a:pt x="151764" y="53974"/>
                    <a:pt x="152399" y="59054"/>
                    <a:pt x="152399" y="64134"/>
                  </a:cubicBezTo>
                  <a:lnTo>
                    <a:pt x="152399" y="108584"/>
                  </a:lnTo>
                  <a:lnTo>
                    <a:pt x="137159" y="108584"/>
                  </a:lnTo>
                  <a:lnTo>
                    <a:pt x="136524" y="108584"/>
                  </a:lnTo>
                  <a:lnTo>
                    <a:pt x="136524" y="64769"/>
                  </a:lnTo>
                  <a:cubicBezTo>
                    <a:pt x="136524" y="57784"/>
                    <a:pt x="135254" y="52069"/>
                    <a:pt x="132714" y="48894"/>
                  </a:cubicBezTo>
                  <a:cubicBezTo>
                    <a:pt x="130174" y="45084"/>
                    <a:pt x="126364" y="43814"/>
                    <a:pt x="120649" y="43814"/>
                  </a:cubicBezTo>
                  <a:cubicBezTo>
                    <a:pt x="118109" y="43814"/>
                    <a:pt x="116204" y="43814"/>
                    <a:pt x="114299" y="45084"/>
                  </a:cubicBezTo>
                  <a:cubicBezTo>
                    <a:pt x="112394" y="45719"/>
                    <a:pt x="110489" y="46989"/>
                    <a:pt x="109219" y="48894"/>
                  </a:cubicBezTo>
                  <a:cubicBezTo>
                    <a:pt x="107949" y="50799"/>
                    <a:pt x="106679" y="52704"/>
                    <a:pt x="106044" y="55244"/>
                  </a:cubicBezTo>
                  <a:cubicBezTo>
                    <a:pt x="105409" y="57784"/>
                    <a:pt x="104774" y="60324"/>
                    <a:pt x="104774" y="63499"/>
                  </a:cubicBezTo>
                  <a:lnTo>
                    <a:pt x="104774" y="109219"/>
                  </a:lnTo>
                  <a:lnTo>
                    <a:pt x="89534" y="109219"/>
                  </a:lnTo>
                  <a:lnTo>
                    <a:pt x="89534" y="8889"/>
                  </a:lnTo>
                  <a:close/>
                  <a:moveTo>
                    <a:pt x="3894450" y="0"/>
                  </a:moveTo>
                  <a:lnTo>
                    <a:pt x="3894450" y="30480"/>
                  </a:lnTo>
                  <a:lnTo>
                    <a:pt x="3913500" y="30480"/>
                  </a:lnTo>
                  <a:lnTo>
                    <a:pt x="3913500" y="44450"/>
                  </a:lnTo>
                  <a:lnTo>
                    <a:pt x="3894450" y="44450"/>
                  </a:lnTo>
                  <a:lnTo>
                    <a:pt x="3894450" y="86995"/>
                  </a:lnTo>
                  <a:cubicBezTo>
                    <a:pt x="3894450" y="86995"/>
                    <a:pt x="3894450" y="90170"/>
                    <a:pt x="3894450" y="91440"/>
                  </a:cubicBezTo>
                  <a:cubicBezTo>
                    <a:pt x="3894450" y="92710"/>
                    <a:pt x="3895085" y="93345"/>
                    <a:pt x="3895720" y="94615"/>
                  </a:cubicBezTo>
                  <a:cubicBezTo>
                    <a:pt x="3896355" y="95250"/>
                    <a:pt x="3896990" y="95885"/>
                    <a:pt x="3898260" y="95885"/>
                  </a:cubicBezTo>
                  <a:cubicBezTo>
                    <a:pt x="3899530" y="95885"/>
                    <a:pt x="3900800" y="95885"/>
                    <a:pt x="3902070" y="95885"/>
                  </a:cubicBezTo>
                  <a:cubicBezTo>
                    <a:pt x="3903975" y="95885"/>
                    <a:pt x="3905880" y="95885"/>
                    <a:pt x="3908420" y="95250"/>
                  </a:cubicBezTo>
                  <a:cubicBezTo>
                    <a:pt x="3910325" y="94615"/>
                    <a:pt x="3912230" y="93980"/>
                    <a:pt x="3913500" y="93345"/>
                  </a:cubicBezTo>
                  <a:lnTo>
                    <a:pt x="3911595" y="106680"/>
                  </a:lnTo>
                  <a:cubicBezTo>
                    <a:pt x="3911595" y="106680"/>
                    <a:pt x="3907785" y="108585"/>
                    <a:pt x="3905245" y="109220"/>
                  </a:cubicBezTo>
                  <a:cubicBezTo>
                    <a:pt x="3902705" y="109855"/>
                    <a:pt x="3900165" y="110490"/>
                    <a:pt x="3896990" y="110490"/>
                  </a:cubicBezTo>
                  <a:cubicBezTo>
                    <a:pt x="3894450" y="110490"/>
                    <a:pt x="3891910" y="110490"/>
                    <a:pt x="3890005" y="109220"/>
                  </a:cubicBezTo>
                  <a:cubicBezTo>
                    <a:pt x="3888100" y="108585"/>
                    <a:pt x="3886195" y="107315"/>
                    <a:pt x="3884290" y="105410"/>
                  </a:cubicBezTo>
                  <a:cubicBezTo>
                    <a:pt x="3882385" y="103505"/>
                    <a:pt x="3881115" y="101600"/>
                    <a:pt x="3880480" y="99060"/>
                  </a:cubicBezTo>
                  <a:cubicBezTo>
                    <a:pt x="3879845" y="96520"/>
                    <a:pt x="3879210" y="93345"/>
                    <a:pt x="3879210" y="89535"/>
                  </a:cubicBezTo>
                  <a:lnTo>
                    <a:pt x="3879210" y="44450"/>
                  </a:lnTo>
                  <a:lnTo>
                    <a:pt x="3868415" y="44450"/>
                  </a:lnTo>
                  <a:lnTo>
                    <a:pt x="3868415" y="30480"/>
                  </a:lnTo>
                  <a:lnTo>
                    <a:pt x="3879210" y="30480"/>
                  </a:lnTo>
                  <a:lnTo>
                    <a:pt x="3879210" y="8255"/>
                  </a:lnTo>
                  <a:close/>
                  <a:moveTo>
                    <a:pt x="3664581" y="0"/>
                  </a:moveTo>
                  <a:lnTo>
                    <a:pt x="3664581" y="30480"/>
                  </a:lnTo>
                  <a:lnTo>
                    <a:pt x="3683631" y="30480"/>
                  </a:lnTo>
                  <a:lnTo>
                    <a:pt x="3683631" y="44450"/>
                  </a:lnTo>
                  <a:lnTo>
                    <a:pt x="3664581" y="44450"/>
                  </a:lnTo>
                  <a:lnTo>
                    <a:pt x="3664581" y="86995"/>
                  </a:lnTo>
                  <a:cubicBezTo>
                    <a:pt x="3664581" y="86995"/>
                    <a:pt x="3664581" y="90170"/>
                    <a:pt x="3664581" y="91440"/>
                  </a:cubicBezTo>
                  <a:cubicBezTo>
                    <a:pt x="3664581" y="92710"/>
                    <a:pt x="3665216" y="93345"/>
                    <a:pt x="3665851" y="94615"/>
                  </a:cubicBezTo>
                  <a:cubicBezTo>
                    <a:pt x="3666486" y="95250"/>
                    <a:pt x="3667121" y="95885"/>
                    <a:pt x="3668391" y="95885"/>
                  </a:cubicBezTo>
                  <a:cubicBezTo>
                    <a:pt x="3669661" y="95885"/>
                    <a:pt x="3670931" y="95885"/>
                    <a:pt x="3672201" y="95885"/>
                  </a:cubicBezTo>
                  <a:cubicBezTo>
                    <a:pt x="3674106" y="95885"/>
                    <a:pt x="3676011" y="95885"/>
                    <a:pt x="3678551" y="95250"/>
                  </a:cubicBezTo>
                  <a:cubicBezTo>
                    <a:pt x="3680456" y="94615"/>
                    <a:pt x="3682361" y="93980"/>
                    <a:pt x="3683631" y="93345"/>
                  </a:cubicBezTo>
                  <a:lnTo>
                    <a:pt x="3681726" y="106680"/>
                  </a:lnTo>
                  <a:cubicBezTo>
                    <a:pt x="3681726" y="106680"/>
                    <a:pt x="3677916" y="108585"/>
                    <a:pt x="3675376" y="109220"/>
                  </a:cubicBezTo>
                  <a:cubicBezTo>
                    <a:pt x="3672836" y="109855"/>
                    <a:pt x="3670296" y="110490"/>
                    <a:pt x="3667121" y="110490"/>
                  </a:cubicBezTo>
                  <a:cubicBezTo>
                    <a:pt x="3664581" y="110490"/>
                    <a:pt x="3662041" y="110490"/>
                    <a:pt x="3660136" y="109220"/>
                  </a:cubicBezTo>
                  <a:cubicBezTo>
                    <a:pt x="3658231" y="108585"/>
                    <a:pt x="3656326" y="107315"/>
                    <a:pt x="3654421" y="105410"/>
                  </a:cubicBezTo>
                  <a:cubicBezTo>
                    <a:pt x="3652516" y="103505"/>
                    <a:pt x="3651246" y="101600"/>
                    <a:pt x="3650611" y="99060"/>
                  </a:cubicBezTo>
                  <a:cubicBezTo>
                    <a:pt x="3649976" y="96520"/>
                    <a:pt x="3649341" y="93345"/>
                    <a:pt x="3649341" y="89535"/>
                  </a:cubicBezTo>
                  <a:lnTo>
                    <a:pt x="3649341" y="44450"/>
                  </a:lnTo>
                  <a:lnTo>
                    <a:pt x="3638546" y="44450"/>
                  </a:lnTo>
                  <a:lnTo>
                    <a:pt x="3638546" y="30480"/>
                  </a:lnTo>
                  <a:lnTo>
                    <a:pt x="3649341" y="30480"/>
                  </a:lnTo>
                  <a:lnTo>
                    <a:pt x="3649341" y="8255"/>
                  </a:lnTo>
                  <a:close/>
                  <a:moveTo>
                    <a:pt x="3610605" y="0"/>
                  </a:moveTo>
                  <a:lnTo>
                    <a:pt x="3610605" y="30480"/>
                  </a:lnTo>
                  <a:lnTo>
                    <a:pt x="3629655" y="30480"/>
                  </a:lnTo>
                  <a:lnTo>
                    <a:pt x="3629655" y="44450"/>
                  </a:lnTo>
                  <a:lnTo>
                    <a:pt x="3610605" y="44450"/>
                  </a:lnTo>
                  <a:lnTo>
                    <a:pt x="3610605" y="86995"/>
                  </a:lnTo>
                  <a:cubicBezTo>
                    <a:pt x="3610605" y="86995"/>
                    <a:pt x="3610605" y="90170"/>
                    <a:pt x="3610605" y="91440"/>
                  </a:cubicBezTo>
                  <a:cubicBezTo>
                    <a:pt x="3610605" y="92710"/>
                    <a:pt x="3611240" y="93345"/>
                    <a:pt x="3611875" y="94615"/>
                  </a:cubicBezTo>
                  <a:cubicBezTo>
                    <a:pt x="3612510" y="95250"/>
                    <a:pt x="3613145" y="95885"/>
                    <a:pt x="3614415" y="95885"/>
                  </a:cubicBezTo>
                  <a:cubicBezTo>
                    <a:pt x="3615685" y="95885"/>
                    <a:pt x="3616955" y="95885"/>
                    <a:pt x="3618225" y="95885"/>
                  </a:cubicBezTo>
                  <a:cubicBezTo>
                    <a:pt x="3620130" y="95885"/>
                    <a:pt x="3622035" y="95885"/>
                    <a:pt x="3624575" y="95250"/>
                  </a:cubicBezTo>
                  <a:cubicBezTo>
                    <a:pt x="3626480" y="94615"/>
                    <a:pt x="3628385" y="93980"/>
                    <a:pt x="3629655" y="93345"/>
                  </a:cubicBezTo>
                  <a:lnTo>
                    <a:pt x="3627750" y="106680"/>
                  </a:lnTo>
                  <a:cubicBezTo>
                    <a:pt x="3627750" y="106680"/>
                    <a:pt x="3623940" y="108585"/>
                    <a:pt x="3621400" y="109220"/>
                  </a:cubicBezTo>
                  <a:cubicBezTo>
                    <a:pt x="3618860" y="109855"/>
                    <a:pt x="3616320" y="110490"/>
                    <a:pt x="3613145" y="110490"/>
                  </a:cubicBezTo>
                  <a:cubicBezTo>
                    <a:pt x="3610605" y="110490"/>
                    <a:pt x="3608065" y="110490"/>
                    <a:pt x="3606160" y="109220"/>
                  </a:cubicBezTo>
                  <a:cubicBezTo>
                    <a:pt x="3604255" y="108585"/>
                    <a:pt x="3602350" y="107315"/>
                    <a:pt x="3600445" y="105410"/>
                  </a:cubicBezTo>
                  <a:cubicBezTo>
                    <a:pt x="3598540" y="103505"/>
                    <a:pt x="3597270" y="101600"/>
                    <a:pt x="3596635" y="99060"/>
                  </a:cubicBezTo>
                  <a:cubicBezTo>
                    <a:pt x="3596000" y="96520"/>
                    <a:pt x="3595365" y="93345"/>
                    <a:pt x="3595365" y="89535"/>
                  </a:cubicBezTo>
                  <a:lnTo>
                    <a:pt x="3595365" y="44450"/>
                  </a:lnTo>
                  <a:lnTo>
                    <a:pt x="3584570" y="44450"/>
                  </a:lnTo>
                  <a:lnTo>
                    <a:pt x="3584570" y="30480"/>
                  </a:lnTo>
                  <a:lnTo>
                    <a:pt x="3595365" y="30480"/>
                  </a:lnTo>
                  <a:lnTo>
                    <a:pt x="3595365" y="8255"/>
                  </a:lnTo>
                  <a:close/>
                  <a:moveTo>
                    <a:pt x="3445505" y="0"/>
                  </a:moveTo>
                  <a:lnTo>
                    <a:pt x="3445505" y="37465"/>
                  </a:lnTo>
                  <a:cubicBezTo>
                    <a:pt x="3445505" y="37465"/>
                    <a:pt x="3448680" y="34925"/>
                    <a:pt x="3449950" y="33655"/>
                  </a:cubicBezTo>
                  <a:cubicBezTo>
                    <a:pt x="3451220" y="33020"/>
                    <a:pt x="3452490" y="31750"/>
                    <a:pt x="3453760" y="31115"/>
                  </a:cubicBezTo>
                  <a:cubicBezTo>
                    <a:pt x="3455030" y="30480"/>
                    <a:pt x="3456935" y="29845"/>
                    <a:pt x="3458840" y="29210"/>
                  </a:cubicBezTo>
                  <a:cubicBezTo>
                    <a:pt x="3460745" y="29210"/>
                    <a:pt x="3463285" y="28575"/>
                    <a:pt x="3465825" y="28575"/>
                  </a:cubicBezTo>
                  <a:cubicBezTo>
                    <a:pt x="3470270" y="28575"/>
                    <a:pt x="3474080" y="29210"/>
                    <a:pt x="3477890" y="31115"/>
                  </a:cubicBezTo>
                  <a:cubicBezTo>
                    <a:pt x="3481700" y="32385"/>
                    <a:pt x="3484875" y="34925"/>
                    <a:pt x="3487415" y="38735"/>
                  </a:cubicBezTo>
                  <a:cubicBezTo>
                    <a:pt x="3489955" y="41910"/>
                    <a:pt x="3492495" y="46355"/>
                    <a:pt x="3493765" y="51435"/>
                  </a:cubicBezTo>
                  <a:cubicBezTo>
                    <a:pt x="3495035" y="56515"/>
                    <a:pt x="3496305" y="62865"/>
                    <a:pt x="3496305" y="70485"/>
                  </a:cubicBezTo>
                  <a:lnTo>
                    <a:pt x="3495670" y="71120"/>
                  </a:lnTo>
                  <a:cubicBezTo>
                    <a:pt x="3495670" y="77470"/>
                    <a:pt x="3495035" y="83820"/>
                    <a:pt x="3493130" y="88265"/>
                  </a:cubicBezTo>
                  <a:cubicBezTo>
                    <a:pt x="3491225" y="93345"/>
                    <a:pt x="3489320" y="97155"/>
                    <a:pt x="3486145" y="100330"/>
                  </a:cubicBezTo>
                  <a:cubicBezTo>
                    <a:pt x="3483605" y="103505"/>
                    <a:pt x="3479795" y="106045"/>
                    <a:pt x="3476620" y="107315"/>
                  </a:cubicBezTo>
                  <a:cubicBezTo>
                    <a:pt x="3472810" y="109220"/>
                    <a:pt x="3469000" y="109855"/>
                    <a:pt x="3465190" y="109855"/>
                  </a:cubicBezTo>
                  <a:cubicBezTo>
                    <a:pt x="3461380" y="109855"/>
                    <a:pt x="3457570" y="109220"/>
                    <a:pt x="3454395" y="107315"/>
                  </a:cubicBezTo>
                  <a:cubicBezTo>
                    <a:pt x="3450585" y="105410"/>
                    <a:pt x="3448045" y="103505"/>
                    <a:pt x="3445505" y="100965"/>
                  </a:cubicBezTo>
                  <a:lnTo>
                    <a:pt x="3445505" y="107950"/>
                  </a:lnTo>
                  <a:lnTo>
                    <a:pt x="3430265" y="107950"/>
                  </a:lnTo>
                  <a:lnTo>
                    <a:pt x="3430265" y="7620"/>
                  </a:lnTo>
                  <a:close/>
                  <a:moveTo>
                    <a:pt x="2380611" y="0"/>
                  </a:moveTo>
                  <a:lnTo>
                    <a:pt x="2380611" y="30480"/>
                  </a:lnTo>
                  <a:lnTo>
                    <a:pt x="2399661" y="30480"/>
                  </a:lnTo>
                  <a:lnTo>
                    <a:pt x="2399661" y="44450"/>
                  </a:lnTo>
                  <a:lnTo>
                    <a:pt x="2380611" y="44450"/>
                  </a:lnTo>
                  <a:lnTo>
                    <a:pt x="2380611" y="86995"/>
                  </a:lnTo>
                  <a:cubicBezTo>
                    <a:pt x="2380611" y="86995"/>
                    <a:pt x="2380611" y="90170"/>
                    <a:pt x="2380611" y="91440"/>
                  </a:cubicBezTo>
                  <a:cubicBezTo>
                    <a:pt x="2380611" y="92710"/>
                    <a:pt x="2381246" y="93345"/>
                    <a:pt x="2381881" y="94615"/>
                  </a:cubicBezTo>
                  <a:cubicBezTo>
                    <a:pt x="2382516" y="95250"/>
                    <a:pt x="2383151" y="95885"/>
                    <a:pt x="2384421" y="95885"/>
                  </a:cubicBezTo>
                  <a:cubicBezTo>
                    <a:pt x="2385691" y="95885"/>
                    <a:pt x="2386961" y="95885"/>
                    <a:pt x="2388231" y="95885"/>
                  </a:cubicBezTo>
                  <a:cubicBezTo>
                    <a:pt x="2390136" y="95885"/>
                    <a:pt x="2392041" y="95885"/>
                    <a:pt x="2394581" y="95250"/>
                  </a:cubicBezTo>
                  <a:cubicBezTo>
                    <a:pt x="2396486" y="94615"/>
                    <a:pt x="2398391" y="93980"/>
                    <a:pt x="2399661" y="93345"/>
                  </a:cubicBezTo>
                  <a:lnTo>
                    <a:pt x="2397756" y="106680"/>
                  </a:lnTo>
                  <a:cubicBezTo>
                    <a:pt x="2397756" y="106680"/>
                    <a:pt x="2393946" y="108585"/>
                    <a:pt x="2391406" y="109220"/>
                  </a:cubicBezTo>
                  <a:cubicBezTo>
                    <a:pt x="2388866" y="109855"/>
                    <a:pt x="2386326" y="110490"/>
                    <a:pt x="2383151" y="110490"/>
                  </a:cubicBezTo>
                  <a:cubicBezTo>
                    <a:pt x="2380611" y="110490"/>
                    <a:pt x="2378071" y="110490"/>
                    <a:pt x="2376166" y="109220"/>
                  </a:cubicBezTo>
                  <a:cubicBezTo>
                    <a:pt x="2374261" y="108585"/>
                    <a:pt x="2372356" y="107315"/>
                    <a:pt x="2370451" y="105410"/>
                  </a:cubicBezTo>
                  <a:cubicBezTo>
                    <a:pt x="2368546" y="103505"/>
                    <a:pt x="2367276" y="101600"/>
                    <a:pt x="2366641" y="99060"/>
                  </a:cubicBezTo>
                  <a:cubicBezTo>
                    <a:pt x="2366006" y="96520"/>
                    <a:pt x="2365371" y="93345"/>
                    <a:pt x="2365371" y="89535"/>
                  </a:cubicBezTo>
                  <a:lnTo>
                    <a:pt x="2365371" y="44450"/>
                  </a:lnTo>
                  <a:lnTo>
                    <a:pt x="2354576" y="44450"/>
                  </a:lnTo>
                  <a:lnTo>
                    <a:pt x="2354576" y="30480"/>
                  </a:lnTo>
                  <a:lnTo>
                    <a:pt x="2365371" y="30480"/>
                  </a:lnTo>
                  <a:lnTo>
                    <a:pt x="2365371" y="8255"/>
                  </a:lnTo>
                  <a:close/>
                  <a:moveTo>
                    <a:pt x="2150741" y="0"/>
                  </a:moveTo>
                  <a:lnTo>
                    <a:pt x="2150741" y="30480"/>
                  </a:lnTo>
                  <a:lnTo>
                    <a:pt x="2169791" y="30480"/>
                  </a:lnTo>
                  <a:lnTo>
                    <a:pt x="2169791" y="44450"/>
                  </a:lnTo>
                  <a:lnTo>
                    <a:pt x="2150741" y="44450"/>
                  </a:lnTo>
                  <a:lnTo>
                    <a:pt x="2150741" y="86995"/>
                  </a:lnTo>
                  <a:cubicBezTo>
                    <a:pt x="2150741" y="86995"/>
                    <a:pt x="2150741" y="90170"/>
                    <a:pt x="2150741" y="91440"/>
                  </a:cubicBezTo>
                  <a:cubicBezTo>
                    <a:pt x="2150741" y="92710"/>
                    <a:pt x="2151376" y="93345"/>
                    <a:pt x="2152011" y="94615"/>
                  </a:cubicBezTo>
                  <a:cubicBezTo>
                    <a:pt x="2152646" y="95250"/>
                    <a:pt x="2153281" y="95885"/>
                    <a:pt x="2154551" y="95885"/>
                  </a:cubicBezTo>
                  <a:cubicBezTo>
                    <a:pt x="2155821" y="95885"/>
                    <a:pt x="2157091" y="95885"/>
                    <a:pt x="2158361" y="95885"/>
                  </a:cubicBezTo>
                  <a:cubicBezTo>
                    <a:pt x="2160266" y="95885"/>
                    <a:pt x="2162171" y="95885"/>
                    <a:pt x="2164711" y="95250"/>
                  </a:cubicBezTo>
                  <a:cubicBezTo>
                    <a:pt x="2166616" y="94615"/>
                    <a:pt x="2168521" y="93980"/>
                    <a:pt x="2169791" y="93345"/>
                  </a:cubicBezTo>
                  <a:lnTo>
                    <a:pt x="2167886" y="106680"/>
                  </a:lnTo>
                  <a:cubicBezTo>
                    <a:pt x="2167886" y="106680"/>
                    <a:pt x="2164076" y="108585"/>
                    <a:pt x="2161536" y="109220"/>
                  </a:cubicBezTo>
                  <a:cubicBezTo>
                    <a:pt x="2158996" y="109855"/>
                    <a:pt x="2156456" y="110490"/>
                    <a:pt x="2153281" y="110490"/>
                  </a:cubicBezTo>
                  <a:cubicBezTo>
                    <a:pt x="2150741" y="110490"/>
                    <a:pt x="2148201" y="110490"/>
                    <a:pt x="2146296" y="109220"/>
                  </a:cubicBezTo>
                  <a:cubicBezTo>
                    <a:pt x="2144391" y="108585"/>
                    <a:pt x="2142486" y="107315"/>
                    <a:pt x="2140581" y="105410"/>
                  </a:cubicBezTo>
                  <a:cubicBezTo>
                    <a:pt x="2138676" y="103505"/>
                    <a:pt x="2137406" y="101600"/>
                    <a:pt x="2136771" y="99060"/>
                  </a:cubicBezTo>
                  <a:cubicBezTo>
                    <a:pt x="2136136" y="96520"/>
                    <a:pt x="2135501" y="93345"/>
                    <a:pt x="2135501" y="89535"/>
                  </a:cubicBezTo>
                  <a:lnTo>
                    <a:pt x="2135501" y="44450"/>
                  </a:lnTo>
                  <a:lnTo>
                    <a:pt x="2124706" y="44450"/>
                  </a:lnTo>
                  <a:lnTo>
                    <a:pt x="2124706" y="30480"/>
                  </a:lnTo>
                  <a:lnTo>
                    <a:pt x="2135501" y="30480"/>
                  </a:lnTo>
                  <a:lnTo>
                    <a:pt x="2135501" y="8255"/>
                  </a:lnTo>
                  <a:close/>
                  <a:moveTo>
                    <a:pt x="2096131" y="0"/>
                  </a:moveTo>
                  <a:lnTo>
                    <a:pt x="2096131" y="30480"/>
                  </a:lnTo>
                  <a:lnTo>
                    <a:pt x="2115181" y="30480"/>
                  </a:lnTo>
                  <a:lnTo>
                    <a:pt x="2115181" y="44450"/>
                  </a:lnTo>
                  <a:lnTo>
                    <a:pt x="2096131" y="44450"/>
                  </a:lnTo>
                  <a:lnTo>
                    <a:pt x="2096131" y="86995"/>
                  </a:lnTo>
                  <a:cubicBezTo>
                    <a:pt x="2096131" y="86995"/>
                    <a:pt x="2096131" y="90170"/>
                    <a:pt x="2096131" y="91440"/>
                  </a:cubicBezTo>
                  <a:cubicBezTo>
                    <a:pt x="2096131" y="92710"/>
                    <a:pt x="2096766" y="93345"/>
                    <a:pt x="2097401" y="94615"/>
                  </a:cubicBezTo>
                  <a:cubicBezTo>
                    <a:pt x="2098036" y="95250"/>
                    <a:pt x="2098671" y="95885"/>
                    <a:pt x="2099941" y="95885"/>
                  </a:cubicBezTo>
                  <a:cubicBezTo>
                    <a:pt x="2101211" y="95885"/>
                    <a:pt x="2102481" y="95885"/>
                    <a:pt x="2103751" y="95885"/>
                  </a:cubicBezTo>
                  <a:cubicBezTo>
                    <a:pt x="2105656" y="95885"/>
                    <a:pt x="2107561" y="95885"/>
                    <a:pt x="2110101" y="95250"/>
                  </a:cubicBezTo>
                  <a:cubicBezTo>
                    <a:pt x="2112006" y="94615"/>
                    <a:pt x="2113911" y="93980"/>
                    <a:pt x="2115181" y="93345"/>
                  </a:cubicBezTo>
                  <a:lnTo>
                    <a:pt x="2113276" y="106680"/>
                  </a:lnTo>
                  <a:cubicBezTo>
                    <a:pt x="2113276" y="106680"/>
                    <a:pt x="2109466" y="108585"/>
                    <a:pt x="2106926" y="109220"/>
                  </a:cubicBezTo>
                  <a:cubicBezTo>
                    <a:pt x="2104386" y="109855"/>
                    <a:pt x="2101846" y="110490"/>
                    <a:pt x="2098671" y="110490"/>
                  </a:cubicBezTo>
                  <a:cubicBezTo>
                    <a:pt x="2096131" y="110490"/>
                    <a:pt x="2093591" y="110490"/>
                    <a:pt x="2091686" y="109220"/>
                  </a:cubicBezTo>
                  <a:cubicBezTo>
                    <a:pt x="2089781" y="108585"/>
                    <a:pt x="2087876" y="107315"/>
                    <a:pt x="2085971" y="105410"/>
                  </a:cubicBezTo>
                  <a:cubicBezTo>
                    <a:pt x="2084066" y="103505"/>
                    <a:pt x="2082796" y="101600"/>
                    <a:pt x="2082161" y="99060"/>
                  </a:cubicBezTo>
                  <a:cubicBezTo>
                    <a:pt x="2081526" y="96520"/>
                    <a:pt x="2080891" y="93345"/>
                    <a:pt x="2080891" y="89535"/>
                  </a:cubicBezTo>
                  <a:lnTo>
                    <a:pt x="2080891" y="44450"/>
                  </a:lnTo>
                  <a:lnTo>
                    <a:pt x="2070096" y="44450"/>
                  </a:lnTo>
                  <a:lnTo>
                    <a:pt x="2070096" y="30480"/>
                  </a:lnTo>
                  <a:lnTo>
                    <a:pt x="2080891" y="30480"/>
                  </a:lnTo>
                  <a:lnTo>
                    <a:pt x="2080891" y="8255"/>
                  </a:lnTo>
                  <a:close/>
                  <a:moveTo>
                    <a:pt x="1931665" y="0"/>
                  </a:moveTo>
                  <a:lnTo>
                    <a:pt x="1931665" y="37465"/>
                  </a:lnTo>
                  <a:cubicBezTo>
                    <a:pt x="1931665" y="37465"/>
                    <a:pt x="1934840" y="34925"/>
                    <a:pt x="1936110" y="33655"/>
                  </a:cubicBezTo>
                  <a:cubicBezTo>
                    <a:pt x="1937380" y="33020"/>
                    <a:pt x="1938650" y="31750"/>
                    <a:pt x="1939920" y="31115"/>
                  </a:cubicBezTo>
                  <a:cubicBezTo>
                    <a:pt x="1941190" y="30480"/>
                    <a:pt x="1943095" y="29845"/>
                    <a:pt x="1945000" y="29210"/>
                  </a:cubicBezTo>
                  <a:cubicBezTo>
                    <a:pt x="1946905" y="29210"/>
                    <a:pt x="1949445" y="28575"/>
                    <a:pt x="1951985" y="28575"/>
                  </a:cubicBezTo>
                  <a:cubicBezTo>
                    <a:pt x="1956430" y="28575"/>
                    <a:pt x="1960240" y="29210"/>
                    <a:pt x="1964050" y="31115"/>
                  </a:cubicBezTo>
                  <a:cubicBezTo>
                    <a:pt x="1967860" y="32385"/>
                    <a:pt x="1971035" y="34925"/>
                    <a:pt x="1973575" y="38735"/>
                  </a:cubicBezTo>
                  <a:cubicBezTo>
                    <a:pt x="1976115" y="41910"/>
                    <a:pt x="1978655" y="46355"/>
                    <a:pt x="1979925" y="51435"/>
                  </a:cubicBezTo>
                  <a:cubicBezTo>
                    <a:pt x="1981195" y="56515"/>
                    <a:pt x="1982465" y="62865"/>
                    <a:pt x="1982465" y="70485"/>
                  </a:cubicBezTo>
                  <a:lnTo>
                    <a:pt x="1981830" y="71120"/>
                  </a:lnTo>
                  <a:cubicBezTo>
                    <a:pt x="1981830" y="77470"/>
                    <a:pt x="1981195" y="83820"/>
                    <a:pt x="1979290" y="88265"/>
                  </a:cubicBezTo>
                  <a:cubicBezTo>
                    <a:pt x="1977385" y="93345"/>
                    <a:pt x="1975480" y="97155"/>
                    <a:pt x="1972305" y="100330"/>
                  </a:cubicBezTo>
                  <a:cubicBezTo>
                    <a:pt x="1969765" y="103505"/>
                    <a:pt x="1965955" y="106045"/>
                    <a:pt x="1962780" y="107315"/>
                  </a:cubicBezTo>
                  <a:cubicBezTo>
                    <a:pt x="1958970" y="109220"/>
                    <a:pt x="1955160" y="109855"/>
                    <a:pt x="1951350" y="109855"/>
                  </a:cubicBezTo>
                  <a:cubicBezTo>
                    <a:pt x="1947540" y="109855"/>
                    <a:pt x="1943730" y="109220"/>
                    <a:pt x="1940555" y="107315"/>
                  </a:cubicBezTo>
                  <a:cubicBezTo>
                    <a:pt x="1936745" y="105410"/>
                    <a:pt x="1934205" y="103505"/>
                    <a:pt x="1931665" y="100965"/>
                  </a:cubicBezTo>
                  <a:lnTo>
                    <a:pt x="1931665" y="107950"/>
                  </a:lnTo>
                  <a:lnTo>
                    <a:pt x="1916425" y="107950"/>
                  </a:lnTo>
                  <a:lnTo>
                    <a:pt x="1916425" y="7620"/>
                  </a:lnTo>
                  <a:close/>
                  <a:moveTo>
                    <a:pt x="1316991" y="0"/>
                  </a:moveTo>
                  <a:lnTo>
                    <a:pt x="1316991" y="30480"/>
                  </a:lnTo>
                  <a:lnTo>
                    <a:pt x="1336041" y="30480"/>
                  </a:lnTo>
                  <a:lnTo>
                    <a:pt x="1336041" y="44450"/>
                  </a:lnTo>
                  <a:lnTo>
                    <a:pt x="1316991" y="44450"/>
                  </a:lnTo>
                  <a:lnTo>
                    <a:pt x="1316991" y="86995"/>
                  </a:lnTo>
                  <a:cubicBezTo>
                    <a:pt x="1316991" y="86995"/>
                    <a:pt x="1316991" y="90170"/>
                    <a:pt x="1316991" y="91440"/>
                  </a:cubicBezTo>
                  <a:cubicBezTo>
                    <a:pt x="1316991" y="92710"/>
                    <a:pt x="1317627" y="93345"/>
                    <a:pt x="1318261" y="94615"/>
                  </a:cubicBezTo>
                  <a:cubicBezTo>
                    <a:pt x="1318896" y="95250"/>
                    <a:pt x="1319531" y="95885"/>
                    <a:pt x="1320801" y="95885"/>
                  </a:cubicBezTo>
                  <a:cubicBezTo>
                    <a:pt x="1322072" y="95885"/>
                    <a:pt x="1323341" y="95885"/>
                    <a:pt x="1324611" y="95885"/>
                  </a:cubicBezTo>
                  <a:cubicBezTo>
                    <a:pt x="1326516" y="95885"/>
                    <a:pt x="1328422" y="95885"/>
                    <a:pt x="1330961" y="95250"/>
                  </a:cubicBezTo>
                  <a:cubicBezTo>
                    <a:pt x="1332867" y="94615"/>
                    <a:pt x="1334772" y="93980"/>
                    <a:pt x="1336041" y="93345"/>
                  </a:cubicBezTo>
                  <a:lnTo>
                    <a:pt x="1334136" y="106680"/>
                  </a:lnTo>
                  <a:cubicBezTo>
                    <a:pt x="1334136" y="106680"/>
                    <a:pt x="1330326" y="108585"/>
                    <a:pt x="1327786" y="109220"/>
                  </a:cubicBezTo>
                  <a:cubicBezTo>
                    <a:pt x="1325246" y="109855"/>
                    <a:pt x="1322706" y="110490"/>
                    <a:pt x="1319531" y="110490"/>
                  </a:cubicBezTo>
                  <a:cubicBezTo>
                    <a:pt x="1316991" y="110490"/>
                    <a:pt x="1314451" y="110490"/>
                    <a:pt x="1312546" y="109220"/>
                  </a:cubicBezTo>
                  <a:cubicBezTo>
                    <a:pt x="1310641" y="108585"/>
                    <a:pt x="1308736" y="107315"/>
                    <a:pt x="1306831" y="105410"/>
                  </a:cubicBezTo>
                  <a:cubicBezTo>
                    <a:pt x="1304926" y="103505"/>
                    <a:pt x="1303656" y="101600"/>
                    <a:pt x="1303021" y="99060"/>
                  </a:cubicBezTo>
                  <a:cubicBezTo>
                    <a:pt x="1302386" y="96520"/>
                    <a:pt x="1301751" y="93345"/>
                    <a:pt x="1301751" y="89535"/>
                  </a:cubicBezTo>
                  <a:lnTo>
                    <a:pt x="1301751" y="44450"/>
                  </a:lnTo>
                  <a:lnTo>
                    <a:pt x="1290956" y="44450"/>
                  </a:lnTo>
                  <a:lnTo>
                    <a:pt x="1290956" y="30480"/>
                  </a:lnTo>
                  <a:lnTo>
                    <a:pt x="1301751" y="30480"/>
                  </a:lnTo>
                  <a:lnTo>
                    <a:pt x="1301751" y="8255"/>
                  </a:lnTo>
                  <a:close/>
                  <a:moveTo>
                    <a:pt x="751206" y="0"/>
                  </a:moveTo>
                  <a:lnTo>
                    <a:pt x="751206" y="30480"/>
                  </a:lnTo>
                  <a:lnTo>
                    <a:pt x="770256" y="30480"/>
                  </a:lnTo>
                  <a:lnTo>
                    <a:pt x="770256" y="44450"/>
                  </a:lnTo>
                  <a:lnTo>
                    <a:pt x="751206" y="44450"/>
                  </a:lnTo>
                  <a:lnTo>
                    <a:pt x="751206" y="86995"/>
                  </a:lnTo>
                  <a:cubicBezTo>
                    <a:pt x="751206" y="86995"/>
                    <a:pt x="751206" y="90170"/>
                    <a:pt x="751206" y="91440"/>
                  </a:cubicBezTo>
                  <a:cubicBezTo>
                    <a:pt x="751206" y="92710"/>
                    <a:pt x="751841" y="93345"/>
                    <a:pt x="752476" y="94615"/>
                  </a:cubicBezTo>
                  <a:cubicBezTo>
                    <a:pt x="753111" y="95250"/>
                    <a:pt x="753746" y="95885"/>
                    <a:pt x="755016" y="95885"/>
                  </a:cubicBezTo>
                  <a:cubicBezTo>
                    <a:pt x="756286" y="95885"/>
                    <a:pt x="757556" y="95885"/>
                    <a:pt x="758826" y="95885"/>
                  </a:cubicBezTo>
                  <a:cubicBezTo>
                    <a:pt x="760731" y="95885"/>
                    <a:pt x="762636" y="95885"/>
                    <a:pt x="765176" y="95250"/>
                  </a:cubicBezTo>
                  <a:cubicBezTo>
                    <a:pt x="767081" y="94615"/>
                    <a:pt x="768986" y="93980"/>
                    <a:pt x="770256" y="93345"/>
                  </a:cubicBezTo>
                  <a:lnTo>
                    <a:pt x="768351" y="106680"/>
                  </a:lnTo>
                  <a:cubicBezTo>
                    <a:pt x="768351" y="106680"/>
                    <a:pt x="764541" y="108585"/>
                    <a:pt x="762001" y="109220"/>
                  </a:cubicBezTo>
                  <a:cubicBezTo>
                    <a:pt x="759461" y="109855"/>
                    <a:pt x="756921" y="110490"/>
                    <a:pt x="753746" y="110490"/>
                  </a:cubicBezTo>
                  <a:cubicBezTo>
                    <a:pt x="751206" y="110490"/>
                    <a:pt x="748666" y="110490"/>
                    <a:pt x="746761" y="109220"/>
                  </a:cubicBezTo>
                  <a:cubicBezTo>
                    <a:pt x="744856" y="108585"/>
                    <a:pt x="742951" y="107315"/>
                    <a:pt x="741045" y="105410"/>
                  </a:cubicBezTo>
                  <a:cubicBezTo>
                    <a:pt x="739141" y="103505"/>
                    <a:pt x="737871" y="101600"/>
                    <a:pt x="737236" y="99060"/>
                  </a:cubicBezTo>
                  <a:cubicBezTo>
                    <a:pt x="736600" y="96520"/>
                    <a:pt x="735966" y="93345"/>
                    <a:pt x="735966" y="89535"/>
                  </a:cubicBezTo>
                  <a:lnTo>
                    <a:pt x="735966" y="44450"/>
                  </a:lnTo>
                  <a:lnTo>
                    <a:pt x="725171" y="44450"/>
                  </a:lnTo>
                  <a:lnTo>
                    <a:pt x="725171" y="30480"/>
                  </a:lnTo>
                  <a:lnTo>
                    <a:pt x="735966" y="30480"/>
                  </a:lnTo>
                  <a:lnTo>
                    <a:pt x="735966" y="8255"/>
                  </a:lnTo>
                  <a:close/>
                  <a:moveTo>
                    <a:pt x="521335" y="0"/>
                  </a:moveTo>
                  <a:lnTo>
                    <a:pt x="521335" y="30480"/>
                  </a:lnTo>
                  <a:lnTo>
                    <a:pt x="540385" y="30480"/>
                  </a:lnTo>
                  <a:lnTo>
                    <a:pt x="540385" y="44450"/>
                  </a:lnTo>
                  <a:lnTo>
                    <a:pt x="521335" y="44450"/>
                  </a:lnTo>
                  <a:lnTo>
                    <a:pt x="521335" y="86995"/>
                  </a:lnTo>
                  <a:cubicBezTo>
                    <a:pt x="521335" y="86995"/>
                    <a:pt x="521335" y="90170"/>
                    <a:pt x="521335" y="91440"/>
                  </a:cubicBezTo>
                  <a:cubicBezTo>
                    <a:pt x="521335" y="92710"/>
                    <a:pt x="521970" y="93345"/>
                    <a:pt x="522605" y="94615"/>
                  </a:cubicBezTo>
                  <a:cubicBezTo>
                    <a:pt x="523240" y="95250"/>
                    <a:pt x="523875" y="95885"/>
                    <a:pt x="525145" y="95885"/>
                  </a:cubicBezTo>
                  <a:cubicBezTo>
                    <a:pt x="526415" y="95885"/>
                    <a:pt x="527685" y="95885"/>
                    <a:pt x="528955" y="95885"/>
                  </a:cubicBezTo>
                  <a:cubicBezTo>
                    <a:pt x="530860" y="95885"/>
                    <a:pt x="532765" y="95885"/>
                    <a:pt x="535305" y="95250"/>
                  </a:cubicBezTo>
                  <a:cubicBezTo>
                    <a:pt x="537210" y="94615"/>
                    <a:pt x="539115" y="93980"/>
                    <a:pt x="540385" y="93345"/>
                  </a:cubicBezTo>
                  <a:lnTo>
                    <a:pt x="538480" y="106680"/>
                  </a:lnTo>
                  <a:cubicBezTo>
                    <a:pt x="538480" y="106680"/>
                    <a:pt x="534670" y="108585"/>
                    <a:pt x="532130" y="109220"/>
                  </a:cubicBezTo>
                  <a:cubicBezTo>
                    <a:pt x="529590" y="109855"/>
                    <a:pt x="527050" y="110490"/>
                    <a:pt x="523875" y="110490"/>
                  </a:cubicBezTo>
                  <a:cubicBezTo>
                    <a:pt x="521335" y="110490"/>
                    <a:pt x="518795" y="110490"/>
                    <a:pt x="516890" y="109220"/>
                  </a:cubicBezTo>
                  <a:cubicBezTo>
                    <a:pt x="514985" y="108585"/>
                    <a:pt x="513080" y="107315"/>
                    <a:pt x="511175" y="105410"/>
                  </a:cubicBezTo>
                  <a:cubicBezTo>
                    <a:pt x="509270" y="103505"/>
                    <a:pt x="508000" y="101600"/>
                    <a:pt x="507365" y="99060"/>
                  </a:cubicBezTo>
                  <a:cubicBezTo>
                    <a:pt x="506730" y="96520"/>
                    <a:pt x="506095" y="93345"/>
                    <a:pt x="506095" y="89535"/>
                  </a:cubicBezTo>
                  <a:lnTo>
                    <a:pt x="506095" y="44450"/>
                  </a:lnTo>
                  <a:lnTo>
                    <a:pt x="495300" y="44450"/>
                  </a:lnTo>
                  <a:lnTo>
                    <a:pt x="495300" y="30480"/>
                  </a:lnTo>
                  <a:lnTo>
                    <a:pt x="506095" y="30480"/>
                  </a:lnTo>
                  <a:lnTo>
                    <a:pt x="506095" y="8255"/>
                  </a:lnTo>
                  <a:close/>
                  <a:moveTo>
                    <a:pt x="466724" y="0"/>
                  </a:moveTo>
                  <a:lnTo>
                    <a:pt x="466724" y="30480"/>
                  </a:lnTo>
                  <a:lnTo>
                    <a:pt x="485774" y="30480"/>
                  </a:lnTo>
                  <a:lnTo>
                    <a:pt x="485774" y="44450"/>
                  </a:lnTo>
                  <a:lnTo>
                    <a:pt x="466724" y="44450"/>
                  </a:lnTo>
                  <a:lnTo>
                    <a:pt x="466724" y="86995"/>
                  </a:lnTo>
                  <a:cubicBezTo>
                    <a:pt x="466724" y="86995"/>
                    <a:pt x="466724" y="90170"/>
                    <a:pt x="466724" y="91440"/>
                  </a:cubicBezTo>
                  <a:cubicBezTo>
                    <a:pt x="466724" y="92710"/>
                    <a:pt x="467359" y="93345"/>
                    <a:pt x="467994" y="94615"/>
                  </a:cubicBezTo>
                  <a:cubicBezTo>
                    <a:pt x="468629" y="95250"/>
                    <a:pt x="469264" y="95885"/>
                    <a:pt x="470534" y="95885"/>
                  </a:cubicBezTo>
                  <a:cubicBezTo>
                    <a:pt x="471804" y="95885"/>
                    <a:pt x="473074" y="95885"/>
                    <a:pt x="474344" y="95885"/>
                  </a:cubicBezTo>
                  <a:cubicBezTo>
                    <a:pt x="476249" y="95885"/>
                    <a:pt x="478154" y="95885"/>
                    <a:pt x="480694" y="95250"/>
                  </a:cubicBezTo>
                  <a:cubicBezTo>
                    <a:pt x="482599" y="94615"/>
                    <a:pt x="484504" y="93980"/>
                    <a:pt x="485774" y="93345"/>
                  </a:cubicBezTo>
                  <a:lnTo>
                    <a:pt x="483869" y="106680"/>
                  </a:lnTo>
                  <a:cubicBezTo>
                    <a:pt x="483869" y="106680"/>
                    <a:pt x="480059" y="108585"/>
                    <a:pt x="477519" y="109220"/>
                  </a:cubicBezTo>
                  <a:cubicBezTo>
                    <a:pt x="474979" y="109855"/>
                    <a:pt x="472439" y="110490"/>
                    <a:pt x="469264" y="110490"/>
                  </a:cubicBezTo>
                  <a:cubicBezTo>
                    <a:pt x="466724" y="110490"/>
                    <a:pt x="464184" y="110490"/>
                    <a:pt x="462279" y="109220"/>
                  </a:cubicBezTo>
                  <a:cubicBezTo>
                    <a:pt x="460374" y="108585"/>
                    <a:pt x="458469" y="107315"/>
                    <a:pt x="456564" y="105410"/>
                  </a:cubicBezTo>
                  <a:cubicBezTo>
                    <a:pt x="454659" y="103505"/>
                    <a:pt x="453389" y="101600"/>
                    <a:pt x="452754" y="99060"/>
                  </a:cubicBezTo>
                  <a:cubicBezTo>
                    <a:pt x="452119" y="96520"/>
                    <a:pt x="451484" y="93345"/>
                    <a:pt x="451484" y="89535"/>
                  </a:cubicBezTo>
                  <a:lnTo>
                    <a:pt x="451484" y="44450"/>
                  </a:lnTo>
                  <a:lnTo>
                    <a:pt x="440689" y="44450"/>
                  </a:lnTo>
                  <a:lnTo>
                    <a:pt x="440689" y="30480"/>
                  </a:lnTo>
                  <a:lnTo>
                    <a:pt x="451484" y="30480"/>
                  </a:lnTo>
                  <a:lnTo>
                    <a:pt x="451484" y="8255"/>
                  </a:lnTo>
                  <a:close/>
                  <a:moveTo>
                    <a:pt x="302259" y="0"/>
                  </a:moveTo>
                  <a:lnTo>
                    <a:pt x="302259" y="37465"/>
                  </a:lnTo>
                  <a:cubicBezTo>
                    <a:pt x="302259" y="37465"/>
                    <a:pt x="305434" y="34925"/>
                    <a:pt x="306704" y="33655"/>
                  </a:cubicBezTo>
                  <a:cubicBezTo>
                    <a:pt x="307974" y="33020"/>
                    <a:pt x="309244" y="31750"/>
                    <a:pt x="310514" y="31115"/>
                  </a:cubicBezTo>
                  <a:cubicBezTo>
                    <a:pt x="311784" y="30480"/>
                    <a:pt x="313689" y="29845"/>
                    <a:pt x="315594" y="29210"/>
                  </a:cubicBezTo>
                  <a:cubicBezTo>
                    <a:pt x="317499" y="29210"/>
                    <a:pt x="320039" y="28575"/>
                    <a:pt x="322579" y="28575"/>
                  </a:cubicBezTo>
                  <a:cubicBezTo>
                    <a:pt x="327024" y="28575"/>
                    <a:pt x="330834" y="29210"/>
                    <a:pt x="334644" y="31115"/>
                  </a:cubicBezTo>
                  <a:cubicBezTo>
                    <a:pt x="338454" y="32385"/>
                    <a:pt x="341629" y="34925"/>
                    <a:pt x="344169" y="38735"/>
                  </a:cubicBezTo>
                  <a:cubicBezTo>
                    <a:pt x="346709" y="41910"/>
                    <a:pt x="349249" y="46355"/>
                    <a:pt x="350519" y="51435"/>
                  </a:cubicBezTo>
                  <a:cubicBezTo>
                    <a:pt x="351789" y="56515"/>
                    <a:pt x="353059" y="62865"/>
                    <a:pt x="353059" y="70485"/>
                  </a:cubicBezTo>
                  <a:lnTo>
                    <a:pt x="352424" y="71120"/>
                  </a:lnTo>
                  <a:cubicBezTo>
                    <a:pt x="352424" y="77470"/>
                    <a:pt x="351789" y="83820"/>
                    <a:pt x="349884" y="88265"/>
                  </a:cubicBezTo>
                  <a:cubicBezTo>
                    <a:pt x="347979" y="93345"/>
                    <a:pt x="346074" y="97155"/>
                    <a:pt x="342899" y="100330"/>
                  </a:cubicBezTo>
                  <a:cubicBezTo>
                    <a:pt x="340359" y="103505"/>
                    <a:pt x="336549" y="106045"/>
                    <a:pt x="333374" y="107315"/>
                  </a:cubicBezTo>
                  <a:cubicBezTo>
                    <a:pt x="329564" y="109220"/>
                    <a:pt x="325754" y="109855"/>
                    <a:pt x="321944" y="109855"/>
                  </a:cubicBezTo>
                  <a:cubicBezTo>
                    <a:pt x="318134" y="109855"/>
                    <a:pt x="314324" y="109220"/>
                    <a:pt x="311149" y="107315"/>
                  </a:cubicBezTo>
                  <a:cubicBezTo>
                    <a:pt x="307339" y="105410"/>
                    <a:pt x="304799" y="103505"/>
                    <a:pt x="302259" y="100965"/>
                  </a:cubicBezTo>
                  <a:lnTo>
                    <a:pt x="302259" y="107950"/>
                  </a:lnTo>
                  <a:lnTo>
                    <a:pt x="287019" y="107950"/>
                  </a:lnTo>
                  <a:lnTo>
                    <a:pt x="287019" y="7620"/>
                  </a:lnTo>
                  <a:close/>
                </a:path>
              </a:pathLst>
            </a:custGeom>
            <a:solidFill>
              <a:srgbClr val="FFFFFF"/>
            </a:solidFill>
            <a:ln w="63500" cap="flat">
              <a:noFill/>
              <a:prstDash val="solid"/>
              <a:miter/>
            </a:ln>
          </p:spPr>
          <p:txBody>
            <a:bodyPr rtlCol="0" anchor="ctr"/>
            <a:lstStyle/>
            <a:p>
              <a:endParaRPr lang="en-US" sz="3600"/>
            </a:p>
          </p:txBody>
        </p:sp>
      </p:grpSp>
      <p:grpSp>
        <p:nvGrpSpPr>
          <p:cNvPr id="4" name="Group 3">
            <a:extLst>
              <a:ext uri="{FF2B5EF4-FFF2-40B4-BE49-F238E27FC236}">
                <a16:creationId xmlns:a16="http://schemas.microsoft.com/office/drawing/2014/main" id="{9767D4D9-A47B-4020-6B9B-87B081166C85}"/>
              </a:ext>
            </a:extLst>
          </p:cNvPr>
          <p:cNvGrpSpPr/>
          <p:nvPr userDrawn="1"/>
        </p:nvGrpSpPr>
        <p:grpSpPr>
          <a:xfrm>
            <a:off x="971674" y="2582017"/>
            <a:ext cx="11413706" cy="8721090"/>
            <a:chOff x="485774" y="1291008"/>
            <a:chExt cx="5706110" cy="4360545"/>
          </a:xfrm>
        </p:grpSpPr>
        <p:sp>
          <p:nvSpPr>
            <p:cNvPr id="299" name="Freeform 298">
              <a:extLst>
                <a:ext uri="{FF2B5EF4-FFF2-40B4-BE49-F238E27FC236}">
                  <a16:creationId xmlns:a16="http://schemas.microsoft.com/office/drawing/2014/main" id="{70589FC3-4491-BD75-2C16-660DF0B71BBC}"/>
                </a:ext>
              </a:extLst>
            </p:cNvPr>
            <p:cNvSpPr/>
            <p:nvPr/>
          </p:nvSpPr>
          <p:spPr>
            <a:xfrm>
              <a:off x="485774" y="5549953"/>
              <a:ext cx="508000" cy="101600"/>
            </a:xfrm>
            <a:custGeom>
              <a:avLst/>
              <a:gdLst>
                <a:gd name="connsiteX0" fmla="*/ 406400 w 508000"/>
                <a:gd name="connsiteY0" fmla="*/ 0 h 101600"/>
                <a:gd name="connsiteX1" fmla="*/ 508000 w 508000"/>
                <a:gd name="connsiteY1" fmla="*/ 0 h 101600"/>
                <a:gd name="connsiteX2" fmla="*/ 508000 w 508000"/>
                <a:gd name="connsiteY2" fmla="*/ 101600 h 101600"/>
                <a:gd name="connsiteX3" fmla="*/ 406400 w 508000"/>
                <a:gd name="connsiteY3" fmla="*/ 101600 h 101600"/>
                <a:gd name="connsiteX4" fmla="*/ 203200 w 508000"/>
                <a:gd name="connsiteY4" fmla="*/ 0 h 101600"/>
                <a:gd name="connsiteX5" fmla="*/ 304800 w 508000"/>
                <a:gd name="connsiteY5" fmla="*/ 0 h 101600"/>
                <a:gd name="connsiteX6" fmla="*/ 304800 w 508000"/>
                <a:gd name="connsiteY6" fmla="*/ 101600 h 101600"/>
                <a:gd name="connsiteX7" fmla="*/ 203200 w 508000"/>
                <a:gd name="connsiteY7" fmla="*/ 101600 h 101600"/>
                <a:gd name="connsiteX8" fmla="*/ 0 w 508000"/>
                <a:gd name="connsiteY8" fmla="*/ 0 h 101600"/>
                <a:gd name="connsiteX9" fmla="*/ 101600 w 508000"/>
                <a:gd name="connsiteY9" fmla="*/ 0 h 101600"/>
                <a:gd name="connsiteX10" fmla="*/ 101600 w 508000"/>
                <a:gd name="connsiteY10" fmla="*/ 101600 h 101600"/>
                <a:gd name="connsiteX11" fmla="*/ 0 w 508000"/>
                <a:gd name="connsiteY11" fmla="*/ 101600 h 10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08000" h="101600">
                  <a:moveTo>
                    <a:pt x="406400" y="0"/>
                  </a:moveTo>
                  <a:lnTo>
                    <a:pt x="508000" y="0"/>
                  </a:lnTo>
                  <a:lnTo>
                    <a:pt x="508000" y="101600"/>
                  </a:lnTo>
                  <a:lnTo>
                    <a:pt x="406400" y="101600"/>
                  </a:lnTo>
                  <a:close/>
                  <a:moveTo>
                    <a:pt x="203200" y="0"/>
                  </a:moveTo>
                  <a:lnTo>
                    <a:pt x="304800" y="0"/>
                  </a:lnTo>
                  <a:lnTo>
                    <a:pt x="304800" y="101600"/>
                  </a:lnTo>
                  <a:lnTo>
                    <a:pt x="203200" y="101600"/>
                  </a:lnTo>
                  <a:close/>
                  <a:moveTo>
                    <a:pt x="0" y="0"/>
                  </a:moveTo>
                  <a:lnTo>
                    <a:pt x="101600" y="0"/>
                  </a:lnTo>
                  <a:lnTo>
                    <a:pt x="101600" y="101600"/>
                  </a:lnTo>
                  <a:lnTo>
                    <a:pt x="0" y="101600"/>
                  </a:lnTo>
                  <a:close/>
                </a:path>
              </a:pathLst>
            </a:custGeom>
            <a:solidFill>
              <a:schemeClr val="tx2"/>
            </a:solidFill>
            <a:ln w="63500" cap="flat">
              <a:noFill/>
              <a:prstDash val="solid"/>
              <a:miter/>
            </a:ln>
          </p:spPr>
          <p:txBody>
            <a:bodyPr rtlCol="0" anchor="ctr"/>
            <a:lstStyle/>
            <a:p>
              <a:endParaRPr lang="en-US" sz="3600"/>
            </a:p>
          </p:txBody>
        </p:sp>
        <p:sp>
          <p:nvSpPr>
            <p:cNvPr id="293" name="Freeform 292">
              <a:extLst>
                <a:ext uri="{FF2B5EF4-FFF2-40B4-BE49-F238E27FC236}">
                  <a16:creationId xmlns:a16="http://schemas.microsoft.com/office/drawing/2014/main" id="{B00DB918-F11D-F855-5478-ECB25A1AC3D1}"/>
                </a:ext>
              </a:extLst>
            </p:cNvPr>
            <p:cNvSpPr/>
            <p:nvPr/>
          </p:nvSpPr>
          <p:spPr>
            <a:xfrm>
              <a:off x="485775" y="1291008"/>
              <a:ext cx="5706109" cy="4359275"/>
            </a:xfrm>
            <a:custGeom>
              <a:avLst/>
              <a:gdLst>
                <a:gd name="connsiteX0" fmla="*/ 0 w 5706109"/>
                <a:gd name="connsiteY0" fmla="*/ 4157346 h 4359275"/>
                <a:gd name="connsiteX1" fmla="*/ 101600 w 5706109"/>
                <a:gd name="connsiteY1" fmla="*/ 4157346 h 4359275"/>
                <a:gd name="connsiteX2" fmla="*/ 101600 w 5706109"/>
                <a:gd name="connsiteY2" fmla="*/ 1075055 h 4359275"/>
                <a:gd name="connsiteX3" fmla="*/ 101600 w 5706109"/>
                <a:gd name="connsiteY3" fmla="*/ 1075055 h 4359275"/>
                <a:gd name="connsiteX4" fmla="*/ 191770 w 5706109"/>
                <a:gd name="connsiteY4" fmla="*/ 1059180 h 4359275"/>
                <a:gd name="connsiteX5" fmla="*/ 861060 w 5706109"/>
                <a:gd name="connsiteY5" fmla="*/ 942975 h 4359275"/>
                <a:gd name="connsiteX6" fmla="*/ 1195705 w 5706109"/>
                <a:gd name="connsiteY6" fmla="*/ 885190 h 4359275"/>
                <a:gd name="connsiteX7" fmla="*/ 1362710 w 5706109"/>
                <a:gd name="connsiteY7" fmla="*/ 855980 h 4359275"/>
                <a:gd name="connsiteX8" fmla="*/ 1529715 w 5706109"/>
                <a:gd name="connsiteY8" fmla="*/ 826770 h 4359275"/>
                <a:gd name="connsiteX9" fmla="*/ 1864360 w 5706109"/>
                <a:gd name="connsiteY9" fmla="*/ 768985 h 4359275"/>
                <a:gd name="connsiteX10" fmla="*/ 2031365 w 5706109"/>
                <a:gd name="connsiteY10" fmla="*/ 739775 h 4359275"/>
                <a:gd name="connsiteX11" fmla="*/ 2198370 w 5706109"/>
                <a:gd name="connsiteY11" fmla="*/ 710565 h 4359275"/>
                <a:gd name="connsiteX12" fmla="*/ 2365375 w 5706109"/>
                <a:gd name="connsiteY12" fmla="*/ 681355 h 4359275"/>
                <a:gd name="connsiteX13" fmla="*/ 2532380 w 5706109"/>
                <a:gd name="connsiteY13" fmla="*/ 652145 h 4359275"/>
                <a:gd name="connsiteX14" fmla="*/ 2699385 w 5706109"/>
                <a:gd name="connsiteY14" fmla="*/ 622935 h 4359275"/>
                <a:gd name="connsiteX15" fmla="*/ 2866390 w 5706109"/>
                <a:gd name="connsiteY15" fmla="*/ 593725 h 4359275"/>
                <a:gd name="connsiteX16" fmla="*/ 5461000 w 5706109"/>
                <a:gd name="connsiteY16" fmla="*/ 144145 h 4359275"/>
                <a:gd name="connsiteX17" fmla="*/ 5602605 w 5706109"/>
                <a:gd name="connsiteY17" fmla="*/ 119380 h 4359275"/>
                <a:gd name="connsiteX18" fmla="*/ 5602605 w 5706109"/>
                <a:gd name="connsiteY18" fmla="*/ 119380 h 4359275"/>
                <a:gd name="connsiteX19" fmla="*/ 5602605 w 5706109"/>
                <a:gd name="connsiteY19" fmla="*/ 4257676 h 4359275"/>
                <a:gd name="connsiteX20" fmla="*/ 609600 w 5706109"/>
                <a:gd name="connsiteY20" fmla="*/ 4257676 h 4359275"/>
                <a:gd name="connsiteX21" fmla="*/ 609600 w 5706109"/>
                <a:gd name="connsiteY21" fmla="*/ 4359276 h 4359275"/>
                <a:gd name="connsiteX22" fmla="*/ 5706110 w 5706109"/>
                <a:gd name="connsiteY22" fmla="*/ 4359276 h 4359275"/>
                <a:gd name="connsiteX23" fmla="*/ 5706110 w 5706109"/>
                <a:gd name="connsiteY23" fmla="*/ 0 h 4359275"/>
                <a:gd name="connsiteX24" fmla="*/ 5704840 w 5706109"/>
                <a:gd name="connsiteY24" fmla="*/ 0 h 4359275"/>
                <a:gd name="connsiteX25" fmla="*/ 5445760 w 5706109"/>
                <a:gd name="connsiteY25" fmla="*/ 45085 h 4359275"/>
                <a:gd name="connsiteX26" fmla="*/ 2851150 w 5706109"/>
                <a:gd name="connsiteY26" fmla="*/ 494665 h 4359275"/>
                <a:gd name="connsiteX27" fmla="*/ 2684145 w 5706109"/>
                <a:gd name="connsiteY27" fmla="*/ 523875 h 4359275"/>
                <a:gd name="connsiteX28" fmla="*/ 2517140 w 5706109"/>
                <a:gd name="connsiteY28" fmla="*/ 553085 h 4359275"/>
                <a:gd name="connsiteX29" fmla="*/ 2350135 w 5706109"/>
                <a:gd name="connsiteY29" fmla="*/ 582295 h 4359275"/>
                <a:gd name="connsiteX30" fmla="*/ 2183130 w 5706109"/>
                <a:gd name="connsiteY30" fmla="*/ 611505 h 4359275"/>
                <a:gd name="connsiteX31" fmla="*/ 2016125 w 5706109"/>
                <a:gd name="connsiteY31" fmla="*/ 640715 h 4359275"/>
                <a:gd name="connsiteX32" fmla="*/ 1849120 w 5706109"/>
                <a:gd name="connsiteY32" fmla="*/ 669925 h 4359275"/>
                <a:gd name="connsiteX33" fmla="*/ 1514475 w 5706109"/>
                <a:gd name="connsiteY33" fmla="*/ 727710 h 4359275"/>
                <a:gd name="connsiteX34" fmla="*/ 1347470 w 5706109"/>
                <a:gd name="connsiteY34" fmla="*/ 756920 h 4359275"/>
                <a:gd name="connsiteX35" fmla="*/ 1180465 w 5706109"/>
                <a:gd name="connsiteY35" fmla="*/ 786130 h 4359275"/>
                <a:gd name="connsiteX36" fmla="*/ 845820 w 5706109"/>
                <a:gd name="connsiteY36" fmla="*/ 843915 h 4359275"/>
                <a:gd name="connsiteX37" fmla="*/ 176530 w 5706109"/>
                <a:gd name="connsiteY37" fmla="*/ 960120 h 4359275"/>
                <a:gd name="connsiteX38" fmla="*/ 3175 w 5706109"/>
                <a:gd name="connsiteY38" fmla="*/ 989965 h 4359275"/>
                <a:gd name="connsiteX39" fmla="*/ 1905 w 5706109"/>
                <a:gd name="connsiteY39" fmla="*/ 989965 h 4359275"/>
                <a:gd name="connsiteX40" fmla="*/ 1905 w 5706109"/>
                <a:gd name="connsiteY40" fmla="*/ 4158616 h 4359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06109" h="4359275">
                  <a:moveTo>
                    <a:pt x="0" y="4157346"/>
                  </a:moveTo>
                  <a:lnTo>
                    <a:pt x="101600" y="4157346"/>
                  </a:lnTo>
                  <a:lnTo>
                    <a:pt x="101600" y="1075055"/>
                  </a:lnTo>
                  <a:lnTo>
                    <a:pt x="101600" y="1075055"/>
                  </a:lnTo>
                  <a:lnTo>
                    <a:pt x="191770" y="1059180"/>
                  </a:lnTo>
                  <a:lnTo>
                    <a:pt x="861060" y="942975"/>
                  </a:lnTo>
                  <a:lnTo>
                    <a:pt x="1195705" y="885190"/>
                  </a:lnTo>
                  <a:lnTo>
                    <a:pt x="1362710" y="855980"/>
                  </a:lnTo>
                  <a:lnTo>
                    <a:pt x="1529715" y="826770"/>
                  </a:lnTo>
                  <a:lnTo>
                    <a:pt x="1864360" y="768985"/>
                  </a:lnTo>
                  <a:lnTo>
                    <a:pt x="2031365" y="739775"/>
                  </a:lnTo>
                  <a:lnTo>
                    <a:pt x="2198370" y="710565"/>
                  </a:lnTo>
                  <a:lnTo>
                    <a:pt x="2365375" y="681355"/>
                  </a:lnTo>
                  <a:lnTo>
                    <a:pt x="2532380" y="652145"/>
                  </a:lnTo>
                  <a:lnTo>
                    <a:pt x="2699385" y="622935"/>
                  </a:lnTo>
                  <a:lnTo>
                    <a:pt x="2866390" y="593725"/>
                  </a:lnTo>
                  <a:cubicBezTo>
                    <a:pt x="3731260" y="443865"/>
                    <a:pt x="4596130" y="294005"/>
                    <a:pt x="5461000" y="144145"/>
                  </a:cubicBezTo>
                  <a:lnTo>
                    <a:pt x="5602605" y="119380"/>
                  </a:lnTo>
                  <a:lnTo>
                    <a:pt x="5602605" y="119380"/>
                  </a:lnTo>
                  <a:lnTo>
                    <a:pt x="5602605" y="4257676"/>
                  </a:lnTo>
                  <a:lnTo>
                    <a:pt x="609600" y="4257676"/>
                  </a:lnTo>
                  <a:lnTo>
                    <a:pt x="609600" y="4359276"/>
                  </a:lnTo>
                  <a:lnTo>
                    <a:pt x="5706110" y="4359276"/>
                  </a:lnTo>
                  <a:lnTo>
                    <a:pt x="5706110" y="0"/>
                  </a:lnTo>
                  <a:lnTo>
                    <a:pt x="5704840" y="0"/>
                  </a:lnTo>
                  <a:cubicBezTo>
                    <a:pt x="5618480" y="15240"/>
                    <a:pt x="5532120" y="30480"/>
                    <a:pt x="5445760" y="45085"/>
                  </a:cubicBezTo>
                  <a:cubicBezTo>
                    <a:pt x="4580890" y="194945"/>
                    <a:pt x="3716020" y="344805"/>
                    <a:pt x="2851150" y="494665"/>
                  </a:cubicBezTo>
                  <a:lnTo>
                    <a:pt x="2684145" y="523875"/>
                  </a:lnTo>
                  <a:lnTo>
                    <a:pt x="2517140" y="553085"/>
                  </a:lnTo>
                  <a:lnTo>
                    <a:pt x="2350135" y="582295"/>
                  </a:lnTo>
                  <a:lnTo>
                    <a:pt x="2183130" y="611505"/>
                  </a:lnTo>
                  <a:lnTo>
                    <a:pt x="2016125" y="640715"/>
                  </a:lnTo>
                  <a:lnTo>
                    <a:pt x="1849120" y="669925"/>
                  </a:lnTo>
                  <a:lnTo>
                    <a:pt x="1514475" y="727710"/>
                  </a:lnTo>
                  <a:lnTo>
                    <a:pt x="1347470" y="756920"/>
                  </a:lnTo>
                  <a:lnTo>
                    <a:pt x="1180465" y="786130"/>
                  </a:lnTo>
                  <a:lnTo>
                    <a:pt x="845820" y="843915"/>
                  </a:lnTo>
                  <a:lnTo>
                    <a:pt x="176530" y="960120"/>
                  </a:lnTo>
                  <a:lnTo>
                    <a:pt x="3175" y="989965"/>
                  </a:lnTo>
                  <a:lnTo>
                    <a:pt x="1905" y="989965"/>
                  </a:lnTo>
                  <a:lnTo>
                    <a:pt x="1905" y="4158616"/>
                  </a:lnTo>
                  <a:close/>
                </a:path>
              </a:pathLst>
            </a:custGeom>
            <a:gradFill flip="none" rotWithShape="1">
              <a:gsLst>
                <a:gs pos="46000">
                  <a:srgbClr val="FFE600"/>
                </a:gs>
                <a:gs pos="66000">
                  <a:srgbClr val="FF32FF"/>
                </a:gs>
                <a:gs pos="100000">
                  <a:srgbClr val="32FFFF"/>
                </a:gs>
              </a:gsLst>
              <a:lin ang="18600000" scaled="0"/>
              <a:tileRect/>
            </a:gradFill>
            <a:ln w="8181" cap="flat">
              <a:noFill/>
              <a:prstDash val="solid"/>
              <a:miter/>
            </a:ln>
          </p:spPr>
          <p:txBody>
            <a:bodyPr rtlCol="0" anchor="ctr"/>
            <a:lstStyle/>
            <a:p>
              <a:pPr lvl="0"/>
              <a:endParaRPr lang="en-US" sz="3600"/>
            </a:p>
          </p:txBody>
        </p:sp>
      </p:grpSp>
      <p:sp>
        <p:nvSpPr>
          <p:cNvPr id="274" name="Subtitle 2">
            <a:extLst>
              <a:ext uri="{FF2B5EF4-FFF2-40B4-BE49-F238E27FC236}">
                <a16:creationId xmlns:a16="http://schemas.microsoft.com/office/drawing/2014/main" id="{74103396-CF0A-A808-BF1B-463C3EF7376E}"/>
              </a:ext>
            </a:extLst>
          </p:cNvPr>
          <p:cNvSpPr>
            <a:spLocks noGrp="1"/>
          </p:cNvSpPr>
          <p:nvPr>
            <p:ph type="subTitle" idx="1" hasCustomPrompt="1"/>
          </p:nvPr>
        </p:nvSpPr>
        <p:spPr>
          <a:xfrm>
            <a:off x="1779756" y="8872971"/>
            <a:ext cx="9816534" cy="1023878"/>
          </a:xfrm>
        </p:spPr>
        <p:txBody>
          <a:bodyPr wrap="square">
            <a:noAutofit/>
          </a:bodyPr>
          <a:lstStyle>
            <a:lvl1pPr marL="0" indent="0" algn="l">
              <a:buNone/>
              <a:defRPr sz="3200">
                <a:latin typeface="EYInterstate Regular" panose="02000503020000020004" pitchFamily="2"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US"/>
          </a:p>
        </p:txBody>
      </p:sp>
      <p:sp>
        <p:nvSpPr>
          <p:cNvPr id="275" name="Title 4">
            <a:extLst>
              <a:ext uri="{FF2B5EF4-FFF2-40B4-BE49-F238E27FC236}">
                <a16:creationId xmlns:a16="http://schemas.microsoft.com/office/drawing/2014/main" id="{B57CD4DB-AED0-4F7E-41BA-02CA96598AEC}"/>
              </a:ext>
            </a:extLst>
          </p:cNvPr>
          <p:cNvSpPr>
            <a:spLocks noGrp="1"/>
          </p:cNvSpPr>
          <p:nvPr>
            <p:ph type="title"/>
          </p:nvPr>
        </p:nvSpPr>
        <p:spPr>
          <a:xfrm>
            <a:off x="1779757" y="5397503"/>
            <a:ext cx="9813296" cy="3308086"/>
          </a:xfrm>
        </p:spPr>
        <p:txBody>
          <a:bodyPr anchor="t">
            <a:noAutofit/>
          </a:bodyPr>
          <a:lstStyle>
            <a:lvl1pPr>
              <a:defRPr sz="8400" b="1" i="0">
                <a:solidFill>
                  <a:schemeClr val="bg1"/>
                </a:solidFill>
                <a:latin typeface="EYInterstate Regular" panose="02000503020000020004" pitchFamily="2" charset="0"/>
              </a:defRPr>
            </a:lvl1pPr>
          </a:lstStyle>
          <a:p>
            <a:r>
              <a:rPr lang="en-GB"/>
              <a:t>Click to edit Master title style</a:t>
            </a:r>
            <a:endParaRPr lang="en-US"/>
          </a:p>
        </p:txBody>
      </p:sp>
      <p:sp>
        <p:nvSpPr>
          <p:cNvPr id="289" name="Text Placeholder 288">
            <a:extLst>
              <a:ext uri="{FF2B5EF4-FFF2-40B4-BE49-F238E27FC236}">
                <a16:creationId xmlns:a16="http://schemas.microsoft.com/office/drawing/2014/main" id="{31D45A6D-135C-8C27-4F13-A3BC79AB3ED3}"/>
              </a:ext>
            </a:extLst>
          </p:cNvPr>
          <p:cNvSpPr>
            <a:spLocks noGrp="1"/>
          </p:cNvSpPr>
          <p:nvPr>
            <p:ph type="body" sz="quarter" idx="10"/>
          </p:nvPr>
        </p:nvSpPr>
        <p:spPr>
          <a:xfrm>
            <a:off x="1779756" y="10094971"/>
            <a:ext cx="9813298" cy="535531"/>
          </a:xfrm>
        </p:spPr>
        <p:txBody>
          <a:bodyPr wrap="square">
            <a:spAutoFit/>
          </a:bodyPr>
          <a:lstStyle>
            <a:lvl1pPr marL="0" indent="0">
              <a:buNone/>
              <a:defRPr sz="3200" b="1">
                <a:latin typeface="EYInterstate Regular" panose="02000503020000020004" pitchFamily="2" charset="0"/>
              </a:defRPr>
            </a:lvl1pPr>
            <a:lvl2pPr marL="504000" indent="0">
              <a:buNone/>
              <a:defRPr sz="3200" b="1">
                <a:latin typeface="+mj-lt"/>
              </a:defRPr>
            </a:lvl2pPr>
            <a:lvl3pPr marL="1008000" indent="0">
              <a:buNone/>
              <a:defRPr sz="3200" b="1">
                <a:latin typeface="+mj-lt"/>
              </a:defRPr>
            </a:lvl3pPr>
            <a:lvl4pPr marL="1512000" indent="0">
              <a:buNone/>
              <a:defRPr sz="3200" b="1">
                <a:latin typeface="+mj-lt"/>
              </a:defRPr>
            </a:lvl4pPr>
            <a:lvl5pPr marL="2016000" indent="0">
              <a:buNone/>
              <a:defRPr sz="3200" b="1">
                <a:latin typeface="+mj-lt"/>
              </a:defRPr>
            </a:lvl5pPr>
          </a:lstStyle>
          <a:p>
            <a:pPr lvl="0"/>
            <a:r>
              <a:rPr lang="en-GB"/>
              <a:t>Click to edit Master text styles</a:t>
            </a:r>
          </a:p>
        </p:txBody>
      </p:sp>
      <p:pic>
        <p:nvPicPr>
          <p:cNvPr id="57" name="Graphic 56">
            <a:extLst>
              <a:ext uri="{FF2B5EF4-FFF2-40B4-BE49-F238E27FC236}">
                <a16:creationId xmlns:a16="http://schemas.microsoft.com/office/drawing/2014/main" id="{DBCA133C-4A0D-841A-842F-FDCD0ADC7208}"/>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19508405" y="10848640"/>
            <a:ext cx="4063927" cy="2069624"/>
          </a:xfrm>
          <a:prstGeom prst="rect">
            <a:avLst/>
          </a:prstGeom>
        </p:spPr>
      </p:pic>
    </p:spTree>
    <p:extLst>
      <p:ext uri="{BB962C8B-B14F-4D97-AF65-F5344CB8AC3E}">
        <p14:creationId xmlns:p14="http://schemas.microsoft.com/office/powerpoint/2010/main" val="4076442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4 Pager - Case Study - Heading &amp; Body">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047BD2-BD9B-0AB9-DC4F-F952B004413A}"/>
              </a:ext>
            </a:extLst>
          </p:cNvPr>
          <p:cNvSpPr>
            <a:spLocks noGrp="1"/>
          </p:cNvSpPr>
          <p:nvPr>
            <p:ph type="pic" sz="quarter" idx="12" hasCustomPrompt="1"/>
          </p:nvPr>
        </p:nvSpPr>
        <p:spPr>
          <a:xfrm>
            <a:off x="0" y="0"/>
            <a:ext cx="12193588" cy="13716000"/>
          </a:xfrm>
          <a:prstGeom prst="rect">
            <a:avLst/>
          </a:prstGeom>
          <a:gradFill>
            <a:gsLst>
              <a:gs pos="100000">
                <a:schemeClr val="bg1"/>
              </a:gs>
              <a:gs pos="0">
                <a:schemeClr val="tx1"/>
              </a:gs>
            </a:gsLst>
            <a:lin ang="5400000" scaled="1"/>
          </a:gradFill>
        </p:spPr>
        <p:txBody>
          <a:bodyPr anchor="ctr"/>
          <a:lstStyle>
            <a:lvl1pPr marL="0" indent="0" algn="ctr">
              <a:buNone/>
              <a:defRPr/>
            </a:lvl1pPr>
          </a:lstStyle>
          <a:p>
            <a:r>
              <a:rPr lang="en-US"/>
              <a:t>Insert background image</a:t>
            </a:r>
          </a:p>
        </p:txBody>
      </p:sp>
      <p:sp>
        <p:nvSpPr>
          <p:cNvPr id="3" name="Text Placeholder 33">
            <a:extLst>
              <a:ext uri="{FF2B5EF4-FFF2-40B4-BE49-F238E27FC236}">
                <a16:creationId xmlns:a16="http://schemas.microsoft.com/office/drawing/2014/main" id="{9589722D-E2DB-94B1-9388-C49E9C9CD379}"/>
              </a:ext>
            </a:extLst>
          </p:cNvPr>
          <p:cNvSpPr>
            <a:spLocks noGrp="1"/>
          </p:cNvSpPr>
          <p:nvPr>
            <p:ph type="body" sz="quarter" idx="17" hasCustomPrompt="1"/>
          </p:nvPr>
        </p:nvSpPr>
        <p:spPr>
          <a:xfrm>
            <a:off x="14369390" y="3529912"/>
            <a:ext cx="7578954" cy="9144687"/>
          </a:xfrm>
          <a:prstGeom prst="rect">
            <a:avLst/>
          </a:prstGeom>
        </p:spPr>
        <p:txBody>
          <a:bodyPr lIns="0" tIns="0" rIns="0" bIns="0">
            <a:noAutofit/>
          </a:bodyPr>
          <a:lstStyle>
            <a:lvl1pPr marL="0" indent="0">
              <a:lnSpc>
                <a:spcPts val="4080"/>
              </a:lnSpc>
              <a:spcBef>
                <a:spcPts val="0"/>
              </a:spcBef>
              <a:buNone/>
              <a:defRPr sz="2400" b="0" i="0">
                <a:solidFill>
                  <a:schemeClr val="bg1"/>
                </a:solidFill>
                <a:latin typeface="EYInterstate Light" panose="02000506000000020004" pitchFamily="2" charset="0"/>
              </a:defRPr>
            </a:lvl1pPr>
          </a:lstStyle>
          <a:p>
            <a:pPr lvl="0"/>
            <a:r>
              <a:rPr lang="en-US"/>
              <a:t>Text here…</a:t>
            </a:r>
          </a:p>
        </p:txBody>
      </p:sp>
      <p:sp>
        <p:nvSpPr>
          <p:cNvPr id="8" name="Text Placeholder 7">
            <a:extLst>
              <a:ext uri="{FF2B5EF4-FFF2-40B4-BE49-F238E27FC236}">
                <a16:creationId xmlns:a16="http://schemas.microsoft.com/office/drawing/2014/main" id="{3807881C-DB20-4F92-9E23-19319EA2395D}"/>
              </a:ext>
            </a:extLst>
          </p:cNvPr>
          <p:cNvSpPr>
            <a:spLocks noGrp="1"/>
          </p:cNvSpPr>
          <p:nvPr>
            <p:ph type="body" sz="quarter" idx="18" hasCustomPrompt="1"/>
          </p:nvPr>
        </p:nvSpPr>
        <p:spPr>
          <a:xfrm>
            <a:off x="14346900" y="1936463"/>
            <a:ext cx="9653588" cy="1524000"/>
          </a:xfrm>
          <a:prstGeom prst="rect">
            <a:avLst/>
          </a:prstGeom>
        </p:spPr>
        <p:txBody>
          <a:bodyPr lIns="0" tIns="0" rIns="0" bIns="0">
            <a:noAutofit/>
          </a:bodyPr>
          <a:lstStyle>
            <a:lvl1pPr marL="0" indent="0">
              <a:lnSpc>
                <a:spcPts val="5292"/>
              </a:lnSpc>
              <a:spcBef>
                <a:spcPts val="0"/>
              </a:spcBef>
              <a:buNone/>
              <a:defRPr sz="5400" b="0" i="0">
                <a:solidFill>
                  <a:schemeClr val="bg1"/>
                </a:solidFill>
                <a:latin typeface="Source Serif 4 14pt Light" panose="02040403040405020204" pitchFamily="18" charset="0"/>
                <a:ea typeface="Source Serif 4 14pt Light" panose="02040403040405020204" pitchFamily="18" charset="0"/>
              </a:defRPr>
            </a:lvl1pPr>
          </a:lstStyle>
          <a:p>
            <a:pPr lvl="0"/>
            <a:r>
              <a:rPr lang="en-US"/>
              <a:t>Headline here and perhaps extends…</a:t>
            </a:r>
          </a:p>
        </p:txBody>
      </p:sp>
      <p:sp>
        <p:nvSpPr>
          <p:cNvPr id="13" name="Text 1">
            <a:extLst>
              <a:ext uri="{FF2B5EF4-FFF2-40B4-BE49-F238E27FC236}">
                <a16:creationId xmlns:a16="http://schemas.microsoft.com/office/drawing/2014/main" id="{5B89C24F-AFC7-F9D1-E186-5599DCA21484}"/>
              </a:ext>
            </a:extLst>
          </p:cNvPr>
          <p:cNvSpPr/>
          <p:nvPr userDrawn="1"/>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sp>
        <p:nvSpPr>
          <p:cNvPr id="2" name="Text 0">
            <a:extLst>
              <a:ext uri="{FF2B5EF4-FFF2-40B4-BE49-F238E27FC236}">
                <a16:creationId xmlns:a16="http://schemas.microsoft.com/office/drawing/2014/main" id="{7B63280E-10C6-A15F-C1AF-DD921891AADF}"/>
              </a:ext>
            </a:extLst>
          </p:cNvPr>
          <p:cNvSpPr/>
          <p:nvPr userDrawn="1"/>
        </p:nvSpPr>
        <p:spPr>
          <a:xfrm>
            <a:off x="23164800" y="12865608"/>
            <a:ext cx="764991" cy="622300"/>
          </a:xfrm>
          <a:prstGeom prst="rect">
            <a:avLst/>
          </a:prstGeom>
          <a:noFill/>
          <a:ln/>
        </p:spPr>
        <p:txBody>
          <a:bodyPr wrap="square" lIns="0" tIns="0" rIns="0" bIns="0" rtlCol="0" anchor="t"/>
          <a:lstStyle/>
          <a:p>
            <a:pPr algn="r">
              <a:lnSpc>
                <a:spcPts val="4080"/>
              </a:lnSpc>
            </a:pPr>
            <a:fld id="{231D6E63-2C49-2C40-A8B6-B630A5421C70}" type="slidenum">
              <a:rPr lang="en-US" sz="1800" b="0" i="0" smtClean="0">
                <a:solidFill>
                  <a:schemeClr val="bg1"/>
                </a:solidFill>
                <a:latin typeface="EYInterstate Light" panose="02000506000000020004" pitchFamily="2" charset="0"/>
                <a:ea typeface="Arial Regular" pitchFamily="34" charset="-122"/>
                <a:cs typeface="Arial Regular" pitchFamily="34" charset="-120"/>
              </a:rPr>
              <a:t>‹#›</a:t>
            </a:fld>
            <a:endParaRPr lang="en-US" sz="1800" b="0" i="0">
              <a:solidFill>
                <a:schemeClr val="bg1"/>
              </a:solidFill>
              <a:latin typeface="EYInterstate Light" panose="02000506000000020004" pitchFamily="2" charset="0"/>
            </a:endParaRPr>
          </a:p>
        </p:txBody>
      </p:sp>
      <p:pic>
        <p:nvPicPr>
          <p:cNvPr id="14" name="Graphic 13">
            <a:extLst>
              <a:ext uri="{FF2B5EF4-FFF2-40B4-BE49-F238E27FC236}">
                <a16:creationId xmlns:a16="http://schemas.microsoft.com/office/drawing/2014/main" id="{B6AE31A1-CA68-C532-BAF8-42718B5B92D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1203263139"/>
      </p:ext>
    </p:extLst>
  </p:cSld>
  <p:clrMapOvr>
    <a:masterClrMapping/>
  </p:clrMapOvr>
  <p:extLst>
    <p:ext uri="{DCECCB84-F9BA-43D5-87BE-67443E8EF086}">
      <p15:sldGuideLst xmlns:p15="http://schemas.microsoft.com/office/powerpoint/2012/main">
        <p15:guide id="1" orient="horz" pos="4032">
          <p15:clr>
            <a:srgbClr val="FBAE40"/>
          </p15:clr>
        </p15:guide>
        <p15:guide id="2" pos="289">
          <p15:clr>
            <a:srgbClr val="FBAE40"/>
          </p15:clr>
        </p15:guide>
        <p15:guide id="3" pos="1537">
          <p15:clr>
            <a:srgbClr val="FBAE40"/>
          </p15:clr>
        </p15:guide>
        <p15:guide id="4" orient="horz" pos="288">
          <p15:clr>
            <a:srgbClr val="FBAE40"/>
          </p15:clr>
        </p15:guide>
        <p15:guide id="5" orient="horz" pos="7776">
          <p15:clr>
            <a:srgbClr val="FBAE40"/>
          </p15:clr>
        </p15:guide>
        <p15:guide id="6" orient="horz" pos="8352">
          <p15:clr>
            <a:srgbClr val="FBAE40"/>
          </p15:clr>
        </p15:guide>
        <p15:guide id="7" pos="1507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Pager - Case Study - Wide">
    <p:bg>
      <p:bgPr>
        <a:solidFill>
          <a:schemeClr val="tx1"/>
        </a:solidFill>
        <a:effectLst/>
      </p:bgPr>
    </p:bg>
    <p:spTree>
      <p:nvGrpSpPr>
        <p:cNvPr id="1" name=""/>
        <p:cNvGrpSpPr/>
        <p:nvPr/>
      </p:nvGrpSpPr>
      <p:grpSpPr>
        <a:xfrm>
          <a:off x="0" y="0"/>
          <a:ext cx="0" cy="0"/>
          <a:chOff x="0" y="0"/>
          <a:chExt cx="0" cy="0"/>
        </a:xfrm>
      </p:grpSpPr>
      <p:sp>
        <p:nvSpPr>
          <p:cNvPr id="62" name="Picture Placeholder 3">
            <a:extLst>
              <a:ext uri="{FF2B5EF4-FFF2-40B4-BE49-F238E27FC236}">
                <a16:creationId xmlns:a16="http://schemas.microsoft.com/office/drawing/2014/main" id="{8F12A679-4D75-C06C-66AD-D8D61E772F78}"/>
              </a:ext>
            </a:extLst>
          </p:cNvPr>
          <p:cNvSpPr>
            <a:spLocks noGrp="1"/>
          </p:cNvSpPr>
          <p:nvPr>
            <p:ph type="pic" sz="quarter" idx="12" hasCustomPrompt="1"/>
          </p:nvPr>
        </p:nvSpPr>
        <p:spPr>
          <a:xfrm>
            <a:off x="0" y="0"/>
            <a:ext cx="12193588" cy="13716000"/>
          </a:xfrm>
          <a:prstGeom prst="rect">
            <a:avLst/>
          </a:prstGeom>
          <a:noFill/>
        </p:spPr>
        <p:txBody>
          <a:bodyPr anchor="ctr"/>
          <a:lstStyle>
            <a:lvl1pPr marL="0" indent="0" algn="ctr">
              <a:buNone/>
              <a:defRPr/>
            </a:lvl1pPr>
          </a:lstStyle>
          <a:p>
            <a:r>
              <a:rPr lang="en-US"/>
              <a:t>Insert background image</a:t>
            </a:r>
          </a:p>
        </p:txBody>
      </p:sp>
      <p:sp>
        <p:nvSpPr>
          <p:cNvPr id="3" name="Text Placeholder 33">
            <a:extLst>
              <a:ext uri="{FF2B5EF4-FFF2-40B4-BE49-F238E27FC236}">
                <a16:creationId xmlns:a16="http://schemas.microsoft.com/office/drawing/2014/main" id="{9589722D-E2DB-94B1-9388-C49E9C9CD379}"/>
              </a:ext>
            </a:extLst>
          </p:cNvPr>
          <p:cNvSpPr>
            <a:spLocks noGrp="1"/>
          </p:cNvSpPr>
          <p:nvPr>
            <p:ph type="body" sz="quarter" idx="17" hasCustomPrompt="1"/>
          </p:nvPr>
        </p:nvSpPr>
        <p:spPr>
          <a:xfrm>
            <a:off x="13226902" y="1813560"/>
            <a:ext cx="9937898" cy="10861040"/>
          </a:xfrm>
          <a:prstGeom prst="rect">
            <a:avLst/>
          </a:prstGeom>
        </p:spPr>
        <p:txBody>
          <a:bodyPr lIns="0" tIns="0" rIns="0" bIns="0">
            <a:noAutofit/>
          </a:bodyPr>
          <a:lstStyle>
            <a:lvl1pPr marL="0" indent="0">
              <a:lnSpc>
                <a:spcPts val="4080"/>
              </a:lnSpc>
              <a:spcBef>
                <a:spcPts val="0"/>
              </a:spcBef>
              <a:buNone/>
              <a:defRPr sz="2400" b="0" i="0">
                <a:solidFill>
                  <a:schemeClr val="bg1"/>
                </a:solidFill>
                <a:latin typeface="EYInterstate Light" panose="02000506000000020004" pitchFamily="2" charset="0"/>
              </a:defRPr>
            </a:lvl1pPr>
          </a:lstStyle>
          <a:p>
            <a:pPr lvl="0"/>
            <a:r>
              <a:rPr lang="en-US"/>
              <a:t>Text here…</a:t>
            </a:r>
          </a:p>
        </p:txBody>
      </p:sp>
      <p:sp>
        <p:nvSpPr>
          <p:cNvPr id="13" name="Text 1">
            <a:extLst>
              <a:ext uri="{FF2B5EF4-FFF2-40B4-BE49-F238E27FC236}">
                <a16:creationId xmlns:a16="http://schemas.microsoft.com/office/drawing/2014/main" id="{5B89C24F-AFC7-F9D1-E186-5599DCA21484}"/>
              </a:ext>
            </a:extLst>
          </p:cNvPr>
          <p:cNvSpPr/>
          <p:nvPr userDrawn="1"/>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sp>
        <p:nvSpPr>
          <p:cNvPr id="2" name="Text 0">
            <a:extLst>
              <a:ext uri="{FF2B5EF4-FFF2-40B4-BE49-F238E27FC236}">
                <a16:creationId xmlns:a16="http://schemas.microsoft.com/office/drawing/2014/main" id="{7B63280E-10C6-A15F-C1AF-DD921891AADF}"/>
              </a:ext>
            </a:extLst>
          </p:cNvPr>
          <p:cNvSpPr/>
          <p:nvPr userDrawn="1"/>
        </p:nvSpPr>
        <p:spPr>
          <a:xfrm>
            <a:off x="23164800" y="12865608"/>
            <a:ext cx="764991" cy="622300"/>
          </a:xfrm>
          <a:prstGeom prst="rect">
            <a:avLst/>
          </a:prstGeom>
          <a:noFill/>
          <a:ln/>
        </p:spPr>
        <p:txBody>
          <a:bodyPr wrap="square" lIns="0" tIns="0" rIns="0" bIns="0" rtlCol="0" anchor="t"/>
          <a:lstStyle/>
          <a:p>
            <a:pPr algn="r">
              <a:lnSpc>
                <a:spcPts val="4080"/>
              </a:lnSpc>
            </a:pPr>
            <a:fld id="{231D6E63-2C49-2C40-A8B6-B630A5421C70}" type="slidenum">
              <a:rPr lang="en-US" sz="1800" b="0" i="0" smtClean="0">
                <a:solidFill>
                  <a:schemeClr val="bg1"/>
                </a:solidFill>
                <a:latin typeface="EYInterstate Light" panose="02000506000000020004" pitchFamily="2" charset="0"/>
                <a:ea typeface="Arial Regular" pitchFamily="34" charset="-122"/>
                <a:cs typeface="Arial Regular" pitchFamily="34" charset="-120"/>
              </a:rPr>
              <a:t>‹#›</a:t>
            </a:fld>
            <a:endParaRPr lang="en-US" sz="1800" b="0" i="0">
              <a:solidFill>
                <a:schemeClr val="bg1"/>
              </a:solidFill>
              <a:latin typeface="EYInterstate Light" panose="02000506000000020004" pitchFamily="2" charset="0"/>
            </a:endParaRPr>
          </a:p>
        </p:txBody>
      </p:sp>
      <p:sp>
        <p:nvSpPr>
          <p:cNvPr id="18" name="Text Placeholder 12">
            <a:extLst>
              <a:ext uri="{FF2B5EF4-FFF2-40B4-BE49-F238E27FC236}">
                <a16:creationId xmlns:a16="http://schemas.microsoft.com/office/drawing/2014/main" id="{8DF796F7-9518-89EE-CCE4-C45DEA0B4049}"/>
              </a:ext>
            </a:extLst>
          </p:cNvPr>
          <p:cNvSpPr>
            <a:spLocks noGrp="1"/>
          </p:cNvSpPr>
          <p:nvPr>
            <p:ph type="body" sz="quarter" idx="10" hasCustomPrompt="1"/>
          </p:nvPr>
        </p:nvSpPr>
        <p:spPr>
          <a:xfrm>
            <a:off x="6359325" y="320040"/>
            <a:ext cx="11668525" cy="574675"/>
          </a:xfrm>
          <a:prstGeom prst="rect">
            <a:avLst/>
          </a:prstGeom>
        </p:spPr>
        <p:txBody>
          <a:bodyPr>
            <a:noAutofit/>
          </a:bodyPr>
          <a:lstStyle>
            <a:lvl1pPr marL="0" indent="0" algn="ctr">
              <a:lnSpc>
                <a:spcPct val="100000"/>
              </a:lnSpc>
              <a:spcBef>
                <a:spcPts val="768"/>
              </a:spcBef>
              <a:buNone/>
              <a:defRPr sz="3200" b="0" i="0" kern="100" cap="all" spc="320" baseline="0">
                <a:solidFill>
                  <a:schemeClr val="bg1"/>
                </a:solidFill>
                <a:latin typeface="EYInterstate Regular" panose="02000503020000020004" pitchFamily="2" charset="0"/>
              </a:defRPr>
            </a:lvl1pPr>
            <a:lvl2pPr marL="457200" indent="0">
              <a:buNone/>
              <a:defRPr b="0" i="0">
                <a:latin typeface="EY Gothic Comp Book" panose="02000606050000020004" pitchFamily="2" charset="0"/>
              </a:defRPr>
            </a:lvl2pPr>
            <a:lvl3pPr marL="914400" indent="0">
              <a:buNone/>
              <a:defRPr b="0" i="0">
                <a:latin typeface="EY Gothic Comp Book" panose="02000606050000020004" pitchFamily="2" charset="0"/>
              </a:defRPr>
            </a:lvl3pPr>
            <a:lvl4pPr marL="1371600" indent="0">
              <a:buNone/>
              <a:defRPr b="0" i="0">
                <a:latin typeface="EY Gothic Comp Book" panose="02000606050000020004" pitchFamily="2" charset="0"/>
              </a:defRPr>
            </a:lvl4pPr>
            <a:lvl5pPr marL="1828800" indent="0">
              <a:buNone/>
              <a:defRPr b="0" i="0">
                <a:latin typeface="EY Gothic Comp Book" panose="02000606050000020004" pitchFamily="2" charset="0"/>
              </a:defRPr>
            </a:lvl5pPr>
          </a:lstStyle>
          <a:p>
            <a:pPr lvl="0"/>
            <a:r>
              <a:rPr lang="en-US"/>
              <a:t>TITLE</a:t>
            </a:r>
          </a:p>
        </p:txBody>
      </p:sp>
      <p:sp>
        <p:nvSpPr>
          <p:cNvPr id="19" name="Text Placeholder 5">
            <a:extLst>
              <a:ext uri="{FF2B5EF4-FFF2-40B4-BE49-F238E27FC236}">
                <a16:creationId xmlns:a16="http://schemas.microsoft.com/office/drawing/2014/main" id="{CAE7C413-2A3E-1125-8D5B-BBCE3CA7FEF8}"/>
              </a:ext>
            </a:extLst>
          </p:cNvPr>
          <p:cNvSpPr>
            <a:spLocks noGrp="1"/>
          </p:cNvSpPr>
          <p:nvPr>
            <p:ph type="body" sz="quarter" idx="11" hasCustomPrompt="1"/>
          </p:nvPr>
        </p:nvSpPr>
        <p:spPr>
          <a:xfrm>
            <a:off x="2352561" y="1813560"/>
            <a:ext cx="7693140" cy="4079240"/>
          </a:xfrm>
          <a:prstGeom prst="rect">
            <a:avLst/>
          </a:prstGeom>
        </p:spPr>
        <p:txBody>
          <a:bodyPr lIns="0" tIns="0" rIns="0" bIns="0">
            <a:noAutofit/>
          </a:bodyPr>
          <a:lstStyle>
            <a:lvl1pPr marL="0" indent="0" algn="l">
              <a:lnSpc>
                <a:spcPct val="90000"/>
              </a:lnSpc>
              <a:spcBef>
                <a:spcPts val="0"/>
              </a:spcBef>
              <a:buFont typeface="+mj-lt"/>
              <a:buNone/>
              <a:defRPr sz="9600" b="0" i="0" kern="0" spc="-240" baseline="0">
                <a:solidFill>
                  <a:schemeClr val="bg1"/>
                </a:solidFill>
                <a:latin typeface="Source Serif 4 14pt Light" panose="02040403040405020204" pitchFamily="18" charset="0"/>
                <a:ea typeface="Source Serif 4 14pt Light" panose="0204040304040502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Headline here </a:t>
            </a:r>
          </a:p>
        </p:txBody>
      </p:sp>
      <p:pic>
        <p:nvPicPr>
          <p:cNvPr id="4" name="Graphic 3">
            <a:extLst>
              <a:ext uri="{FF2B5EF4-FFF2-40B4-BE49-F238E27FC236}">
                <a16:creationId xmlns:a16="http://schemas.microsoft.com/office/drawing/2014/main" id="{E2D51581-CDA5-2FC7-8380-088974B61544}"/>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14854" y="12595806"/>
            <a:ext cx="1937707" cy="751829"/>
          </a:xfrm>
          <a:prstGeom prst="rect">
            <a:avLst/>
          </a:prstGeom>
        </p:spPr>
      </p:pic>
    </p:spTree>
    <p:extLst>
      <p:ext uri="{BB962C8B-B14F-4D97-AF65-F5344CB8AC3E}">
        <p14:creationId xmlns:p14="http://schemas.microsoft.com/office/powerpoint/2010/main" val="3598100364"/>
      </p:ext>
    </p:extLst>
  </p:cSld>
  <p:clrMapOvr>
    <a:masterClrMapping/>
  </p:clrMapOvr>
  <p:extLst>
    <p:ext uri="{DCECCB84-F9BA-43D5-87BE-67443E8EF086}">
      <p15:sldGuideLst xmlns:p15="http://schemas.microsoft.com/office/powerpoint/2012/main">
        <p15:guide id="1" orient="horz" pos="4032">
          <p15:clr>
            <a:srgbClr val="FBAE40"/>
          </p15:clr>
        </p15:guide>
        <p15:guide id="2" pos="289">
          <p15:clr>
            <a:srgbClr val="FBAE40"/>
          </p15:clr>
        </p15:guide>
        <p15:guide id="3" pos="1537">
          <p15:clr>
            <a:srgbClr val="FBAE40"/>
          </p15:clr>
        </p15:guide>
        <p15:guide id="4" orient="horz" pos="288">
          <p15:clr>
            <a:srgbClr val="FBAE40"/>
          </p15:clr>
        </p15:guide>
        <p15:guide id="5" orient="horz" pos="7776">
          <p15:clr>
            <a:srgbClr val="FBAE40"/>
          </p15:clr>
        </p15:guide>
        <p15:guide id="6" orient="horz" pos="8352">
          <p15:clr>
            <a:srgbClr val="FBAE40"/>
          </p15:clr>
        </p15:guide>
        <p15:guide id="7" pos="1507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Pager - Case Study - Narrow">
    <p:bg>
      <p:bgPr>
        <a:solidFill>
          <a:schemeClr val="tx1"/>
        </a:solidFill>
        <a:effectLst/>
      </p:bgPr>
    </p:bg>
    <p:spTree>
      <p:nvGrpSpPr>
        <p:cNvPr id="1" name=""/>
        <p:cNvGrpSpPr/>
        <p:nvPr/>
      </p:nvGrpSpPr>
      <p:grpSpPr>
        <a:xfrm>
          <a:off x="0" y="0"/>
          <a:ext cx="0" cy="0"/>
          <a:chOff x="0" y="0"/>
          <a:chExt cx="0" cy="0"/>
        </a:xfrm>
      </p:grpSpPr>
      <p:sp>
        <p:nvSpPr>
          <p:cNvPr id="62" name="Picture Placeholder 3">
            <a:extLst>
              <a:ext uri="{FF2B5EF4-FFF2-40B4-BE49-F238E27FC236}">
                <a16:creationId xmlns:a16="http://schemas.microsoft.com/office/drawing/2014/main" id="{8F12A679-4D75-C06C-66AD-D8D61E772F78}"/>
              </a:ext>
            </a:extLst>
          </p:cNvPr>
          <p:cNvSpPr>
            <a:spLocks noGrp="1"/>
          </p:cNvSpPr>
          <p:nvPr>
            <p:ph type="pic" sz="quarter" idx="12" hasCustomPrompt="1"/>
          </p:nvPr>
        </p:nvSpPr>
        <p:spPr>
          <a:xfrm>
            <a:off x="0" y="0"/>
            <a:ext cx="12193588" cy="13716000"/>
          </a:xfrm>
          <a:prstGeom prst="rect">
            <a:avLst/>
          </a:prstGeom>
          <a:noFill/>
        </p:spPr>
        <p:txBody>
          <a:bodyPr anchor="ctr"/>
          <a:lstStyle>
            <a:lvl1pPr marL="0" indent="0" algn="ctr">
              <a:buNone/>
              <a:defRPr/>
            </a:lvl1pPr>
          </a:lstStyle>
          <a:p>
            <a:r>
              <a:rPr lang="en-US"/>
              <a:t>Insert background image</a:t>
            </a:r>
          </a:p>
        </p:txBody>
      </p:sp>
      <p:sp>
        <p:nvSpPr>
          <p:cNvPr id="3" name="Text Placeholder 33">
            <a:extLst>
              <a:ext uri="{FF2B5EF4-FFF2-40B4-BE49-F238E27FC236}">
                <a16:creationId xmlns:a16="http://schemas.microsoft.com/office/drawing/2014/main" id="{9589722D-E2DB-94B1-9388-C49E9C9CD379}"/>
              </a:ext>
            </a:extLst>
          </p:cNvPr>
          <p:cNvSpPr>
            <a:spLocks noGrp="1"/>
          </p:cNvSpPr>
          <p:nvPr>
            <p:ph type="body" sz="quarter" idx="17" hasCustomPrompt="1"/>
          </p:nvPr>
        </p:nvSpPr>
        <p:spPr>
          <a:xfrm>
            <a:off x="14369390" y="1813560"/>
            <a:ext cx="7578954" cy="10861040"/>
          </a:xfrm>
          <a:prstGeom prst="rect">
            <a:avLst/>
          </a:prstGeom>
        </p:spPr>
        <p:txBody>
          <a:bodyPr lIns="0" tIns="0" rIns="0" bIns="0">
            <a:noAutofit/>
          </a:bodyPr>
          <a:lstStyle>
            <a:lvl1pPr marL="0" indent="0">
              <a:lnSpc>
                <a:spcPts val="4080"/>
              </a:lnSpc>
              <a:spcBef>
                <a:spcPts val="0"/>
              </a:spcBef>
              <a:buNone/>
              <a:defRPr sz="2400" b="0" i="0">
                <a:solidFill>
                  <a:schemeClr val="bg1"/>
                </a:solidFill>
                <a:latin typeface="EYInterstate Light" panose="02000506000000020004" pitchFamily="2" charset="0"/>
              </a:defRPr>
            </a:lvl1pPr>
          </a:lstStyle>
          <a:p>
            <a:pPr lvl="0"/>
            <a:r>
              <a:rPr lang="en-US"/>
              <a:t>Text here…</a:t>
            </a:r>
          </a:p>
        </p:txBody>
      </p:sp>
      <p:sp>
        <p:nvSpPr>
          <p:cNvPr id="13" name="Text 1">
            <a:extLst>
              <a:ext uri="{FF2B5EF4-FFF2-40B4-BE49-F238E27FC236}">
                <a16:creationId xmlns:a16="http://schemas.microsoft.com/office/drawing/2014/main" id="{5B89C24F-AFC7-F9D1-E186-5599DCA21484}"/>
              </a:ext>
            </a:extLst>
          </p:cNvPr>
          <p:cNvSpPr/>
          <p:nvPr userDrawn="1"/>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sp>
        <p:nvSpPr>
          <p:cNvPr id="2" name="Text 0">
            <a:extLst>
              <a:ext uri="{FF2B5EF4-FFF2-40B4-BE49-F238E27FC236}">
                <a16:creationId xmlns:a16="http://schemas.microsoft.com/office/drawing/2014/main" id="{7B63280E-10C6-A15F-C1AF-DD921891AADF}"/>
              </a:ext>
            </a:extLst>
          </p:cNvPr>
          <p:cNvSpPr/>
          <p:nvPr userDrawn="1"/>
        </p:nvSpPr>
        <p:spPr>
          <a:xfrm>
            <a:off x="23164800" y="12865608"/>
            <a:ext cx="764991" cy="622300"/>
          </a:xfrm>
          <a:prstGeom prst="rect">
            <a:avLst/>
          </a:prstGeom>
          <a:noFill/>
          <a:ln/>
        </p:spPr>
        <p:txBody>
          <a:bodyPr wrap="square" lIns="0" tIns="0" rIns="0" bIns="0" rtlCol="0" anchor="t"/>
          <a:lstStyle/>
          <a:p>
            <a:pPr algn="r">
              <a:lnSpc>
                <a:spcPts val="4080"/>
              </a:lnSpc>
            </a:pPr>
            <a:fld id="{231D6E63-2C49-2C40-A8B6-B630A5421C70}" type="slidenum">
              <a:rPr lang="en-US" sz="1800" b="0" i="0" smtClean="0">
                <a:solidFill>
                  <a:schemeClr val="bg1"/>
                </a:solidFill>
                <a:latin typeface="EYInterstate Light" panose="02000506000000020004" pitchFamily="2" charset="0"/>
                <a:ea typeface="Arial Regular" pitchFamily="34" charset="-122"/>
                <a:cs typeface="Arial Regular" pitchFamily="34" charset="-120"/>
              </a:rPr>
              <a:t>‹#›</a:t>
            </a:fld>
            <a:endParaRPr lang="en-US" sz="1800" b="0" i="0">
              <a:solidFill>
                <a:schemeClr val="bg1"/>
              </a:solidFill>
              <a:latin typeface="EYInterstate Light" panose="02000506000000020004" pitchFamily="2" charset="0"/>
            </a:endParaRPr>
          </a:p>
        </p:txBody>
      </p:sp>
      <p:sp>
        <p:nvSpPr>
          <p:cNvPr id="18" name="Text Placeholder 12">
            <a:extLst>
              <a:ext uri="{FF2B5EF4-FFF2-40B4-BE49-F238E27FC236}">
                <a16:creationId xmlns:a16="http://schemas.microsoft.com/office/drawing/2014/main" id="{8DF796F7-9518-89EE-CCE4-C45DEA0B4049}"/>
              </a:ext>
            </a:extLst>
          </p:cNvPr>
          <p:cNvSpPr>
            <a:spLocks noGrp="1"/>
          </p:cNvSpPr>
          <p:nvPr>
            <p:ph type="body" sz="quarter" idx="10" hasCustomPrompt="1"/>
          </p:nvPr>
        </p:nvSpPr>
        <p:spPr>
          <a:xfrm>
            <a:off x="6359325" y="320040"/>
            <a:ext cx="11668525" cy="574675"/>
          </a:xfrm>
          <a:prstGeom prst="rect">
            <a:avLst/>
          </a:prstGeom>
        </p:spPr>
        <p:txBody>
          <a:bodyPr>
            <a:noAutofit/>
          </a:bodyPr>
          <a:lstStyle>
            <a:lvl1pPr marL="0" indent="0" algn="ctr">
              <a:lnSpc>
                <a:spcPct val="100000"/>
              </a:lnSpc>
              <a:spcBef>
                <a:spcPts val="768"/>
              </a:spcBef>
              <a:buNone/>
              <a:defRPr sz="3200" b="0" i="0" kern="100" cap="all" spc="320" baseline="0">
                <a:solidFill>
                  <a:schemeClr val="bg1"/>
                </a:solidFill>
                <a:latin typeface="EYInterstate Regular" panose="02000503020000020004" pitchFamily="2" charset="0"/>
              </a:defRPr>
            </a:lvl1pPr>
            <a:lvl2pPr marL="457200" indent="0">
              <a:buNone/>
              <a:defRPr b="0" i="0">
                <a:latin typeface="EY Gothic Comp Book" panose="02000606050000020004" pitchFamily="2" charset="0"/>
              </a:defRPr>
            </a:lvl2pPr>
            <a:lvl3pPr marL="914400" indent="0">
              <a:buNone/>
              <a:defRPr b="0" i="0">
                <a:latin typeface="EY Gothic Comp Book" panose="02000606050000020004" pitchFamily="2" charset="0"/>
              </a:defRPr>
            </a:lvl3pPr>
            <a:lvl4pPr marL="1371600" indent="0">
              <a:buNone/>
              <a:defRPr b="0" i="0">
                <a:latin typeface="EY Gothic Comp Book" panose="02000606050000020004" pitchFamily="2" charset="0"/>
              </a:defRPr>
            </a:lvl4pPr>
            <a:lvl5pPr marL="1828800" indent="0">
              <a:buNone/>
              <a:defRPr b="0" i="0">
                <a:latin typeface="EY Gothic Comp Book" panose="02000606050000020004" pitchFamily="2" charset="0"/>
              </a:defRPr>
            </a:lvl5pPr>
          </a:lstStyle>
          <a:p>
            <a:pPr lvl="0"/>
            <a:r>
              <a:rPr lang="en-US"/>
              <a:t>TITLE</a:t>
            </a:r>
          </a:p>
        </p:txBody>
      </p:sp>
      <p:sp>
        <p:nvSpPr>
          <p:cNvPr id="19" name="Text Placeholder 5">
            <a:extLst>
              <a:ext uri="{FF2B5EF4-FFF2-40B4-BE49-F238E27FC236}">
                <a16:creationId xmlns:a16="http://schemas.microsoft.com/office/drawing/2014/main" id="{CAE7C413-2A3E-1125-8D5B-BBCE3CA7FEF8}"/>
              </a:ext>
            </a:extLst>
          </p:cNvPr>
          <p:cNvSpPr>
            <a:spLocks noGrp="1"/>
          </p:cNvSpPr>
          <p:nvPr>
            <p:ph type="body" sz="quarter" idx="11" hasCustomPrompt="1"/>
          </p:nvPr>
        </p:nvSpPr>
        <p:spPr>
          <a:xfrm>
            <a:off x="2352561" y="1813560"/>
            <a:ext cx="7693140" cy="4079240"/>
          </a:xfrm>
          <a:prstGeom prst="rect">
            <a:avLst/>
          </a:prstGeom>
        </p:spPr>
        <p:txBody>
          <a:bodyPr lIns="0" tIns="0" rIns="0" bIns="0">
            <a:noAutofit/>
          </a:bodyPr>
          <a:lstStyle>
            <a:lvl1pPr marL="0" indent="0" algn="l">
              <a:lnSpc>
                <a:spcPct val="90000"/>
              </a:lnSpc>
              <a:spcBef>
                <a:spcPts val="0"/>
              </a:spcBef>
              <a:buFont typeface="+mj-lt"/>
              <a:buNone/>
              <a:defRPr sz="9600" b="0" i="0" kern="0" spc="-240" baseline="0">
                <a:solidFill>
                  <a:schemeClr val="bg1"/>
                </a:solidFill>
                <a:latin typeface="Source Serif 4 14pt Light" panose="02040403040405020204" pitchFamily="18" charset="0"/>
                <a:ea typeface="Source Serif 4 14pt Light" panose="0204040304040502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Headline here </a:t>
            </a:r>
          </a:p>
        </p:txBody>
      </p:sp>
      <p:pic>
        <p:nvPicPr>
          <p:cNvPr id="5" name="Graphic 4">
            <a:extLst>
              <a:ext uri="{FF2B5EF4-FFF2-40B4-BE49-F238E27FC236}">
                <a16:creationId xmlns:a16="http://schemas.microsoft.com/office/drawing/2014/main" id="{7E18E9C9-43F3-F124-F5E0-53EB78736CD8}"/>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14854" y="12595806"/>
            <a:ext cx="1937707" cy="751829"/>
          </a:xfrm>
          <a:prstGeom prst="rect">
            <a:avLst/>
          </a:prstGeom>
        </p:spPr>
      </p:pic>
    </p:spTree>
    <p:extLst>
      <p:ext uri="{BB962C8B-B14F-4D97-AF65-F5344CB8AC3E}">
        <p14:creationId xmlns:p14="http://schemas.microsoft.com/office/powerpoint/2010/main" val="2647005706"/>
      </p:ext>
    </p:extLst>
  </p:cSld>
  <p:clrMapOvr>
    <a:masterClrMapping/>
  </p:clrMapOvr>
  <p:extLst>
    <p:ext uri="{DCECCB84-F9BA-43D5-87BE-67443E8EF086}">
      <p15:sldGuideLst xmlns:p15="http://schemas.microsoft.com/office/powerpoint/2012/main">
        <p15:guide id="1" orient="horz" pos="4032">
          <p15:clr>
            <a:srgbClr val="FBAE40"/>
          </p15:clr>
        </p15:guide>
        <p15:guide id="2" pos="289">
          <p15:clr>
            <a:srgbClr val="FBAE40"/>
          </p15:clr>
        </p15:guide>
        <p15:guide id="3" pos="1537">
          <p15:clr>
            <a:srgbClr val="FBAE40"/>
          </p15:clr>
        </p15:guide>
        <p15:guide id="4" orient="horz" pos="288">
          <p15:clr>
            <a:srgbClr val="FBAE40"/>
          </p15:clr>
        </p15:guide>
        <p15:guide id="5" orient="horz" pos="7776">
          <p15:clr>
            <a:srgbClr val="FBAE40"/>
          </p15:clr>
        </p15:guide>
        <p15:guide id="6" orient="horz" pos="8352">
          <p15:clr>
            <a:srgbClr val="FBAE40"/>
          </p15:clr>
        </p15:guide>
        <p15:guide id="7" pos="15073">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new* 1 Pager - Case Study">
    <p:bg>
      <p:bgPr>
        <a:solidFill>
          <a:schemeClr val="tx1"/>
        </a:solidFill>
        <a:effectLst/>
      </p:bgPr>
    </p:bg>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3C63C13B-6D82-C9FF-7980-50C50EC5A963}"/>
              </a:ext>
            </a:extLst>
          </p:cNvPr>
          <p:cNvSpPr>
            <a:spLocks noGrp="1"/>
          </p:cNvSpPr>
          <p:nvPr>
            <p:ph type="pic" sz="quarter" idx="12" hasCustomPrompt="1"/>
          </p:nvPr>
        </p:nvSpPr>
        <p:spPr>
          <a:xfrm>
            <a:off x="0" y="0"/>
            <a:ext cx="12193588" cy="13716000"/>
          </a:xfrm>
          <a:prstGeom prst="rect">
            <a:avLst/>
          </a:prstGeom>
          <a:gradFill>
            <a:gsLst>
              <a:gs pos="100000">
                <a:schemeClr val="bg1"/>
              </a:gs>
              <a:gs pos="0">
                <a:schemeClr val="tx1"/>
              </a:gs>
            </a:gsLst>
            <a:lin ang="5400000" scaled="1"/>
          </a:gradFill>
        </p:spPr>
        <p:txBody>
          <a:bodyPr anchor="ctr"/>
          <a:lstStyle>
            <a:lvl1pPr marL="0" indent="0" algn="ctr">
              <a:buNone/>
              <a:defRPr/>
            </a:lvl1pPr>
          </a:lstStyle>
          <a:p>
            <a:r>
              <a:rPr lang="en-US"/>
              <a:t>Insert background image</a:t>
            </a:r>
          </a:p>
        </p:txBody>
      </p:sp>
      <p:sp>
        <p:nvSpPr>
          <p:cNvPr id="3" name="Text Placeholder 33">
            <a:extLst>
              <a:ext uri="{FF2B5EF4-FFF2-40B4-BE49-F238E27FC236}">
                <a16:creationId xmlns:a16="http://schemas.microsoft.com/office/drawing/2014/main" id="{9589722D-E2DB-94B1-9388-C49E9C9CD379}"/>
              </a:ext>
            </a:extLst>
          </p:cNvPr>
          <p:cNvSpPr>
            <a:spLocks noGrp="1"/>
          </p:cNvSpPr>
          <p:nvPr>
            <p:ph type="body" sz="quarter" idx="17" hasCustomPrompt="1"/>
          </p:nvPr>
        </p:nvSpPr>
        <p:spPr>
          <a:xfrm>
            <a:off x="13226902" y="5566612"/>
            <a:ext cx="9937898" cy="7107988"/>
          </a:xfrm>
          <a:prstGeom prst="rect">
            <a:avLst/>
          </a:prstGeom>
        </p:spPr>
        <p:txBody>
          <a:bodyPr lIns="0" tIns="0" rIns="0" bIns="0">
            <a:noAutofit/>
          </a:bodyPr>
          <a:lstStyle>
            <a:lvl1pPr marL="0" indent="0">
              <a:lnSpc>
                <a:spcPts val="4080"/>
              </a:lnSpc>
              <a:spcBef>
                <a:spcPts val="0"/>
              </a:spcBef>
              <a:buNone/>
              <a:defRPr sz="2400" b="0" i="0">
                <a:solidFill>
                  <a:schemeClr val="bg1"/>
                </a:solidFill>
                <a:latin typeface="EYInterstate Light" panose="02000506000000020004" pitchFamily="2" charset="0"/>
              </a:defRPr>
            </a:lvl1pPr>
          </a:lstStyle>
          <a:p>
            <a:pPr lvl="0"/>
            <a:r>
              <a:rPr lang="en-US"/>
              <a:t>(Add .5 width white line between title and paragraph) Text here…</a:t>
            </a:r>
          </a:p>
        </p:txBody>
      </p:sp>
      <p:sp>
        <p:nvSpPr>
          <p:cNvPr id="13" name="Text 1">
            <a:extLst>
              <a:ext uri="{FF2B5EF4-FFF2-40B4-BE49-F238E27FC236}">
                <a16:creationId xmlns:a16="http://schemas.microsoft.com/office/drawing/2014/main" id="{5B89C24F-AFC7-F9D1-E186-5599DCA21484}"/>
              </a:ext>
            </a:extLst>
          </p:cNvPr>
          <p:cNvSpPr/>
          <p:nvPr userDrawn="1"/>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sp>
        <p:nvSpPr>
          <p:cNvPr id="2" name="Text 0">
            <a:extLst>
              <a:ext uri="{FF2B5EF4-FFF2-40B4-BE49-F238E27FC236}">
                <a16:creationId xmlns:a16="http://schemas.microsoft.com/office/drawing/2014/main" id="{7B63280E-10C6-A15F-C1AF-DD921891AADF}"/>
              </a:ext>
            </a:extLst>
          </p:cNvPr>
          <p:cNvSpPr/>
          <p:nvPr userDrawn="1"/>
        </p:nvSpPr>
        <p:spPr>
          <a:xfrm>
            <a:off x="23164800" y="12865608"/>
            <a:ext cx="764991" cy="622300"/>
          </a:xfrm>
          <a:prstGeom prst="rect">
            <a:avLst/>
          </a:prstGeom>
          <a:noFill/>
          <a:ln/>
        </p:spPr>
        <p:txBody>
          <a:bodyPr wrap="square" lIns="0" tIns="0" rIns="0" bIns="0" rtlCol="0" anchor="t"/>
          <a:lstStyle/>
          <a:p>
            <a:pPr algn="r">
              <a:lnSpc>
                <a:spcPts val="4080"/>
              </a:lnSpc>
            </a:pPr>
            <a:fld id="{231D6E63-2C49-2C40-A8B6-B630A5421C70}" type="slidenum">
              <a:rPr lang="en-US" sz="1800" b="0" i="0" smtClean="0">
                <a:solidFill>
                  <a:schemeClr val="bg1"/>
                </a:solidFill>
                <a:latin typeface="EYInterstate Light" panose="02000506000000020004" pitchFamily="2" charset="0"/>
                <a:ea typeface="Arial Regular" pitchFamily="34" charset="-122"/>
                <a:cs typeface="Arial Regular" pitchFamily="34" charset="-120"/>
              </a:rPr>
              <a:t>‹#›</a:t>
            </a:fld>
            <a:endParaRPr lang="en-US" sz="1800" b="0" i="0">
              <a:solidFill>
                <a:schemeClr val="bg1"/>
              </a:solidFill>
              <a:latin typeface="EYInterstate Light" panose="02000506000000020004" pitchFamily="2" charset="0"/>
            </a:endParaRPr>
          </a:p>
        </p:txBody>
      </p:sp>
      <p:sp>
        <p:nvSpPr>
          <p:cNvPr id="18" name="Text Placeholder 12">
            <a:extLst>
              <a:ext uri="{FF2B5EF4-FFF2-40B4-BE49-F238E27FC236}">
                <a16:creationId xmlns:a16="http://schemas.microsoft.com/office/drawing/2014/main" id="{8DF796F7-9518-89EE-CCE4-C45DEA0B4049}"/>
              </a:ext>
            </a:extLst>
          </p:cNvPr>
          <p:cNvSpPr>
            <a:spLocks noGrp="1"/>
          </p:cNvSpPr>
          <p:nvPr>
            <p:ph type="body" sz="quarter" idx="10" hasCustomPrompt="1"/>
          </p:nvPr>
        </p:nvSpPr>
        <p:spPr>
          <a:xfrm>
            <a:off x="6359325" y="320040"/>
            <a:ext cx="11668525" cy="574675"/>
          </a:xfrm>
          <a:prstGeom prst="rect">
            <a:avLst/>
          </a:prstGeom>
        </p:spPr>
        <p:txBody>
          <a:bodyPr>
            <a:noAutofit/>
          </a:bodyPr>
          <a:lstStyle>
            <a:lvl1pPr marL="0" indent="0" algn="ctr">
              <a:lnSpc>
                <a:spcPct val="100000"/>
              </a:lnSpc>
              <a:spcBef>
                <a:spcPts val="768"/>
              </a:spcBef>
              <a:buNone/>
              <a:defRPr sz="3200" b="0" i="0" kern="100" cap="all" spc="320" baseline="0">
                <a:solidFill>
                  <a:schemeClr val="bg1"/>
                </a:solidFill>
                <a:latin typeface="EYInterstate Regular" panose="02000503020000020004" pitchFamily="2" charset="0"/>
              </a:defRPr>
            </a:lvl1pPr>
            <a:lvl2pPr marL="457200" indent="0">
              <a:buNone/>
              <a:defRPr b="0" i="0">
                <a:latin typeface="EY Gothic Comp Book" panose="02000606050000020004" pitchFamily="2" charset="0"/>
              </a:defRPr>
            </a:lvl2pPr>
            <a:lvl3pPr marL="914400" indent="0">
              <a:buNone/>
              <a:defRPr b="0" i="0">
                <a:latin typeface="EY Gothic Comp Book" panose="02000606050000020004" pitchFamily="2" charset="0"/>
              </a:defRPr>
            </a:lvl3pPr>
            <a:lvl4pPr marL="1371600" indent="0">
              <a:buNone/>
              <a:defRPr b="0" i="0">
                <a:latin typeface="EY Gothic Comp Book" panose="02000606050000020004" pitchFamily="2" charset="0"/>
              </a:defRPr>
            </a:lvl4pPr>
            <a:lvl5pPr marL="1828800" indent="0">
              <a:buNone/>
              <a:defRPr b="0" i="0">
                <a:latin typeface="EY Gothic Comp Book" panose="02000606050000020004" pitchFamily="2" charset="0"/>
              </a:defRPr>
            </a:lvl5pPr>
          </a:lstStyle>
          <a:p>
            <a:pPr lvl="0"/>
            <a:r>
              <a:rPr lang="en-US"/>
              <a:t>TITLE</a:t>
            </a:r>
          </a:p>
        </p:txBody>
      </p:sp>
      <p:sp>
        <p:nvSpPr>
          <p:cNvPr id="19" name="Text Placeholder 5">
            <a:extLst>
              <a:ext uri="{FF2B5EF4-FFF2-40B4-BE49-F238E27FC236}">
                <a16:creationId xmlns:a16="http://schemas.microsoft.com/office/drawing/2014/main" id="{CAE7C413-2A3E-1125-8D5B-BBCE3CA7FEF8}"/>
              </a:ext>
            </a:extLst>
          </p:cNvPr>
          <p:cNvSpPr>
            <a:spLocks noGrp="1"/>
          </p:cNvSpPr>
          <p:nvPr>
            <p:ph type="body" sz="quarter" idx="11" hasCustomPrompt="1"/>
          </p:nvPr>
        </p:nvSpPr>
        <p:spPr>
          <a:xfrm>
            <a:off x="13226901" y="1813560"/>
            <a:ext cx="9937897" cy="3047198"/>
          </a:xfrm>
          <a:prstGeom prst="rect">
            <a:avLst/>
          </a:prstGeom>
        </p:spPr>
        <p:txBody>
          <a:bodyPr lIns="0" tIns="0" rIns="0" bIns="0">
            <a:noAutofit/>
          </a:bodyPr>
          <a:lstStyle>
            <a:lvl1pPr marL="0" indent="0" algn="l">
              <a:lnSpc>
                <a:spcPct val="90000"/>
              </a:lnSpc>
              <a:spcBef>
                <a:spcPts val="0"/>
              </a:spcBef>
              <a:buFont typeface="+mj-lt"/>
              <a:buNone/>
              <a:defRPr sz="9600" b="0" i="0" kern="0" spc="-240" baseline="0">
                <a:solidFill>
                  <a:schemeClr val="bg1"/>
                </a:solidFill>
                <a:latin typeface="Source Serif 4 14pt Light" panose="02040403040405020204" pitchFamily="18" charset="0"/>
                <a:ea typeface="Source Serif 4 14pt Light" panose="02040403040405020204" pitchFamily="18"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Headline here </a:t>
            </a:r>
          </a:p>
        </p:txBody>
      </p:sp>
      <p:pic>
        <p:nvPicPr>
          <p:cNvPr id="5" name="Graphic 4">
            <a:extLst>
              <a:ext uri="{FF2B5EF4-FFF2-40B4-BE49-F238E27FC236}">
                <a16:creationId xmlns:a16="http://schemas.microsoft.com/office/drawing/2014/main" id="{81006C8D-CCA8-D8CD-159B-47D2C7FF79F7}"/>
              </a:ext>
            </a:extLst>
          </p:cNvPr>
          <p:cNvPicPr/>
          <p:nvPr userDrawn="1"/>
        </p:nvPicPr>
        <p:blipFill>
          <a:blip r:embed="rId2">
            <a:extLst>
              <a:ext uri="{96DAC541-7B7A-43D3-8B79-37D633B846F1}">
                <asvg:svgBlip xmlns:asvg="http://schemas.microsoft.com/office/drawing/2016/SVG/main" r:embed="rId3"/>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338512057"/>
      </p:ext>
    </p:extLst>
  </p:cSld>
  <p:clrMapOvr>
    <a:masterClrMapping/>
  </p:clrMapOvr>
  <p:extLst>
    <p:ext uri="{DCECCB84-F9BA-43D5-87BE-67443E8EF086}">
      <p15:sldGuideLst xmlns:p15="http://schemas.microsoft.com/office/powerpoint/2012/main">
        <p15:guide id="1" orient="horz" pos="4032">
          <p15:clr>
            <a:srgbClr val="FBAE40"/>
          </p15:clr>
        </p15:guide>
        <p15:guide id="2" pos="289">
          <p15:clr>
            <a:srgbClr val="FBAE40"/>
          </p15:clr>
        </p15:guide>
        <p15:guide id="3" pos="1537">
          <p15:clr>
            <a:srgbClr val="FBAE40"/>
          </p15:clr>
        </p15:guide>
        <p15:guide id="4" orient="horz" pos="288">
          <p15:clr>
            <a:srgbClr val="FBAE40"/>
          </p15:clr>
        </p15:guide>
        <p15:guide id="5" orient="horz" pos="7776">
          <p15:clr>
            <a:srgbClr val="FBAE40"/>
          </p15:clr>
        </p15:guide>
        <p15:guide id="6" orient="horz" pos="8352">
          <p15:clr>
            <a:srgbClr val="FBAE40"/>
          </p15:clr>
        </p15:guide>
        <p15:guide id="7" pos="15073">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967781" y="739776"/>
            <a:ext cx="22451617" cy="941796"/>
          </a:xfrm>
          <a:prstGeom prst="rect">
            <a:avLst/>
          </a:prstGeom>
        </p:spPr>
        <p:txBody>
          <a:bodyPr vert="horz" lIns="0" tIns="0" rIns="0" bIns="0" rtlCol="0" anchor="t" anchorCtr="0">
            <a:noAutofit/>
          </a:bodyPr>
          <a:lstStyle/>
          <a:p>
            <a:r>
              <a:rPr lang="en-GB"/>
              <a:t>EYS+ Case Study &amp; Bios Template</a:t>
            </a:r>
          </a:p>
        </p:txBody>
      </p:sp>
      <p:sp>
        <p:nvSpPr>
          <p:cNvPr id="3" name="Text Placeholder"/>
          <p:cNvSpPr>
            <a:spLocks noGrp="1"/>
          </p:cNvSpPr>
          <p:nvPr>
            <p:ph type="body" idx="1"/>
          </p:nvPr>
        </p:nvSpPr>
        <p:spPr>
          <a:xfrm>
            <a:off x="971173" y="2822575"/>
            <a:ext cx="22451617" cy="9277350"/>
          </a:xfrm>
          <a:prstGeom prst="rect">
            <a:avLst/>
          </a:prstGeom>
        </p:spPr>
        <p:txBody>
          <a:bodyPr vert="horz" lIns="0" tIns="0" rIns="0" bIns="0" rtlCol="0" anchor="t" anchorCtr="0">
            <a:noAutofit/>
          </a:bodyPr>
          <a:lstStyle/>
          <a:p>
            <a:r>
              <a:rPr lang="en-US"/>
              <a:t>First level text style </a:t>
            </a:r>
            <a:r>
              <a:rPr lang="en-US" err="1"/>
              <a:t>EYInterstate</a:t>
            </a:r>
            <a:r>
              <a:rPr lang="en-US"/>
              <a:t> Light 20pt</a:t>
            </a:r>
          </a:p>
          <a:p>
            <a:pPr lvl="1"/>
            <a:r>
              <a:rPr lang="en-US"/>
              <a:t>Second level text style </a:t>
            </a:r>
            <a:r>
              <a:rPr lang="en-US" err="1"/>
              <a:t>EYInterstate</a:t>
            </a:r>
            <a:r>
              <a:rPr lang="en-US"/>
              <a:t> Light 20pt</a:t>
            </a:r>
          </a:p>
          <a:p>
            <a:pPr lvl="2"/>
            <a:r>
              <a:rPr lang="en-US"/>
              <a:t>Third level text style </a:t>
            </a:r>
            <a:r>
              <a:rPr lang="en-US" err="1"/>
              <a:t>EYInterstate</a:t>
            </a:r>
            <a:r>
              <a:rPr lang="en-US"/>
              <a:t> Light 18pt</a:t>
            </a:r>
          </a:p>
          <a:p>
            <a:pPr lvl="3"/>
            <a:r>
              <a:rPr lang="en-US"/>
              <a:t>Fourth level text style </a:t>
            </a:r>
            <a:r>
              <a:rPr lang="en-US" err="1"/>
              <a:t>EYInterstate</a:t>
            </a:r>
            <a:r>
              <a:rPr lang="en-US"/>
              <a:t> Light 16pt</a:t>
            </a:r>
          </a:p>
          <a:p>
            <a:pPr lvl="4"/>
            <a:r>
              <a:rPr lang="en-US"/>
              <a:t>Fifth level text style </a:t>
            </a:r>
            <a:r>
              <a:rPr lang="en-US" err="1"/>
              <a:t>EYInterstate</a:t>
            </a:r>
            <a:r>
              <a:rPr lang="en-US"/>
              <a:t> Light 16pt</a:t>
            </a:r>
          </a:p>
          <a:p>
            <a:pPr lvl="5"/>
            <a:r>
              <a:rPr lang="en-US"/>
              <a:t>Sixth level text style </a:t>
            </a:r>
            <a:r>
              <a:rPr lang="en-US" err="1"/>
              <a:t>EYInterstate</a:t>
            </a:r>
            <a:r>
              <a:rPr lang="en-US"/>
              <a:t> Light 14pt</a:t>
            </a:r>
          </a:p>
          <a:p>
            <a:pPr lvl="6"/>
            <a:r>
              <a:rPr lang="en-US"/>
              <a:t>Seventh level text style </a:t>
            </a:r>
            <a:r>
              <a:rPr lang="en-US" err="1"/>
              <a:t>EYInterstate</a:t>
            </a:r>
            <a:r>
              <a:rPr lang="en-US"/>
              <a:t> Light 14pt</a:t>
            </a:r>
          </a:p>
          <a:p>
            <a:pPr lvl="7"/>
            <a:r>
              <a:rPr lang="en-US"/>
              <a:t>Eighth level text style </a:t>
            </a:r>
            <a:r>
              <a:rPr lang="en-US" err="1"/>
              <a:t>EYInterstate</a:t>
            </a:r>
            <a:r>
              <a:rPr lang="en-US"/>
              <a:t> Light 12pt</a:t>
            </a:r>
          </a:p>
          <a:p>
            <a:pPr lvl="8"/>
            <a:r>
              <a:rPr lang="en-US"/>
              <a:t>Nineth level text style </a:t>
            </a:r>
            <a:r>
              <a:rPr lang="en-US" err="1"/>
              <a:t>EYInterstate</a:t>
            </a:r>
            <a:r>
              <a:rPr lang="en-US"/>
              <a:t> Light 24pt for key pull out text</a:t>
            </a:r>
          </a:p>
        </p:txBody>
      </p:sp>
      <p:sp>
        <p:nvSpPr>
          <p:cNvPr id="21" name="Slide Number Placeholder">
            <a:extLst>
              <a:ext uri="{FF2B5EF4-FFF2-40B4-BE49-F238E27FC236}">
                <a16:creationId xmlns:a16="http://schemas.microsoft.com/office/drawing/2014/main" id="{3B540F9A-D485-4BD0-B905-41F8A52593F8}"/>
              </a:ext>
            </a:extLst>
          </p:cNvPr>
          <p:cNvSpPr>
            <a:spLocks noGrp="1"/>
          </p:cNvSpPr>
          <p:nvPr>
            <p:ph type="sldNum" sz="quarter" idx="4"/>
          </p:nvPr>
        </p:nvSpPr>
        <p:spPr>
          <a:xfrm>
            <a:off x="971620" y="12874231"/>
            <a:ext cx="1018329" cy="246222"/>
          </a:xfrm>
          <a:prstGeom prst="rect">
            <a:avLst/>
          </a:prstGeom>
        </p:spPr>
        <p:txBody>
          <a:bodyPr vert="horz" lIns="0" tIns="0" rIns="0" bIns="0" rtlCol="0" anchor="t">
            <a:noAutofit/>
          </a:bodyPr>
          <a:lstStyle>
            <a:lvl1pPr marL="0" algn="l" defTabSz="1828800" rtl="0" eaLnBrk="1" latinLnBrk="0" hangingPunct="1">
              <a:defRPr lang="en-IN" sz="1600" kern="1200" smtClean="0">
                <a:solidFill>
                  <a:schemeClr val="bg1"/>
                </a:solidFill>
                <a:latin typeface="+mn-lt"/>
                <a:ea typeface="+mn-ea"/>
                <a:cs typeface="+mn-cs"/>
              </a:defRPr>
            </a:lvl1pPr>
          </a:lstStyle>
          <a:p>
            <a:fld id="{F1BC30E3-FFE5-4B91-AA19-87A149EBB9EE}" type="slidenum">
              <a:rPr lang="en-GB" smtClean="0"/>
              <a:pPr/>
              <a:t>‹#›</a:t>
            </a:fld>
            <a:endParaRPr lang="en-GB"/>
          </a:p>
        </p:txBody>
      </p:sp>
    </p:spTree>
    <p:extLst>
      <p:ext uri="{BB962C8B-B14F-4D97-AF65-F5344CB8AC3E}">
        <p14:creationId xmlns:p14="http://schemas.microsoft.com/office/powerpoint/2010/main" val="4217046314"/>
      </p:ext>
    </p:extLst>
  </p:cSld>
  <p:clrMap bg1="lt1" tx1="dk1" bg2="lt2" tx2="dk2" accent1="accent1" accent2="accent2" accent3="accent3" accent4="accent4" accent5="accent5" accent6="accent6" hlink="hlink" folHlink="folHlink"/>
  <p:sldLayoutIdLst>
    <p:sldLayoutId id="2147483904" r:id="rId1"/>
    <p:sldLayoutId id="2147483689" r:id="rId2"/>
    <p:sldLayoutId id="2147483862" r:id="rId3"/>
    <p:sldLayoutId id="2147483831" r:id="rId4"/>
    <p:sldLayoutId id="2147483873" r:id="rId5"/>
  </p:sldLayoutIdLst>
  <p:hf hdr="0"/>
  <p:txStyles>
    <p:titleStyle>
      <a:lvl1pPr algn="l" defTabSz="1828800" rtl="0" eaLnBrk="1" latinLnBrk="0" hangingPunct="1">
        <a:lnSpc>
          <a:spcPct val="85000"/>
        </a:lnSpc>
        <a:spcBef>
          <a:spcPct val="0"/>
        </a:spcBef>
        <a:buNone/>
        <a:defRPr sz="7200" b="1" i="0" kern="1200">
          <a:solidFill>
            <a:schemeClr val="tx2"/>
          </a:solidFill>
          <a:latin typeface="EYInterstate Regular" panose="02000503020000020004" pitchFamily="2" charset="0"/>
          <a:ea typeface="+mj-ea"/>
          <a:cs typeface="Arial" pitchFamily="34" charset="0"/>
        </a:defRPr>
      </a:lvl1pPr>
    </p:titleStyle>
    <p:bodyStyle>
      <a:lvl1pPr marL="504000" indent="-504000" algn="l" defTabSz="1828800" rtl="0" eaLnBrk="1" latinLnBrk="0" hangingPunct="1">
        <a:spcBef>
          <a:spcPts val="800"/>
        </a:spcBef>
        <a:spcAft>
          <a:spcPts val="800"/>
        </a:spcAft>
        <a:buClr>
          <a:schemeClr val="tx2"/>
        </a:buClr>
        <a:buSzPct val="100000"/>
        <a:buFont typeface="Wingdings" pitchFamily="2" charset="2"/>
        <a:buChar char="§"/>
        <a:defRPr sz="4000" kern="1200">
          <a:solidFill>
            <a:schemeClr val="bg1"/>
          </a:solidFill>
          <a:latin typeface="+mn-lt"/>
          <a:ea typeface="+mn-ea"/>
          <a:cs typeface="+mn-cs"/>
        </a:defRPr>
      </a:lvl1pPr>
      <a:lvl2pPr marL="1008000" indent="-504000" algn="l" defTabSz="1828800" rtl="0" eaLnBrk="1" latinLnBrk="0" hangingPunct="1">
        <a:spcBef>
          <a:spcPts val="800"/>
        </a:spcBef>
        <a:spcAft>
          <a:spcPts val="800"/>
        </a:spcAft>
        <a:buClr>
          <a:schemeClr val="tx2"/>
        </a:buClr>
        <a:buSzPct val="100000"/>
        <a:buFont typeface="Wingdings" pitchFamily="2" charset="2"/>
        <a:buChar char="§"/>
        <a:defRPr sz="4000" kern="1200">
          <a:solidFill>
            <a:schemeClr val="bg1"/>
          </a:solidFill>
          <a:latin typeface="+mn-lt"/>
          <a:ea typeface="+mn-ea"/>
          <a:cs typeface="+mn-cs"/>
        </a:defRPr>
      </a:lvl2pPr>
      <a:lvl3pPr marL="1512000" indent="-504000" algn="l" defTabSz="1828800" rtl="0" eaLnBrk="1" latinLnBrk="0" hangingPunct="1">
        <a:spcBef>
          <a:spcPts val="0"/>
        </a:spcBef>
        <a:spcAft>
          <a:spcPts val="1200"/>
        </a:spcAft>
        <a:buClr>
          <a:schemeClr val="tx2"/>
        </a:buClr>
        <a:buSzPct val="100000"/>
        <a:buFont typeface="Wingdings" pitchFamily="2" charset="2"/>
        <a:buChar char="§"/>
        <a:defRPr sz="3600" kern="1200">
          <a:solidFill>
            <a:schemeClr val="bg1"/>
          </a:solidFill>
          <a:latin typeface="+mn-lt"/>
          <a:ea typeface="+mn-ea"/>
          <a:cs typeface="+mn-cs"/>
        </a:defRPr>
      </a:lvl3pPr>
      <a:lvl4pPr marL="2016000" indent="-504000" algn="l" defTabSz="1828800" rtl="0" eaLnBrk="1" latinLnBrk="0" hangingPunct="1">
        <a:spcBef>
          <a:spcPts val="0"/>
        </a:spcBef>
        <a:spcAft>
          <a:spcPts val="800"/>
        </a:spcAft>
        <a:buClr>
          <a:schemeClr val="tx2"/>
        </a:buClr>
        <a:buSzPct val="100000"/>
        <a:buFont typeface="Wingdings" pitchFamily="2" charset="2"/>
        <a:buChar char="§"/>
        <a:defRPr sz="3200" kern="1200">
          <a:solidFill>
            <a:schemeClr val="bg1"/>
          </a:solidFill>
          <a:latin typeface="+mn-lt"/>
          <a:ea typeface="+mn-ea"/>
          <a:cs typeface="+mn-cs"/>
        </a:defRPr>
      </a:lvl4pPr>
      <a:lvl5pPr marL="2520000" indent="-504000" algn="l" defTabSz="1828800" rtl="0" eaLnBrk="1" latinLnBrk="0" hangingPunct="1">
        <a:spcBef>
          <a:spcPts val="0"/>
        </a:spcBef>
        <a:spcAft>
          <a:spcPts val="800"/>
        </a:spcAft>
        <a:buClr>
          <a:schemeClr val="tx2"/>
        </a:buClr>
        <a:buSzPct val="100000"/>
        <a:buFont typeface="Wingdings" pitchFamily="2" charset="2"/>
        <a:buChar char="§"/>
        <a:defRPr sz="3200" kern="1200">
          <a:solidFill>
            <a:schemeClr val="bg1"/>
          </a:solidFill>
          <a:latin typeface="+mn-lt"/>
          <a:ea typeface="+mn-ea"/>
          <a:cs typeface="+mn-cs"/>
        </a:defRPr>
      </a:lvl5pPr>
      <a:lvl6pPr marL="3024000" indent="-504000" algn="l" defTabSz="1828800" rtl="0" eaLnBrk="1" latinLnBrk="0" hangingPunct="1">
        <a:spcBef>
          <a:spcPts val="0"/>
        </a:spcBef>
        <a:spcAft>
          <a:spcPts val="800"/>
        </a:spcAft>
        <a:buClr>
          <a:schemeClr val="tx2"/>
        </a:buClr>
        <a:buFont typeface="Wingdings" pitchFamily="2" charset="2"/>
        <a:buChar char="§"/>
        <a:tabLst/>
        <a:defRPr sz="2800" kern="1200">
          <a:solidFill>
            <a:schemeClr val="bg1"/>
          </a:solidFill>
          <a:latin typeface="+mn-lt"/>
          <a:ea typeface="+mn-ea"/>
          <a:cs typeface="+mn-cs"/>
        </a:defRPr>
      </a:lvl6pPr>
      <a:lvl7pPr marL="3528000" indent="-504000" algn="l" defTabSz="1828800" rtl="0" eaLnBrk="1" latinLnBrk="0" hangingPunct="1">
        <a:spcBef>
          <a:spcPts val="0"/>
        </a:spcBef>
        <a:spcAft>
          <a:spcPts val="800"/>
        </a:spcAft>
        <a:buClr>
          <a:schemeClr val="tx2"/>
        </a:buClr>
        <a:buFont typeface="Wingdings" pitchFamily="2" charset="2"/>
        <a:buChar char="§"/>
        <a:tabLst/>
        <a:defRPr sz="2800" kern="1200">
          <a:solidFill>
            <a:schemeClr val="bg1"/>
          </a:solidFill>
          <a:latin typeface="+mn-lt"/>
          <a:ea typeface="+mn-ea"/>
          <a:cs typeface="+mn-cs"/>
        </a:defRPr>
      </a:lvl7pPr>
      <a:lvl8pPr marL="4032000" indent="-504000" algn="l" defTabSz="1828800" rtl="0" eaLnBrk="1" latinLnBrk="0" hangingPunct="1">
        <a:spcBef>
          <a:spcPts val="0"/>
        </a:spcBef>
        <a:spcAft>
          <a:spcPts val="800"/>
        </a:spcAft>
        <a:buClr>
          <a:schemeClr val="tx2"/>
        </a:buClr>
        <a:buFont typeface="Wingdings" pitchFamily="2" charset="2"/>
        <a:buChar char="§"/>
        <a:tabLst/>
        <a:defRPr sz="2400" kern="1200">
          <a:solidFill>
            <a:schemeClr val="bg1"/>
          </a:solidFill>
          <a:latin typeface="+mn-lt"/>
          <a:ea typeface="+mn-ea"/>
          <a:cs typeface="+mn-cs"/>
        </a:defRPr>
      </a:lvl8pPr>
      <a:lvl9pPr marL="0" indent="0" algn="l" defTabSz="1828800" rtl="0" eaLnBrk="1" latinLnBrk="0" hangingPunct="1">
        <a:spcBef>
          <a:spcPts val="2400"/>
        </a:spcBef>
        <a:spcAft>
          <a:spcPts val="2400"/>
        </a:spcAft>
        <a:buClr>
          <a:schemeClr val="tx2"/>
        </a:buClr>
        <a:buFont typeface="Wingdings" pitchFamily="2" charset="2"/>
        <a:buNone/>
        <a:tabLst/>
        <a:defRPr sz="4800" kern="1200">
          <a:solidFill>
            <a:schemeClr val="tx2"/>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extLst>
    <p:ext uri="{27BBF7A9-308A-43DC-89C8-2F10F3537804}">
      <p15:sldGuideLst xmlns:p15="http://schemas.microsoft.com/office/powerpoint/2012/main">
        <p15:guide id="4" pos="302">
          <p15:clr>
            <a:srgbClr val="F26B43"/>
          </p15:clr>
        </p15:guide>
        <p15:guide id="47" pos="7378">
          <p15:clr>
            <a:srgbClr val="F26B43"/>
          </p15:clr>
        </p15:guide>
        <p15:guide id="55" orient="horz" pos="890">
          <p15:clr>
            <a:srgbClr val="F26B43"/>
          </p15:clr>
        </p15:guide>
        <p15:guide id="58" orient="horz" pos="527">
          <p15:clr>
            <a:srgbClr val="F26B43"/>
          </p15:clr>
        </p15:guide>
        <p15:guide id="78" orient="horz" pos="3838">
          <p15:clr>
            <a:srgbClr val="F26B43"/>
          </p15:clr>
        </p15:guide>
        <p15:guide id="79" orient="horz" pos="21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5.sv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7.png"/><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microsoft.com/office/2007/relationships/hdphoto" Target="../media/hdphoto2.wdp"/><Relationship Id="rId5" Type="http://schemas.openxmlformats.org/officeDocument/2006/relationships/image" Target="../media/image8.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5.sv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19.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11" Type="http://schemas.openxmlformats.org/officeDocument/2006/relationships/image" Target="../media/image5.svg"/><Relationship Id="rId5" Type="http://schemas.openxmlformats.org/officeDocument/2006/relationships/image" Target="../media/image13.png"/><Relationship Id="rId10" Type="http://schemas.openxmlformats.org/officeDocument/2006/relationships/image" Target="../media/image4.png"/><Relationship Id="rId4" Type="http://schemas.openxmlformats.org/officeDocument/2006/relationships/image" Target="../media/image12.png"/><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5.sv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5.sv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5.sv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5.sv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5.sv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18" Type="http://schemas.openxmlformats.org/officeDocument/2006/relationships/image" Target="../media/image38.png"/><Relationship Id="rId3" Type="http://schemas.openxmlformats.org/officeDocument/2006/relationships/image" Target="../media/image25.png"/><Relationship Id="rId7" Type="http://schemas.openxmlformats.org/officeDocument/2006/relationships/image" Target="../media/image29.svg"/><Relationship Id="rId12" Type="http://schemas.openxmlformats.org/officeDocument/2006/relationships/image" Target="../media/image34.png"/><Relationship Id="rId17" Type="http://schemas.openxmlformats.org/officeDocument/2006/relationships/image" Target="../media/image5.svg"/><Relationship Id="rId2" Type="http://schemas.openxmlformats.org/officeDocument/2006/relationships/notesSlide" Target="../notesSlides/notesSlide11.xml"/><Relationship Id="rId16"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svg"/><Relationship Id="rId5" Type="http://schemas.openxmlformats.org/officeDocument/2006/relationships/image" Target="../media/image27.svg"/><Relationship Id="rId15" Type="http://schemas.openxmlformats.org/officeDocument/2006/relationships/image" Target="../media/image3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svg"/><Relationship Id="rId14" Type="http://schemas.openxmlformats.org/officeDocument/2006/relationships/image" Target="../media/image36.sv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5.sv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3.xml"/><Relationship Id="rId1" Type="http://schemas.openxmlformats.org/officeDocument/2006/relationships/slideLayout" Target="../slideLayouts/slideLayout4.xml"/><Relationship Id="rId5" Type="http://schemas.openxmlformats.org/officeDocument/2006/relationships/image" Target="../media/image5.sv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4.xml"/><Relationship Id="rId1" Type="http://schemas.openxmlformats.org/officeDocument/2006/relationships/slideLayout" Target="../slideLayouts/slideLayout4.xml"/><Relationship Id="rId5" Type="http://schemas.openxmlformats.org/officeDocument/2006/relationships/image" Target="../media/image5.sv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5.sv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5.sv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5.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D295F94-BD01-731F-73A2-C57A7FBB63B2}"/>
              </a:ext>
            </a:extLst>
          </p:cNvPr>
          <p:cNvSpPr>
            <a:spLocks noGrp="1"/>
          </p:cNvSpPr>
          <p:nvPr>
            <p:ph type="title"/>
          </p:nvPr>
        </p:nvSpPr>
        <p:spPr>
          <a:xfrm>
            <a:off x="1781112" y="5397503"/>
            <a:ext cx="9812018" cy="3308086"/>
          </a:xfrm>
        </p:spPr>
        <p:txBody>
          <a:bodyPr/>
          <a:lstStyle/>
          <a:p>
            <a:r>
              <a:rPr lang="en-US" noProof="1"/>
              <a:t>EY Studio+ Health Services &amp; LS Case Studies</a:t>
            </a:r>
          </a:p>
        </p:txBody>
      </p:sp>
      <p:grpSp>
        <p:nvGrpSpPr>
          <p:cNvPr id="6" name="Group 5">
            <a:extLst>
              <a:ext uri="{FF2B5EF4-FFF2-40B4-BE49-F238E27FC236}">
                <a16:creationId xmlns:a16="http://schemas.microsoft.com/office/drawing/2014/main" id="{EDF05309-C730-9A39-B0F2-2C83813FB57F}"/>
              </a:ext>
            </a:extLst>
          </p:cNvPr>
          <p:cNvGrpSpPr/>
          <p:nvPr/>
        </p:nvGrpSpPr>
        <p:grpSpPr>
          <a:xfrm>
            <a:off x="1781112" y="9393856"/>
            <a:ext cx="10725969" cy="1586311"/>
            <a:chOff x="1781112" y="9393856"/>
            <a:chExt cx="10725969" cy="1586311"/>
          </a:xfrm>
        </p:grpSpPr>
        <p:sp>
          <p:nvSpPr>
            <p:cNvPr id="2" name="TextBox 1">
              <a:extLst>
                <a:ext uri="{FF2B5EF4-FFF2-40B4-BE49-F238E27FC236}">
                  <a16:creationId xmlns:a16="http://schemas.microsoft.com/office/drawing/2014/main" id="{5125A58A-01C6-BC3A-09F4-D9C589A34EA7}"/>
                </a:ext>
              </a:extLst>
            </p:cNvPr>
            <p:cNvSpPr txBox="1"/>
            <p:nvPr/>
          </p:nvSpPr>
          <p:spPr>
            <a:xfrm>
              <a:off x="1781112" y="9756973"/>
              <a:ext cx="4228547" cy="861774"/>
            </a:xfrm>
            <a:prstGeom prst="rect">
              <a:avLst/>
            </a:prstGeom>
            <a:noFill/>
          </p:spPr>
          <p:txBody>
            <a:bodyPr wrap="square" lIns="182880" tIns="91440" rIns="182880" bIns="91440" rtlCol="0" anchor="t">
              <a:spAutoFit/>
            </a:bodyPr>
            <a:lstStyle/>
            <a:p>
              <a:r>
                <a:rPr lang="en-US" sz="2400" dirty="0">
                  <a:solidFill>
                    <a:srgbClr val="FFFFFF"/>
                  </a:solidFill>
                  <a:latin typeface="Arial" panose="020B0604020202020204"/>
                </a:rPr>
                <a:t>Owner: Katie Nolan;</a:t>
              </a:r>
              <a:endParaRPr lang="en-US" sz="2400" dirty="0">
                <a:solidFill>
                  <a:srgbClr val="FFFFFF"/>
                </a:solidFill>
                <a:latin typeface="Arial" panose="020B0604020202020204"/>
                <a:cs typeface="Arial"/>
              </a:endParaRPr>
            </a:p>
            <a:p>
              <a:r>
                <a:rPr lang="en-US" sz="2000" dirty="0">
                  <a:solidFill>
                    <a:srgbClr val="FFFFFF"/>
                  </a:solidFill>
                  <a:latin typeface="Arial" panose="020B0604020202020204"/>
                </a:rPr>
                <a:t>               katie.m.nolan@ey.com</a:t>
              </a:r>
              <a:endParaRPr lang="en-US" sz="2000" dirty="0">
                <a:solidFill>
                  <a:srgbClr val="FFFFFF"/>
                </a:solidFill>
                <a:latin typeface="Arial" panose="020B0604020202020204"/>
                <a:cs typeface="Arial"/>
              </a:endParaRPr>
            </a:p>
          </p:txBody>
        </p:sp>
        <p:sp>
          <p:nvSpPr>
            <p:cNvPr id="3" name="Text Placeholder 3">
              <a:extLst>
                <a:ext uri="{FF2B5EF4-FFF2-40B4-BE49-F238E27FC236}">
                  <a16:creationId xmlns:a16="http://schemas.microsoft.com/office/drawing/2014/main" id="{0007BF65-6D72-4743-BFF3-1334401507D7}"/>
                </a:ext>
              </a:extLst>
            </p:cNvPr>
            <p:cNvSpPr txBox="1">
              <a:spLocks/>
            </p:cNvSpPr>
            <p:nvPr/>
          </p:nvSpPr>
          <p:spPr>
            <a:xfrm>
              <a:off x="1992697" y="9393856"/>
              <a:ext cx="3481177" cy="503768"/>
            </a:xfrm>
            <a:prstGeom prst="rect">
              <a:avLst/>
            </a:prstGeom>
          </p:spPr>
          <p:txBody>
            <a:bodyPr vert="horz" lIns="0" tIns="0" rIns="0" bIns="0" rtlCol="0">
              <a:noAutofit/>
            </a:bodyPr>
            <a:lstStyle>
              <a:lvl1pPr marL="0" indent="0" algn="l" defTabSz="457109" rtl="0" eaLnBrk="1" latinLnBrk="0" hangingPunct="1">
                <a:lnSpc>
                  <a:spcPct val="100000"/>
                </a:lnSpc>
                <a:spcBef>
                  <a:spcPts val="500"/>
                </a:spcBef>
                <a:buFont typeface="Arial" panose="020B0604020202020204" pitchFamily="34" charset="0"/>
                <a:buNone/>
                <a:defRPr sz="1400" kern="100" cap="all" spc="160" baseline="0">
                  <a:solidFill>
                    <a:schemeClr val="bg1"/>
                  </a:solidFill>
                  <a:latin typeface="EYInterstate Regular" panose="02000503020000020004" pitchFamily="2" charset="0"/>
                  <a:ea typeface="+mn-ea"/>
                  <a:cs typeface="Arial" panose="020B0604020202020204" pitchFamily="34" charset="0"/>
                </a:defRPr>
              </a:lvl1pPr>
              <a:lvl2pPr marL="342831" indent="-114277" algn="l" defTabSz="457109" rtl="0" eaLnBrk="1" latinLnBrk="0" hangingPunct="1">
                <a:lnSpc>
                  <a:spcPct val="90000"/>
                </a:lnSpc>
                <a:spcBef>
                  <a:spcPts val="250"/>
                </a:spcBef>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2pPr>
              <a:lvl3pPr marL="571386" indent="-114277" algn="l" defTabSz="457109" rtl="0" eaLnBrk="1" latinLnBrk="0" hangingPunct="1">
                <a:lnSpc>
                  <a:spcPct val="90000"/>
                </a:lnSpc>
                <a:spcBef>
                  <a:spcPts val="250"/>
                </a:spcBef>
                <a:buFont typeface="Arial" panose="020B0604020202020204" pitchFamily="34" charset="0"/>
                <a:buChar char="•"/>
                <a:defRPr sz="1000" kern="1200">
                  <a:solidFill>
                    <a:schemeClr val="tx1"/>
                  </a:solidFill>
                  <a:latin typeface="Arial" panose="020B0604020202020204" pitchFamily="34" charset="0"/>
                  <a:ea typeface="+mn-ea"/>
                  <a:cs typeface="Arial" panose="020B0604020202020204" pitchFamily="34" charset="0"/>
                </a:defRPr>
              </a:lvl3pPr>
              <a:lvl4pPr marL="799940"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4pPr>
              <a:lvl5pPr marL="1028494"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Arial" panose="020B0604020202020204" pitchFamily="34" charset="0"/>
                  <a:ea typeface="+mn-ea"/>
                  <a:cs typeface="Arial" panose="020B0604020202020204" pitchFamily="34" charset="0"/>
                </a:defRPr>
              </a:lvl5pPr>
              <a:lvl6pPr marL="1257049"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6pPr>
              <a:lvl7pPr marL="1485603"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7pPr>
              <a:lvl8pPr marL="1714157"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8pPr>
              <a:lvl9pPr marL="1942711" indent="-114277" algn="l" defTabSz="457109" rtl="0" eaLnBrk="1" latinLnBrk="0" hangingPunct="1">
                <a:lnSpc>
                  <a:spcPct val="90000"/>
                </a:lnSpc>
                <a:spcBef>
                  <a:spcPts val="250"/>
                </a:spcBef>
                <a:buFont typeface="Arial" panose="020B0604020202020204" pitchFamily="34" charset="0"/>
                <a:buChar char="•"/>
                <a:defRPr sz="900" kern="1200">
                  <a:solidFill>
                    <a:schemeClr val="tx1"/>
                  </a:solidFill>
                  <a:latin typeface="+mn-lt"/>
                  <a:ea typeface="+mn-ea"/>
                  <a:cs typeface="+mn-cs"/>
                </a:defRPr>
              </a:lvl9pPr>
            </a:lstStyle>
            <a:p>
              <a:pPr defTabSz="914218">
                <a:spcBef>
                  <a:spcPts val="1000"/>
                </a:spcBef>
                <a:defRPr/>
              </a:pPr>
              <a:r>
                <a:rPr lang="en-US" sz="2800" dirty="0"/>
                <a:t>File Contacts</a:t>
              </a:r>
              <a:endParaRPr lang="en-US" sz="2800" spc="320" dirty="0"/>
            </a:p>
          </p:txBody>
        </p:sp>
        <p:sp>
          <p:nvSpPr>
            <p:cNvPr id="4" name="TextBox 3">
              <a:extLst>
                <a:ext uri="{FF2B5EF4-FFF2-40B4-BE49-F238E27FC236}">
                  <a16:creationId xmlns:a16="http://schemas.microsoft.com/office/drawing/2014/main" id="{D5C898D4-44CF-F6B5-6E0F-57990B99A23C}"/>
                </a:ext>
              </a:extLst>
            </p:cNvPr>
            <p:cNvSpPr txBox="1"/>
            <p:nvPr/>
          </p:nvSpPr>
          <p:spPr>
            <a:xfrm>
              <a:off x="1781112" y="10518502"/>
              <a:ext cx="9379578" cy="461665"/>
            </a:xfrm>
            <a:prstGeom prst="rect">
              <a:avLst/>
            </a:prstGeom>
            <a:noFill/>
          </p:spPr>
          <p:txBody>
            <a:bodyPr wrap="square" rtlCol="0">
              <a:spAutoFit/>
            </a:bodyPr>
            <a:lstStyle/>
            <a:p>
              <a:r>
                <a:rPr lang="en-US" sz="2400" dirty="0">
                  <a:solidFill>
                    <a:srgbClr val="FFFFFF"/>
                  </a:solidFill>
                  <a:latin typeface="Arial" panose="020B0604020202020204"/>
                </a:rPr>
                <a:t>Content Editor: John Motley (</a:t>
              </a:r>
              <a:r>
                <a:rPr lang="en-US" sz="2000" dirty="0">
                  <a:solidFill>
                    <a:srgbClr val="FFFFFF"/>
                  </a:solidFill>
                  <a:latin typeface="Arial" panose="020B0604020202020204"/>
                </a:rPr>
                <a:t>john.m.motley@ey.com)</a:t>
              </a:r>
            </a:p>
          </p:txBody>
        </p:sp>
        <p:sp>
          <p:nvSpPr>
            <p:cNvPr id="8" name="TextBox 7">
              <a:extLst>
                <a:ext uri="{FF2B5EF4-FFF2-40B4-BE49-F238E27FC236}">
                  <a16:creationId xmlns:a16="http://schemas.microsoft.com/office/drawing/2014/main" id="{8512A160-26F2-D6E8-2B25-63D5A0A597E1}"/>
                </a:ext>
              </a:extLst>
            </p:cNvPr>
            <p:cNvSpPr txBox="1"/>
            <p:nvPr/>
          </p:nvSpPr>
          <p:spPr>
            <a:xfrm>
              <a:off x="5954487" y="9756973"/>
              <a:ext cx="3051870" cy="861774"/>
            </a:xfrm>
            <a:prstGeom prst="rect">
              <a:avLst/>
            </a:prstGeom>
            <a:noFill/>
          </p:spPr>
          <p:txBody>
            <a:bodyPr wrap="square" lIns="182880" tIns="91440" rIns="182880" bIns="9144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solidFill>
                    <a:srgbClr val="FFFFFF"/>
                  </a:solidFill>
                  <a:latin typeface="Arial" panose="020B0604020202020204"/>
                  <a:ea typeface="+mn-lt"/>
                  <a:cs typeface="Arial" panose="020B0604020202020204"/>
                </a:rPr>
                <a:t>Garrett Wexler;</a:t>
              </a:r>
              <a:endParaRPr lang="en-US" sz="3600" dirty="0">
                <a:solidFill>
                  <a:srgbClr val="FFFFFF"/>
                </a:solidFill>
                <a:latin typeface="Arial" panose="020B0604020202020204"/>
                <a:cs typeface="Arial"/>
              </a:endParaRPr>
            </a:p>
            <a:p>
              <a:r>
                <a:rPr lang="en-US" sz="2000" dirty="0">
                  <a:solidFill>
                    <a:srgbClr val="FFFFFF"/>
                  </a:solidFill>
                  <a:latin typeface="Arial" panose="020B0604020202020204"/>
                  <a:ea typeface="+mn-lt"/>
                  <a:cs typeface="Arial" panose="020B0604020202020204"/>
                </a:rPr>
                <a:t>garrett.wexler@ey.com</a:t>
              </a:r>
              <a:endParaRPr lang="en-US" sz="2000" dirty="0">
                <a:solidFill>
                  <a:srgbClr val="FFFFFF"/>
                </a:solidFill>
                <a:latin typeface="Arial" panose="020B0604020202020204"/>
              </a:endParaRPr>
            </a:p>
          </p:txBody>
        </p:sp>
        <p:sp>
          <p:nvSpPr>
            <p:cNvPr id="9" name="TextBox 8">
              <a:extLst>
                <a:ext uri="{FF2B5EF4-FFF2-40B4-BE49-F238E27FC236}">
                  <a16:creationId xmlns:a16="http://schemas.microsoft.com/office/drawing/2014/main" id="{A4D74F5E-524E-BBEF-7B20-C37528264074}"/>
                </a:ext>
              </a:extLst>
            </p:cNvPr>
            <p:cNvSpPr txBox="1"/>
            <p:nvPr/>
          </p:nvSpPr>
          <p:spPr>
            <a:xfrm>
              <a:off x="9140168" y="9787713"/>
              <a:ext cx="3366913" cy="861774"/>
            </a:xfrm>
            <a:prstGeom prst="rect">
              <a:avLst/>
            </a:prstGeom>
            <a:noFill/>
          </p:spPr>
          <p:txBody>
            <a:bodyPr wrap="square" lIns="182880" tIns="91440" rIns="182880" bIns="9144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400" dirty="0">
                  <a:solidFill>
                    <a:srgbClr val="FFFFFF"/>
                  </a:solidFill>
                  <a:latin typeface="Arial" panose="020B0604020202020204"/>
                  <a:ea typeface="+mn-lt"/>
                  <a:cs typeface="Arial" panose="020B0604020202020204"/>
                </a:rPr>
                <a:t>Brooke Smith</a:t>
              </a:r>
              <a:endParaRPr lang="en-US" sz="3600" dirty="0">
                <a:solidFill>
                  <a:srgbClr val="FFFFFF"/>
                </a:solidFill>
                <a:latin typeface="Arial" panose="020B0604020202020204"/>
                <a:cs typeface="Arial"/>
              </a:endParaRPr>
            </a:p>
            <a:p>
              <a:r>
                <a:rPr lang="en-US" sz="2000" dirty="0">
                  <a:solidFill>
                    <a:srgbClr val="FFFFFF"/>
                  </a:solidFill>
                  <a:latin typeface="Arial" panose="020B0604020202020204"/>
                  <a:ea typeface="+mn-lt"/>
                  <a:cs typeface="Arial" panose="020B0604020202020204"/>
                </a:rPr>
                <a:t>brooke.smith@ey.com</a:t>
              </a:r>
              <a:endParaRPr lang="en-US" sz="2000" dirty="0">
                <a:solidFill>
                  <a:srgbClr val="FFFFFF"/>
                </a:solidFill>
                <a:latin typeface="Arial" panose="020B0604020202020204"/>
              </a:endParaRPr>
            </a:p>
          </p:txBody>
        </p:sp>
      </p:grpSp>
    </p:spTree>
    <p:extLst>
      <p:ext uri="{BB962C8B-B14F-4D97-AF65-F5344CB8AC3E}">
        <p14:creationId xmlns:p14="http://schemas.microsoft.com/office/powerpoint/2010/main" val="732457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doctor wearing surgical gear and mask&#10;&#10;Description automatically generated">
            <a:extLst>
              <a:ext uri="{FF2B5EF4-FFF2-40B4-BE49-F238E27FC236}">
                <a16:creationId xmlns:a16="http://schemas.microsoft.com/office/drawing/2014/main" id="{5A368DE9-BD48-22B3-A2FC-0264C7042D8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 y="0"/>
            <a:ext cx="12182481" cy="13716000"/>
          </a:xfrm>
          <a:prstGeom prst="rect">
            <a:avLst/>
          </a:prstGeom>
        </p:spPr>
      </p:pic>
      <p:sp>
        <p:nvSpPr>
          <p:cNvPr id="14" name="Rectangle 13">
            <a:extLst>
              <a:ext uri="{FF2B5EF4-FFF2-40B4-BE49-F238E27FC236}">
                <a16:creationId xmlns:a16="http://schemas.microsoft.com/office/drawing/2014/main" id="{16FF1433-5CB4-05C1-6DCB-621D7F8F246A}"/>
              </a:ext>
            </a:extLst>
          </p:cNvPr>
          <p:cNvSpPr/>
          <p:nvPr/>
        </p:nvSpPr>
        <p:spPr>
          <a:xfrm>
            <a:off x="0" y="0"/>
            <a:ext cx="12273279" cy="13716000"/>
          </a:xfrm>
          <a:prstGeom prst="rect">
            <a:avLst/>
          </a:prstGeom>
          <a:solidFill>
            <a:schemeClr val="tx1">
              <a:alpha val="2697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 Placeholder 16">
            <a:extLst>
              <a:ext uri="{FF2B5EF4-FFF2-40B4-BE49-F238E27FC236}">
                <a16:creationId xmlns:a16="http://schemas.microsoft.com/office/drawing/2014/main" id="{E4A5975D-E5BE-F9E6-2208-272CFE12D9A7}"/>
              </a:ext>
            </a:extLst>
          </p:cNvPr>
          <p:cNvSpPr>
            <a:spLocks noGrp="1"/>
          </p:cNvSpPr>
          <p:nvPr>
            <p:ph type="body" sz="quarter" idx="17"/>
          </p:nvPr>
        </p:nvSpPr>
        <p:spPr>
          <a:xfrm>
            <a:off x="14097279" y="1813560"/>
            <a:ext cx="8465896" cy="10861040"/>
          </a:xfrm>
        </p:spPr>
        <p:txBody>
          <a:bodyPr/>
          <a:lstStyle/>
          <a:p>
            <a:pPr>
              <a:lnSpc>
                <a:spcPct val="100000"/>
              </a:lnSpc>
            </a:pPr>
            <a:r>
              <a:rPr lang="en-US" dirty="0"/>
              <a:t>A major medical system trusted our team with creating an intuitive, interactive dashboard to display data analytics in a way that guided prescription decisions, with the objective of reducing antibiotic overuse in care system providers.</a:t>
            </a:r>
          </a:p>
          <a:p>
            <a:pPr>
              <a:lnSpc>
                <a:spcPct val="100000"/>
              </a:lnSpc>
            </a:pPr>
            <a:endParaRPr lang="en-US" dirty="0"/>
          </a:p>
          <a:p>
            <a:pPr>
              <a:lnSpc>
                <a:spcPct val="100000"/>
              </a:lnSpc>
            </a:pPr>
            <a:r>
              <a:rPr lang="en-US" dirty="0"/>
              <a:t>Solution:</a:t>
            </a:r>
          </a:p>
          <a:p>
            <a:pPr>
              <a:lnSpc>
                <a:spcPct val="100000"/>
              </a:lnSpc>
            </a:pPr>
            <a:r>
              <a:rPr lang="en-US" dirty="0"/>
              <a:t>Through research and experience design we created </a:t>
            </a:r>
            <a:br>
              <a:rPr lang="en-US" dirty="0"/>
            </a:br>
            <a:r>
              <a:rPr lang="en-US" dirty="0"/>
              <a:t>a new digital platform that were guided by interviews with both caregivers and pharmacists. This digital product brought together information about individual patients and prescription patterns that had been available previously only through a complicated ecosystem of data platforms and screens with little adoption and impact to end patient.</a:t>
            </a:r>
          </a:p>
          <a:p>
            <a:pPr>
              <a:lnSpc>
                <a:spcPct val="100000"/>
              </a:lnSpc>
            </a:pPr>
            <a:endParaRPr lang="en-US" dirty="0"/>
          </a:p>
          <a:p>
            <a:pPr>
              <a:lnSpc>
                <a:spcPct val="100000"/>
              </a:lnSpc>
            </a:pPr>
            <a:r>
              <a:rPr lang="en-US" dirty="0"/>
              <a:t>Services we provide:</a:t>
            </a:r>
          </a:p>
          <a:p>
            <a:pPr lvl="0">
              <a:lnSpc>
                <a:spcPct val="100000"/>
              </a:lnSpc>
            </a:pPr>
            <a:r>
              <a:rPr lang="en-US" noProof="0" dirty="0"/>
              <a:t>Design Research</a:t>
            </a:r>
            <a:br>
              <a:rPr lang="en-US" noProof="0" dirty="0"/>
            </a:br>
            <a:r>
              <a:rPr lang="en-US" noProof="0" dirty="0"/>
              <a:t>Product Strategy</a:t>
            </a:r>
            <a:br>
              <a:rPr lang="en-US" noProof="0" dirty="0"/>
            </a:br>
            <a:r>
              <a:rPr lang="en-US" noProof="0" dirty="0"/>
              <a:t>UX Design</a:t>
            </a:r>
            <a:br>
              <a:rPr lang="en-US" noProof="0" dirty="0"/>
            </a:br>
            <a:r>
              <a:rPr lang="en-US" noProof="0" dirty="0"/>
              <a:t>User testing &amp; validation </a:t>
            </a:r>
            <a:br>
              <a:rPr lang="en-US" noProof="0" dirty="0"/>
            </a:br>
            <a:r>
              <a:rPr lang="en-US" noProof="0" dirty="0"/>
              <a:t>Experience Design</a:t>
            </a:r>
            <a:br>
              <a:rPr lang="en-US" dirty="0"/>
            </a:br>
            <a:r>
              <a:rPr lang="en-US" dirty="0"/>
              <a:t>Front-end development</a:t>
            </a:r>
            <a:endParaRPr lang="en-US" noProof="0" dirty="0"/>
          </a:p>
        </p:txBody>
      </p:sp>
      <p:sp>
        <p:nvSpPr>
          <p:cNvPr id="3" name="Text Placeholder 2">
            <a:extLst>
              <a:ext uri="{FF2B5EF4-FFF2-40B4-BE49-F238E27FC236}">
                <a16:creationId xmlns:a16="http://schemas.microsoft.com/office/drawing/2014/main" id="{2A3C718B-AACB-4960-A0B6-625E82ED7571}"/>
              </a:ext>
            </a:extLst>
          </p:cNvPr>
          <p:cNvSpPr>
            <a:spLocks noGrp="1"/>
          </p:cNvSpPr>
          <p:nvPr>
            <p:ph type="body" sz="quarter" idx="10"/>
          </p:nvPr>
        </p:nvSpPr>
        <p:spPr>
          <a:xfrm>
            <a:off x="2206444" y="307243"/>
            <a:ext cx="19974288" cy="601540"/>
          </a:xfrm>
        </p:spPr>
        <p:txBody>
          <a:bodyPr vert="horz" lIns="0" tIns="0" rIns="0" bIns="0" rtlCol="0" anchor="t">
            <a:noAutofit/>
          </a:bodyPr>
          <a:lstStyle/>
          <a:p>
            <a:r>
              <a:rPr lang="en-US"/>
              <a:t>MEDICAL DECISION SUPPORT FOR LEADING PROVIDER SYSTEM</a:t>
            </a:r>
          </a:p>
          <a:p>
            <a:endParaRPr lang="en-US"/>
          </a:p>
        </p:txBody>
      </p:sp>
      <p:sp>
        <p:nvSpPr>
          <p:cNvPr id="4" name="Text Placeholder 3">
            <a:extLst>
              <a:ext uri="{FF2B5EF4-FFF2-40B4-BE49-F238E27FC236}">
                <a16:creationId xmlns:a16="http://schemas.microsoft.com/office/drawing/2014/main" id="{ECB7A10B-FE42-E7B4-DC64-7EEE0E6BD6C3}"/>
              </a:ext>
            </a:extLst>
          </p:cNvPr>
          <p:cNvSpPr>
            <a:spLocks noGrp="1"/>
          </p:cNvSpPr>
          <p:nvPr>
            <p:ph type="body" sz="quarter" idx="11"/>
          </p:nvPr>
        </p:nvSpPr>
        <p:spPr>
          <a:xfrm>
            <a:off x="2352561" y="1813560"/>
            <a:ext cx="7693140" cy="4079240"/>
          </a:xfrm>
        </p:spPr>
        <p:txBody>
          <a:bodyPr anchor="t"/>
          <a:lstStyle/>
          <a:p>
            <a:r>
              <a:rPr lang="en-US"/>
              <a:t>An intuitive, interactive dashboard to display medical data analytics</a:t>
            </a:r>
          </a:p>
        </p:txBody>
      </p:sp>
      <p:sp>
        <p:nvSpPr>
          <p:cNvPr id="13" name="Text Placeholder 1">
            <a:extLst>
              <a:ext uri="{FF2B5EF4-FFF2-40B4-BE49-F238E27FC236}">
                <a16:creationId xmlns:a16="http://schemas.microsoft.com/office/drawing/2014/main" id="{C5F2E6E2-43B9-9F71-7A6F-0C149ED0686E}"/>
              </a:ext>
            </a:extLst>
          </p:cNvPr>
          <p:cNvSpPr txBox="1">
            <a:spLocks/>
          </p:cNvSpPr>
          <p:nvPr/>
        </p:nvSpPr>
        <p:spPr>
          <a:xfrm>
            <a:off x="1" y="334107"/>
            <a:ext cx="24387174" cy="5746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3200" kern="100" spc="320">
              <a:solidFill>
                <a:schemeClr val="bg1"/>
              </a:solidFill>
              <a:latin typeface="EYInterstate Regular" panose="02000503020000020004" pitchFamily="2" charset="0"/>
            </a:endParaRPr>
          </a:p>
        </p:txBody>
      </p:sp>
      <p:sp>
        <p:nvSpPr>
          <p:cNvPr id="11" name="Text 1">
            <a:extLst>
              <a:ext uri="{FF2B5EF4-FFF2-40B4-BE49-F238E27FC236}">
                <a16:creationId xmlns:a16="http://schemas.microsoft.com/office/drawing/2014/main" id="{BCFF2960-A5B4-0009-AE2C-2DD7BB0B1425}"/>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2" name="Graphic 1">
            <a:extLst>
              <a:ext uri="{FF2B5EF4-FFF2-40B4-BE49-F238E27FC236}">
                <a16:creationId xmlns:a16="http://schemas.microsoft.com/office/drawing/2014/main" id="{3D4C9732-7953-BC6B-B4FA-927133919D9E}"/>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1726009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6FD16DA-0C76-CE80-133B-F79DF231EE36}"/>
              </a:ext>
            </a:extLst>
          </p:cNvPr>
          <p:cNvSpPr/>
          <p:nvPr/>
        </p:nvSpPr>
        <p:spPr>
          <a:xfrm>
            <a:off x="0" y="0"/>
            <a:ext cx="12193587" cy="13716000"/>
          </a:xfrm>
          <a:prstGeom prst="rect">
            <a:avLst/>
          </a:prstGeom>
          <a:gradFill>
            <a:gsLst>
              <a:gs pos="100000">
                <a:srgbClr val="0F3855">
                  <a:lumMod val="75000"/>
                  <a:lumOff val="25000"/>
                </a:srgbClr>
              </a:gs>
              <a:gs pos="0">
                <a:srgbClr val="456479">
                  <a:lumMod val="75000"/>
                  <a:lumOff val="25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 Placeholder 18">
            <a:extLst>
              <a:ext uri="{FF2B5EF4-FFF2-40B4-BE49-F238E27FC236}">
                <a16:creationId xmlns:a16="http://schemas.microsoft.com/office/drawing/2014/main" id="{224CD46D-B62F-AA51-050B-B9F1AB5F3ECF}"/>
              </a:ext>
            </a:extLst>
          </p:cNvPr>
          <p:cNvSpPr>
            <a:spLocks noGrp="1"/>
          </p:cNvSpPr>
          <p:nvPr>
            <p:ph type="body" sz="quarter" idx="17"/>
          </p:nvPr>
        </p:nvSpPr>
        <p:spPr/>
        <p:txBody>
          <a:bodyPr/>
          <a:lstStyle/>
          <a:p>
            <a:r>
              <a:rPr lang="en-US" dirty="0"/>
              <a:t>EY worked with a consumer health engagement team to create an identity system in support of their new internal culture initiative. Using stakeholder interviews, we were able to map specific attributes to build a diverse visual system. This allowed us to draw a deeper connection to the emotional trust and enduring loyalty celebrates in their employees. The resulting efforts successfully activated a new confidence all around and helped to activate support from within. </a:t>
            </a:r>
          </a:p>
          <a:p>
            <a:endParaRPr lang="en-US" dirty="0"/>
          </a:p>
          <a:p>
            <a:r>
              <a:rPr lang="en-US" dirty="0">
                <a:latin typeface="EYInterstate Regular" panose="02000503020000020004" pitchFamily="2" charset="0"/>
              </a:rPr>
              <a:t>Solution</a:t>
            </a:r>
          </a:p>
          <a:p>
            <a:r>
              <a:rPr lang="en-US" dirty="0"/>
              <a:t>EY delivered logo system and communications programming and a content strategy playbook that gave guidance and parameters to extend the brand system beyond its initial deployment.</a:t>
            </a:r>
            <a:br>
              <a:rPr lang="en-US" dirty="0"/>
            </a:br>
            <a:endParaRPr lang="en-US" dirty="0"/>
          </a:p>
          <a:p>
            <a:endParaRPr lang="en-US" dirty="0"/>
          </a:p>
          <a:p>
            <a:endParaRPr lang="en-US" dirty="0"/>
          </a:p>
        </p:txBody>
      </p:sp>
      <p:sp>
        <p:nvSpPr>
          <p:cNvPr id="21" name="Text Placeholder 20">
            <a:extLst>
              <a:ext uri="{FF2B5EF4-FFF2-40B4-BE49-F238E27FC236}">
                <a16:creationId xmlns:a16="http://schemas.microsoft.com/office/drawing/2014/main" id="{DE8BE370-736F-FF2C-35AA-59F86C9D05D4}"/>
              </a:ext>
            </a:extLst>
          </p:cNvPr>
          <p:cNvSpPr>
            <a:spLocks noGrp="1"/>
          </p:cNvSpPr>
          <p:nvPr>
            <p:ph type="body" sz="quarter" idx="10"/>
          </p:nvPr>
        </p:nvSpPr>
        <p:spPr/>
        <p:txBody>
          <a:bodyPr/>
          <a:lstStyle/>
          <a:p>
            <a:r>
              <a:rPr lang="en-US"/>
              <a:t>CONSUMER HEALTH ENGAGEMENT</a:t>
            </a:r>
          </a:p>
          <a:p>
            <a:endParaRPr lang="en-US"/>
          </a:p>
        </p:txBody>
      </p:sp>
      <p:sp>
        <p:nvSpPr>
          <p:cNvPr id="22" name="Text Placeholder 21">
            <a:extLst>
              <a:ext uri="{FF2B5EF4-FFF2-40B4-BE49-F238E27FC236}">
                <a16:creationId xmlns:a16="http://schemas.microsoft.com/office/drawing/2014/main" id="{6810BB39-0538-B841-4067-E33FB08D8818}"/>
              </a:ext>
            </a:extLst>
          </p:cNvPr>
          <p:cNvSpPr>
            <a:spLocks noGrp="1"/>
          </p:cNvSpPr>
          <p:nvPr>
            <p:ph type="body" sz="quarter" idx="11"/>
          </p:nvPr>
        </p:nvSpPr>
        <p:spPr/>
        <p:txBody>
          <a:bodyPr/>
          <a:lstStyle/>
          <a:p>
            <a:r>
              <a:rPr lang="en-US"/>
              <a:t>Developing greater brand loyalty </a:t>
            </a:r>
          </a:p>
          <a:p>
            <a:endParaRPr lang="en-US"/>
          </a:p>
        </p:txBody>
      </p:sp>
      <p:pic>
        <p:nvPicPr>
          <p:cNvPr id="16" name="CHE-Style-Guide_R2.png" descr="CHE-Style-Guide_R2.png">
            <a:extLst>
              <a:ext uri="{FF2B5EF4-FFF2-40B4-BE49-F238E27FC236}">
                <a16:creationId xmlns:a16="http://schemas.microsoft.com/office/drawing/2014/main" id="{2C802583-6181-51FC-333B-C7FFA72BF74A}"/>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6000"/>
                    </a14:imgEffect>
                  </a14:imgLayer>
                </a14:imgProps>
              </a:ext>
              <a:ext uri="{28A0092B-C50C-407E-A947-70E740481C1C}">
                <a14:useLocalDpi xmlns:a14="http://schemas.microsoft.com/office/drawing/2010/main"/>
              </a:ext>
            </a:extLst>
          </a:blip>
          <a:stretch>
            <a:fillRect/>
          </a:stretch>
        </p:blipFill>
        <p:spPr>
          <a:xfrm>
            <a:off x="3235751" y="1671439"/>
            <a:ext cx="6247147" cy="4042272"/>
          </a:xfrm>
          <a:prstGeom prst="roundRect">
            <a:avLst>
              <a:gd name="adj" fmla="val 1822"/>
            </a:avLst>
          </a:prstGeom>
          <a:ln w="12700">
            <a:miter lim="400000"/>
          </a:ln>
          <a:effectLst>
            <a:outerShdw blurRad="190500" dist="25400" dir="5400000" rotWithShape="0">
              <a:srgbClr val="000000">
                <a:alpha val="25000"/>
              </a:srgbClr>
            </a:outerShdw>
          </a:effectLst>
        </p:spPr>
      </p:pic>
      <p:grpSp>
        <p:nvGrpSpPr>
          <p:cNvPr id="18" name="Group 17">
            <a:extLst>
              <a:ext uri="{FF2B5EF4-FFF2-40B4-BE49-F238E27FC236}">
                <a16:creationId xmlns:a16="http://schemas.microsoft.com/office/drawing/2014/main" id="{C6B3993F-2049-73F0-67BF-7FFD8E7AAF01}"/>
              </a:ext>
            </a:extLst>
          </p:cNvPr>
          <p:cNvGrpSpPr/>
          <p:nvPr/>
        </p:nvGrpSpPr>
        <p:grpSpPr>
          <a:xfrm>
            <a:off x="3255614" y="6314985"/>
            <a:ext cx="6247147" cy="5748148"/>
            <a:chOff x="4018550" y="5325231"/>
            <a:chExt cx="7480279" cy="6882782"/>
          </a:xfrm>
          <a:effectLst>
            <a:outerShdw blurRad="190500" dist="25400" dir="5400000" algn="br" rotWithShape="0">
              <a:prstClr val="black">
                <a:alpha val="25000"/>
              </a:prstClr>
            </a:outerShdw>
          </a:effectLst>
        </p:grpSpPr>
        <p:pic>
          <p:nvPicPr>
            <p:cNvPr id="12" name="20181107_CHE_Template_ForThurs_Poster2.png" descr="20181107_CHE_Template_ForThurs_Poster2.png">
              <a:extLst>
                <a:ext uri="{FF2B5EF4-FFF2-40B4-BE49-F238E27FC236}">
                  <a16:creationId xmlns:a16="http://schemas.microsoft.com/office/drawing/2014/main" id="{40338533-CD9D-06DF-8925-0F0A7E1A471A}"/>
                </a:ext>
              </a:extLst>
            </p:cNvPr>
            <p:cNvPicPr>
              <a:picLocks noChangeAspect="1"/>
            </p:cNvPicPr>
            <p:nvPr/>
          </p:nvPicPr>
          <p:blipFill>
            <a:blip r:embed="rId5" cstate="email">
              <a:extLst>
                <a:ext uri="{BEBA8EAE-BF5A-486C-A8C5-ECC9F3942E4B}">
                  <a14:imgProps xmlns:a14="http://schemas.microsoft.com/office/drawing/2010/main">
                    <a14:imgLayer r:embed="rId6">
                      <a14:imgEffect>
                        <a14:brightnessContrast bright="-16000"/>
                      </a14:imgEffect>
                    </a14:imgLayer>
                  </a14:imgProps>
                </a:ext>
                <a:ext uri="{28A0092B-C50C-407E-A947-70E740481C1C}">
                  <a14:useLocalDpi xmlns:a14="http://schemas.microsoft.com/office/drawing/2010/main"/>
                </a:ext>
              </a:extLst>
            </a:blip>
            <a:stretch>
              <a:fillRect/>
            </a:stretch>
          </p:blipFill>
          <p:spPr>
            <a:xfrm>
              <a:off x="4018550" y="5325231"/>
              <a:ext cx="7480279" cy="6882782"/>
            </a:xfrm>
            <a:prstGeom prst="roundRect">
              <a:avLst>
                <a:gd name="adj" fmla="val 1256"/>
              </a:avLst>
            </a:prstGeom>
            <a:ln w="12700">
              <a:miter lim="400000"/>
            </a:ln>
          </p:spPr>
        </p:pic>
        <p:sp>
          <p:nvSpPr>
            <p:cNvPr id="17" name="Rectangle 16">
              <a:extLst>
                <a:ext uri="{FF2B5EF4-FFF2-40B4-BE49-F238E27FC236}">
                  <a16:creationId xmlns:a16="http://schemas.microsoft.com/office/drawing/2014/main" id="{201DC45D-C8E9-33C2-5DA6-E5C5F95F9BF2}"/>
                </a:ext>
              </a:extLst>
            </p:cNvPr>
            <p:cNvSpPr/>
            <p:nvPr/>
          </p:nvSpPr>
          <p:spPr>
            <a:xfrm>
              <a:off x="8908610" y="9687208"/>
              <a:ext cx="534155" cy="470780"/>
            </a:xfrm>
            <a:prstGeom prst="roundRect">
              <a:avLst/>
            </a:prstGeom>
            <a:solidFill>
              <a:srgbClr val="91B1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Text 1">
            <a:extLst>
              <a:ext uri="{FF2B5EF4-FFF2-40B4-BE49-F238E27FC236}">
                <a16:creationId xmlns:a16="http://schemas.microsoft.com/office/drawing/2014/main" id="{A66B2060-6AB9-5AD8-BC8F-C7A0F0294DA1}"/>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cxnSp>
        <p:nvCxnSpPr>
          <p:cNvPr id="2" name="Straight Connector 1">
            <a:extLst>
              <a:ext uri="{FF2B5EF4-FFF2-40B4-BE49-F238E27FC236}">
                <a16:creationId xmlns:a16="http://schemas.microsoft.com/office/drawing/2014/main" id="{483E3FA0-6BE7-79CD-FB49-0DD63F813418}"/>
              </a:ext>
            </a:extLst>
          </p:cNvPr>
          <p:cNvCxnSpPr>
            <a:cxnSpLocks/>
          </p:cNvCxnSpPr>
          <p:nvPr/>
        </p:nvCxnSpPr>
        <p:spPr>
          <a:xfrm>
            <a:off x="13177025" y="4860758"/>
            <a:ext cx="99395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3F13CE3E-7B75-D4C1-6D09-F1F936561111}"/>
              </a:ext>
            </a:extLst>
          </p:cNvPr>
          <p:cNvPicPr/>
          <p:nvPr/>
        </p:nvPicPr>
        <p:blipFill>
          <a:blip r:embed="rId7">
            <a:extLst>
              <a:ext uri="{96DAC541-7B7A-43D3-8B79-37D633B846F1}">
                <asvg:svgBlip xmlns:asvg="http://schemas.microsoft.com/office/drawing/2016/SVG/main" r:embed="rId8"/>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3041804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person injecting a person's arm&#10;&#10;Description automatically generated">
            <a:extLst>
              <a:ext uri="{FF2B5EF4-FFF2-40B4-BE49-F238E27FC236}">
                <a16:creationId xmlns:a16="http://schemas.microsoft.com/office/drawing/2014/main" id="{2F414E01-82CE-674F-196B-1E22AF656D03}"/>
              </a:ext>
            </a:extLst>
          </p:cNvPr>
          <p:cNvPicPr>
            <a:picLocks noGrp="1" noChangeAspect="1"/>
          </p:cNvPicPr>
          <p:nvPr>
            <p:ph type="pic" sz="quarter" idx="12"/>
          </p:nvPr>
        </p:nvPicPr>
        <p:blipFill>
          <a:blip r:embed="rId3" cstate="email">
            <a:alphaModFix amt="70000"/>
            <a:extLst>
              <a:ext uri="{28A0092B-C50C-407E-A947-70E740481C1C}">
                <a14:useLocalDpi xmlns:a14="http://schemas.microsoft.com/office/drawing/2010/main"/>
              </a:ext>
            </a:extLst>
          </a:blip>
          <a:srcRect/>
          <a:stretch/>
        </p:blipFill>
        <p:spPr/>
      </p:pic>
      <p:sp>
        <p:nvSpPr>
          <p:cNvPr id="3" name="Text Placeholder 2">
            <a:extLst>
              <a:ext uri="{FF2B5EF4-FFF2-40B4-BE49-F238E27FC236}">
                <a16:creationId xmlns:a16="http://schemas.microsoft.com/office/drawing/2014/main" id="{40261649-0DED-4DCD-539B-D1439CEDCEC4}"/>
              </a:ext>
            </a:extLst>
          </p:cNvPr>
          <p:cNvSpPr>
            <a:spLocks noGrp="1"/>
          </p:cNvSpPr>
          <p:nvPr>
            <p:ph type="body" sz="quarter" idx="17"/>
          </p:nvPr>
        </p:nvSpPr>
        <p:spPr/>
        <p:txBody>
          <a:bodyPr/>
          <a:lstStyle/>
          <a:p>
            <a:pPr>
              <a:lnSpc>
                <a:spcPct val="100000"/>
              </a:lnSpc>
              <a:spcAft>
                <a:spcPts val="600"/>
              </a:spcAft>
            </a:pPr>
            <a:r>
              <a:rPr lang="en-GB"/>
              <a:t>Situation </a:t>
            </a:r>
            <a:endParaRPr lang="en-GB" dirty="0"/>
          </a:p>
          <a:p>
            <a:pPr marL="342900" indent="-342900">
              <a:lnSpc>
                <a:spcPct val="100000"/>
              </a:lnSpc>
              <a:spcBef>
                <a:spcPts val="0"/>
              </a:spcBef>
              <a:spcAft>
                <a:spcPts val="600"/>
              </a:spcAft>
              <a:buFont typeface="Arial" panose="020B0604020202020204" pitchFamily="34" charset="0"/>
              <a:buChar char="•"/>
            </a:pPr>
            <a:r>
              <a:rPr lang="en-GB"/>
              <a:t>Legacy patient testing services</a:t>
            </a:r>
            <a:endParaRPr lang="en-GB" dirty="0"/>
          </a:p>
          <a:p>
            <a:pPr marL="342900" indent="-342900">
              <a:lnSpc>
                <a:spcPct val="100000"/>
              </a:lnSpc>
              <a:spcBef>
                <a:spcPts val="0"/>
              </a:spcBef>
              <a:spcAft>
                <a:spcPts val="600"/>
              </a:spcAft>
              <a:buFont typeface="Arial" panose="020B0604020202020204" pitchFamily="34" charset="0"/>
              <a:buChar char="•"/>
            </a:pPr>
            <a:r>
              <a:rPr lang="en-GB"/>
              <a:t>Low customer and team member satisfaction</a:t>
            </a:r>
            <a:endParaRPr lang="en-GB" dirty="0"/>
          </a:p>
          <a:p>
            <a:pPr marL="342900" indent="-342900">
              <a:lnSpc>
                <a:spcPct val="100000"/>
              </a:lnSpc>
              <a:spcBef>
                <a:spcPts val="0"/>
              </a:spcBef>
              <a:spcAft>
                <a:spcPts val="600"/>
              </a:spcAft>
              <a:buFont typeface="Arial" panose="020B0604020202020204" pitchFamily="34" charset="0"/>
              <a:buChar char="•"/>
            </a:pPr>
            <a:r>
              <a:rPr lang="en-GB"/>
              <a:t>Redundancies and siloed processes</a:t>
            </a:r>
            <a:endParaRPr lang="en-GB" dirty="0"/>
          </a:p>
          <a:p>
            <a:pPr>
              <a:lnSpc>
                <a:spcPct val="100000"/>
              </a:lnSpc>
              <a:spcBef>
                <a:spcPts val="0"/>
              </a:spcBef>
              <a:spcAft>
                <a:spcPts val="600"/>
              </a:spcAft>
            </a:pPr>
            <a:endParaRPr lang="en-GB" dirty="0"/>
          </a:p>
          <a:p>
            <a:pPr>
              <a:lnSpc>
                <a:spcPct val="100000"/>
              </a:lnSpc>
              <a:spcAft>
                <a:spcPts val="600"/>
              </a:spcAft>
            </a:pPr>
            <a:r>
              <a:rPr lang="en-GB"/>
              <a:t>Solution </a:t>
            </a:r>
            <a:endParaRPr lang="en-GB" dirty="0"/>
          </a:p>
          <a:p>
            <a:pPr marL="342900" indent="-342900">
              <a:lnSpc>
                <a:spcPct val="100000"/>
              </a:lnSpc>
              <a:spcAft>
                <a:spcPts val="600"/>
              </a:spcAft>
              <a:buFont typeface="Arial" panose="020B0604020202020204" pitchFamily="34" charset="0"/>
              <a:buChar char="•"/>
            </a:pPr>
            <a:r>
              <a:rPr lang="en-GB"/>
              <a:t>Reimagine the consumer and employee experience </a:t>
            </a:r>
            <a:endParaRPr lang="en-GB" dirty="0"/>
          </a:p>
          <a:p>
            <a:pPr marL="342900" indent="-342900">
              <a:lnSpc>
                <a:spcPct val="100000"/>
              </a:lnSpc>
              <a:spcAft>
                <a:spcPts val="600"/>
              </a:spcAft>
              <a:buFont typeface="Arial" panose="020B0604020202020204" pitchFamily="34" charset="0"/>
              <a:buChar char="•"/>
            </a:pPr>
            <a:r>
              <a:rPr lang="en-GB"/>
              <a:t>Identify service opportunities across people, processes, technology, data</a:t>
            </a:r>
            <a:endParaRPr lang="en-GB" dirty="0"/>
          </a:p>
          <a:p>
            <a:pPr marL="342900" indent="-342900">
              <a:lnSpc>
                <a:spcPct val="100000"/>
              </a:lnSpc>
              <a:spcAft>
                <a:spcPts val="600"/>
              </a:spcAft>
              <a:buFont typeface="Arial" panose="020B0604020202020204" pitchFamily="34" charset="0"/>
              <a:buChar char="•"/>
            </a:pPr>
            <a:r>
              <a:rPr lang="en-GB"/>
              <a:t>Focus on outcomes across front and back stages</a:t>
            </a:r>
            <a:endParaRPr lang="en-GB" dirty="0"/>
          </a:p>
          <a:p>
            <a:pPr marL="342900" indent="-342900">
              <a:lnSpc>
                <a:spcPct val="100000"/>
              </a:lnSpc>
              <a:spcAft>
                <a:spcPts val="600"/>
              </a:spcAft>
              <a:buFont typeface="Arial" panose="020B0604020202020204" pitchFamily="34" charset="0"/>
              <a:buChar char="•"/>
            </a:pPr>
            <a:r>
              <a:rPr lang="en-GB"/>
              <a:t>BU alignment via Service Design workshops</a:t>
            </a:r>
            <a:endParaRPr lang="en-GB" dirty="0"/>
          </a:p>
          <a:p>
            <a:pPr>
              <a:lnSpc>
                <a:spcPct val="100000"/>
              </a:lnSpc>
              <a:spcAft>
                <a:spcPts val="600"/>
              </a:spcAft>
            </a:pPr>
            <a:endParaRPr lang="en-GB" dirty="0"/>
          </a:p>
          <a:p>
            <a:pPr>
              <a:lnSpc>
                <a:spcPct val="100000"/>
              </a:lnSpc>
              <a:spcAft>
                <a:spcPts val="600"/>
              </a:spcAft>
            </a:pPr>
            <a:r>
              <a:rPr lang="en-GB"/>
              <a:t>Results </a:t>
            </a:r>
            <a:endParaRPr lang="en-GB" dirty="0"/>
          </a:p>
          <a:p>
            <a:pPr marL="0" lvl="1" indent="0">
              <a:spcAft>
                <a:spcPts val="600"/>
              </a:spcAft>
              <a:buNone/>
            </a:pPr>
            <a:r>
              <a:rPr lang="en-GB">
                <a:solidFill>
                  <a:schemeClr val="bg1"/>
                </a:solidFill>
                <a:latin typeface="EYInterstate Light" panose="02000506000000020004" pitchFamily="2" charset="0"/>
              </a:rPr>
              <a:t>Service and product innovation </a:t>
            </a:r>
            <a:endParaRPr lang="en-GB" dirty="0">
              <a:solidFill>
                <a:schemeClr val="bg1"/>
              </a:solidFill>
              <a:latin typeface="EYInterstate Light" panose="02000506000000020004" pitchFamily="2" charset="0"/>
            </a:endParaRPr>
          </a:p>
          <a:p>
            <a:pPr marL="342900" indent="-342900">
              <a:lnSpc>
                <a:spcPct val="100000"/>
              </a:lnSpc>
              <a:spcAft>
                <a:spcPts val="600"/>
              </a:spcAft>
              <a:buFont typeface="Arial" panose="020B0604020202020204" pitchFamily="34" charset="0"/>
              <a:buChar char="•"/>
            </a:pPr>
            <a:r>
              <a:rPr lang="en-GB"/>
              <a:t>Reimagine a connected, collaborative way of working</a:t>
            </a:r>
            <a:endParaRPr lang="en-GB" dirty="0"/>
          </a:p>
          <a:p>
            <a:pPr marL="342900" indent="-342900">
              <a:lnSpc>
                <a:spcPct val="100000"/>
              </a:lnSpc>
              <a:spcAft>
                <a:spcPts val="600"/>
              </a:spcAft>
              <a:buFont typeface="Arial" panose="020B0604020202020204" pitchFamily="34" charset="0"/>
              <a:buChar char="•"/>
            </a:pPr>
            <a:r>
              <a:rPr lang="en-GB"/>
              <a:t>Faster time-to-market to enable growth</a:t>
            </a:r>
            <a:endParaRPr lang="en-GB" dirty="0"/>
          </a:p>
          <a:p>
            <a:pPr marL="342900" indent="-342900">
              <a:lnSpc>
                <a:spcPct val="100000"/>
              </a:lnSpc>
              <a:spcAft>
                <a:spcPts val="600"/>
              </a:spcAft>
              <a:buFont typeface="Arial" panose="020B0604020202020204" pitchFamily="34" charset="0"/>
              <a:buChar char="•"/>
            </a:pPr>
            <a:r>
              <a:rPr lang="en-GB"/>
              <a:t>Improved experiences for customers and employees</a:t>
            </a:r>
            <a:endParaRPr lang="en-GB" dirty="0"/>
          </a:p>
          <a:p>
            <a:pPr>
              <a:lnSpc>
                <a:spcPct val="100000"/>
              </a:lnSpc>
            </a:pPr>
            <a:endParaRPr lang="en-US" dirty="0"/>
          </a:p>
        </p:txBody>
      </p:sp>
      <p:sp>
        <p:nvSpPr>
          <p:cNvPr id="4" name="Text Placeholder 3">
            <a:extLst>
              <a:ext uri="{FF2B5EF4-FFF2-40B4-BE49-F238E27FC236}">
                <a16:creationId xmlns:a16="http://schemas.microsoft.com/office/drawing/2014/main" id="{C7FBB5DB-F8D6-6EDE-134C-112B6CB1A119}"/>
              </a:ext>
            </a:extLst>
          </p:cNvPr>
          <p:cNvSpPr>
            <a:spLocks noGrp="1"/>
          </p:cNvSpPr>
          <p:nvPr>
            <p:ph type="body" sz="quarter" idx="10"/>
          </p:nvPr>
        </p:nvSpPr>
        <p:spPr/>
        <p:txBody>
          <a:bodyPr/>
          <a:lstStyle/>
          <a:p>
            <a:r>
              <a:rPr lang="en-US"/>
              <a:t>pharmacy chain</a:t>
            </a:r>
          </a:p>
        </p:txBody>
      </p:sp>
      <p:sp>
        <p:nvSpPr>
          <p:cNvPr id="5" name="Text Placeholder 4">
            <a:extLst>
              <a:ext uri="{FF2B5EF4-FFF2-40B4-BE49-F238E27FC236}">
                <a16:creationId xmlns:a16="http://schemas.microsoft.com/office/drawing/2014/main" id="{434069E9-B18F-6AED-3FC1-5077F3EBBBCC}"/>
              </a:ext>
            </a:extLst>
          </p:cNvPr>
          <p:cNvSpPr>
            <a:spLocks noGrp="1"/>
          </p:cNvSpPr>
          <p:nvPr>
            <p:ph type="body" sz="quarter" idx="11"/>
          </p:nvPr>
        </p:nvSpPr>
        <p:spPr/>
        <p:txBody>
          <a:bodyPr/>
          <a:lstStyle/>
          <a:p>
            <a:r>
              <a:rPr lang="en-US"/>
              <a:t>Reimagining testing for a pharmacy store chain </a:t>
            </a:r>
          </a:p>
        </p:txBody>
      </p:sp>
      <p:sp>
        <p:nvSpPr>
          <p:cNvPr id="16" name="Text 1">
            <a:extLst>
              <a:ext uri="{FF2B5EF4-FFF2-40B4-BE49-F238E27FC236}">
                <a16:creationId xmlns:a16="http://schemas.microsoft.com/office/drawing/2014/main" id="{4933737D-26E3-6D00-4FC7-5CCCBC70FEC2}"/>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spTree>
    <p:extLst>
      <p:ext uri="{BB962C8B-B14F-4D97-AF65-F5344CB8AC3E}">
        <p14:creationId xmlns:p14="http://schemas.microsoft.com/office/powerpoint/2010/main" val="26196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erson holding a computer&#10;&#10;Description automatically generated">
            <a:extLst>
              <a:ext uri="{FF2B5EF4-FFF2-40B4-BE49-F238E27FC236}">
                <a16:creationId xmlns:a16="http://schemas.microsoft.com/office/drawing/2014/main" id="{D189F4C9-D2FE-D8CC-6E42-F260DB368B73}"/>
              </a:ext>
            </a:extLst>
          </p:cNvPr>
          <p:cNvPicPr>
            <a:picLocks noGrp="1" noChangeAspect="1"/>
          </p:cNvPicPr>
          <p:nvPr>
            <p:ph type="pic" sz="quarter" idx="12"/>
          </p:nvPr>
        </p:nvPicPr>
        <p:blipFill rotWithShape="1">
          <a:blip r:embed="rId3" cstate="email">
            <a:alphaModFix/>
            <a:extLst>
              <a:ext uri="{28A0092B-C50C-407E-A947-70E740481C1C}">
                <a14:useLocalDpi xmlns:a14="http://schemas.microsoft.com/office/drawing/2010/main"/>
              </a:ext>
            </a:extLst>
          </a:blip>
          <a:srcRect/>
          <a:stretch/>
        </p:blipFill>
        <p:spPr>
          <a:xfrm>
            <a:off x="0" y="0"/>
            <a:ext cx="12193588" cy="13716000"/>
          </a:xfrm>
        </p:spPr>
      </p:pic>
      <p:sp>
        <p:nvSpPr>
          <p:cNvPr id="3" name="Text Placeholder 2">
            <a:extLst>
              <a:ext uri="{FF2B5EF4-FFF2-40B4-BE49-F238E27FC236}">
                <a16:creationId xmlns:a16="http://schemas.microsoft.com/office/drawing/2014/main" id="{C38F18DF-CADE-9602-4C5E-A97667F58197}"/>
              </a:ext>
            </a:extLst>
          </p:cNvPr>
          <p:cNvSpPr>
            <a:spLocks noGrp="1"/>
          </p:cNvSpPr>
          <p:nvPr>
            <p:ph type="body" sz="quarter" idx="17"/>
          </p:nvPr>
        </p:nvSpPr>
        <p:spPr>
          <a:xfrm>
            <a:off x="13226902" y="5566612"/>
            <a:ext cx="9937898" cy="7107988"/>
          </a:xfrm>
        </p:spPr>
        <p:txBody>
          <a:bodyPr/>
          <a:lstStyle/>
          <a:p>
            <a:pPr>
              <a:lnSpc>
                <a:spcPct val="100000"/>
              </a:lnSpc>
            </a:pPr>
            <a:r>
              <a:rPr lang="en-US" sz="2000" b="1"/>
              <a:t>Situation</a:t>
            </a:r>
            <a:endParaRPr lang="en-US" sz="1800" b="1" dirty="0"/>
          </a:p>
          <a:p>
            <a:pPr marL="342900" indent="-342900">
              <a:lnSpc>
                <a:spcPct val="100000"/>
              </a:lnSpc>
              <a:buFont typeface="Arial" panose="020B0604020202020204" pitchFamily="34" charset="0"/>
              <a:buChar char="•"/>
            </a:pPr>
            <a:r>
              <a:rPr lang="en-US" sz="1800"/>
              <a:t>Legacy value proposition</a:t>
            </a:r>
            <a:endParaRPr lang="en-US" sz="1800" dirty="0"/>
          </a:p>
          <a:p>
            <a:pPr marL="342900" indent="-342900">
              <a:lnSpc>
                <a:spcPct val="100000"/>
              </a:lnSpc>
              <a:buFont typeface="Arial" panose="020B0604020202020204" pitchFamily="34" charset="0"/>
              <a:buChar char="•"/>
            </a:pPr>
            <a:r>
              <a:rPr lang="en-US" sz="1800"/>
              <a:t>Evolving customer needs</a:t>
            </a:r>
            <a:endParaRPr lang="en-US" sz="1800" dirty="0"/>
          </a:p>
          <a:p>
            <a:pPr marL="342900" indent="-342900">
              <a:lnSpc>
                <a:spcPct val="100000"/>
              </a:lnSpc>
              <a:buFont typeface="Arial" panose="020B0604020202020204" pitchFamily="34" charset="0"/>
              <a:buChar char="•"/>
            </a:pPr>
            <a:r>
              <a:rPr lang="en-US" sz="1800"/>
              <a:t>Move from a research publisher to a healthcare catalyst</a:t>
            </a:r>
            <a:endParaRPr lang="en-US" sz="1800" dirty="0"/>
          </a:p>
          <a:p>
            <a:pPr marL="342900" indent="-342900">
              <a:lnSpc>
                <a:spcPct val="100000"/>
              </a:lnSpc>
              <a:buFont typeface="Arial" panose="020B0604020202020204" pitchFamily="34" charset="0"/>
              <a:buChar char="•"/>
            </a:pPr>
            <a:endParaRPr lang="en-US" sz="1800" dirty="0"/>
          </a:p>
          <a:p>
            <a:pPr>
              <a:lnSpc>
                <a:spcPct val="100000"/>
              </a:lnSpc>
            </a:pPr>
            <a:r>
              <a:rPr lang="en-US" sz="2000" b="1"/>
              <a:t>Solution</a:t>
            </a:r>
            <a:r>
              <a:rPr lang="en-US" sz="1800"/>
              <a:t> </a:t>
            </a:r>
            <a:endParaRPr lang="en-US" sz="1800" dirty="0"/>
          </a:p>
          <a:p>
            <a:pPr marL="342900" indent="-342900">
              <a:lnSpc>
                <a:spcPct val="100000"/>
              </a:lnSpc>
              <a:buFont typeface="Arial" panose="020B0604020202020204" pitchFamily="34" charset="0"/>
              <a:buChar char="•"/>
            </a:pPr>
            <a:r>
              <a:rPr lang="en-US" sz="1800"/>
              <a:t>Reimagine how value is delivered</a:t>
            </a:r>
            <a:endParaRPr lang="en-US" sz="1800" dirty="0"/>
          </a:p>
          <a:p>
            <a:pPr marL="342900" indent="-342900">
              <a:lnSpc>
                <a:spcPct val="100000"/>
              </a:lnSpc>
              <a:buFont typeface="Arial" panose="020B0604020202020204" pitchFamily="34" charset="0"/>
              <a:buChar char="•"/>
            </a:pPr>
            <a:r>
              <a:rPr lang="en-US" sz="1800"/>
              <a:t>Understand member needs</a:t>
            </a:r>
            <a:endParaRPr lang="en-US" sz="1800" dirty="0"/>
          </a:p>
          <a:p>
            <a:pPr marL="342900" indent="-342900">
              <a:lnSpc>
                <a:spcPct val="100000"/>
              </a:lnSpc>
              <a:buFont typeface="Arial" panose="020B0604020202020204" pitchFamily="34" charset="0"/>
              <a:buChar char="•"/>
            </a:pPr>
            <a:r>
              <a:rPr lang="en-US" sz="1800"/>
              <a:t>Clarify the value proposition</a:t>
            </a:r>
            <a:endParaRPr lang="en-US" sz="1800" dirty="0"/>
          </a:p>
          <a:p>
            <a:pPr marL="342900" indent="-342900">
              <a:lnSpc>
                <a:spcPct val="100000"/>
              </a:lnSpc>
              <a:buFont typeface="Arial" panose="020B0604020202020204" pitchFamily="34" charset="0"/>
              <a:buChar char="•"/>
            </a:pPr>
            <a:r>
              <a:rPr lang="en-US" sz="1800"/>
              <a:t>Rapid prototyping via Figma</a:t>
            </a:r>
            <a:endParaRPr lang="en-US" sz="1800" dirty="0"/>
          </a:p>
          <a:p>
            <a:pPr marL="342900" indent="-342900">
              <a:lnSpc>
                <a:spcPct val="100000"/>
              </a:lnSpc>
              <a:buFont typeface="Arial" panose="020B0604020202020204" pitchFamily="34" charset="0"/>
              <a:buChar char="•"/>
            </a:pPr>
            <a:r>
              <a:rPr lang="en-US" sz="1800"/>
              <a:t>Alignment workshops via MURAL</a:t>
            </a:r>
            <a:endParaRPr lang="en-US" sz="1800" dirty="0"/>
          </a:p>
          <a:p>
            <a:pPr marL="342900" indent="-342900">
              <a:lnSpc>
                <a:spcPct val="100000"/>
              </a:lnSpc>
              <a:buFont typeface="Arial" panose="020B0604020202020204" pitchFamily="34" charset="0"/>
              <a:buChar char="•"/>
            </a:pPr>
            <a:endParaRPr lang="en-US" sz="1800" dirty="0"/>
          </a:p>
          <a:p>
            <a:pPr>
              <a:lnSpc>
                <a:spcPct val="100000"/>
              </a:lnSpc>
            </a:pPr>
            <a:r>
              <a:rPr lang="en-US" sz="2000" b="1"/>
              <a:t>Results</a:t>
            </a:r>
            <a:r>
              <a:rPr lang="en-US" sz="1800"/>
              <a:t> </a:t>
            </a:r>
            <a:endParaRPr lang="en-US" sz="1800" dirty="0"/>
          </a:p>
          <a:p>
            <a:pPr>
              <a:lnSpc>
                <a:spcPct val="100000"/>
              </a:lnSpc>
            </a:pPr>
            <a:r>
              <a:rPr lang="en-US" sz="1800"/>
              <a:t>Differentiated platform and services enabling profitable growth</a:t>
            </a:r>
            <a:endParaRPr lang="en-US" sz="1800" dirty="0"/>
          </a:p>
          <a:p>
            <a:pPr marL="342900" indent="-342900">
              <a:lnSpc>
                <a:spcPct val="100000"/>
              </a:lnSpc>
              <a:buFont typeface="Arial" panose="020B0604020202020204" pitchFamily="34" charset="0"/>
              <a:buChar char="•"/>
            </a:pPr>
            <a:r>
              <a:rPr lang="en-US" sz="1800"/>
              <a:t>30 Innovative new services on AEM</a:t>
            </a:r>
            <a:endParaRPr lang="en-US" sz="1800" dirty="0"/>
          </a:p>
          <a:p>
            <a:pPr marL="342900" indent="-342900">
              <a:lnSpc>
                <a:spcPct val="100000"/>
              </a:lnSpc>
              <a:buFont typeface="Arial" panose="020B0604020202020204" pitchFamily="34" charset="0"/>
              <a:buChar char="•"/>
            </a:pPr>
            <a:r>
              <a:rPr lang="en-US" sz="1800"/>
              <a:t>Automated, scalable solutions</a:t>
            </a:r>
            <a:endParaRPr lang="en-US" sz="1800" dirty="0"/>
          </a:p>
          <a:p>
            <a:pPr marL="342900" indent="-342900">
              <a:lnSpc>
                <a:spcPct val="100000"/>
              </a:lnSpc>
              <a:buFont typeface="Arial" panose="020B0604020202020204" pitchFamily="34" charset="0"/>
              <a:buChar char="•"/>
            </a:pPr>
            <a:r>
              <a:rPr lang="en-US" sz="1800"/>
              <a:t>Open new revenue channels and customer segments</a:t>
            </a:r>
            <a:endParaRPr lang="en-US" sz="1800" dirty="0"/>
          </a:p>
          <a:p>
            <a:pPr marL="342900" indent="-342900">
              <a:lnSpc>
                <a:spcPct val="100000"/>
              </a:lnSpc>
              <a:buFont typeface="Arial" panose="020B0604020202020204" pitchFamily="34" charset="0"/>
              <a:buChar char="•"/>
            </a:pPr>
            <a:r>
              <a:rPr lang="en-US" sz="1800"/>
              <a:t>Improve engagement and retention</a:t>
            </a:r>
            <a:endParaRPr lang="en-US" sz="1800" dirty="0"/>
          </a:p>
        </p:txBody>
      </p:sp>
      <p:sp>
        <p:nvSpPr>
          <p:cNvPr id="4" name="Text Placeholder 3">
            <a:extLst>
              <a:ext uri="{FF2B5EF4-FFF2-40B4-BE49-F238E27FC236}">
                <a16:creationId xmlns:a16="http://schemas.microsoft.com/office/drawing/2014/main" id="{7EBCE459-42DE-4622-6457-B942D061FD0E}"/>
              </a:ext>
            </a:extLst>
          </p:cNvPr>
          <p:cNvSpPr>
            <a:spLocks noGrp="1"/>
          </p:cNvSpPr>
          <p:nvPr>
            <p:ph type="body" sz="quarter" idx="10"/>
          </p:nvPr>
        </p:nvSpPr>
        <p:spPr/>
        <p:txBody>
          <a:bodyPr/>
          <a:lstStyle/>
          <a:p>
            <a:r>
              <a:rPr lang="en-US"/>
              <a:t>Healthcare advisory group</a:t>
            </a:r>
          </a:p>
        </p:txBody>
      </p:sp>
      <p:sp>
        <p:nvSpPr>
          <p:cNvPr id="5" name="Text Placeholder 4">
            <a:extLst>
              <a:ext uri="{FF2B5EF4-FFF2-40B4-BE49-F238E27FC236}">
                <a16:creationId xmlns:a16="http://schemas.microsoft.com/office/drawing/2014/main" id="{BF49C162-B195-5112-B82C-C0F52BF53AE2}"/>
              </a:ext>
            </a:extLst>
          </p:cNvPr>
          <p:cNvSpPr>
            <a:spLocks noGrp="1"/>
          </p:cNvSpPr>
          <p:nvPr>
            <p:ph type="body" sz="quarter" idx="11"/>
          </p:nvPr>
        </p:nvSpPr>
        <p:spPr/>
        <p:txBody>
          <a:bodyPr/>
          <a:lstStyle/>
          <a:p>
            <a:r>
              <a:rPr lang="en-US" sz="7200"/>
              <a:t>Moving from a </a:t>
            </a:r>
            <a:r>
              <a:rPr lang="en-US" sz="7200" i="1"/>
              <a:t>publisher </a:t>
            </a:r>
            <a:r>
              <a:rPr lang="en-US" sz="7200"/>
              <a:t>of healthcare research to a healthcare</a:t>
            </a:r>
            <a:r>
              <a:rPr lang="en-US" sz="7200" i="1"/>
              <a:t> catalyst</a:t>
            </a:r>
            <a:endParaRPr lang="en-US" sz="7200"/>
          </a:p>
        </p:txBody>
      </p:sp>
      <p:sp>
        <p:nvSpPr>
          <p:cNvPr id="14" name="Text 1">
            <a:extLst>
              <a:ext uri="{FF2B5EF4-FFF2-40B4-BE49-F238E27FC236}">
                <a16:creationId xmlns:a16="http://schemas.microsoft.com/office/drawing/2014/main" id="{7B0232A7-1EA6-965F-520B-C414B33304A3}"/>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cxnSp>
        <p:nvCxnSpPr>
          <p:cNvPr id="15" name="Straight Connector 14">
            <a:extLst>
              <a:ext uri="{FF2B5EF4-FFF2-40B4-BE49-F238E27FC236}">
                <a16:creationId xmlns:a16="http://schemas.microsoft.com/office/drawing/2014/main" id="{41B3044E-4976-7C68-3CB9-5B501C4C2826}"/>
              </a:ext>
            </a:extLst>
          </p:cNvPr>
          <p:cNvCxnSpPr>
            <a:cxnSpLocks/>
          </p:cNvCxnSpPr>
          <p:nvPr/>
        </p:nvCxnSpPr>
        <p:spPr>
          <a:xfrm>
            <a:off x="13177025" y="5089358"/>
            <a:ext cx="99395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Graphic 1">
            <a:extLst>
              <a:ext uri="{FF2B5EF4-FFF2-40B4-BE49-F238E27FC236}">
                <a16:creationId xmlns:a16="http://schemas.microsoft.com/office/drawing/2014/main" id="{50005507-C5BF-36EE-DDD9-DFE295E04506}"/>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4188015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Image 0" descr="preencoded.png">
            <a:extLst>
              <a:ext uri="{FF2B5EF4-FFF2-40B4-BE49-F238E27FC236}">
                <a16:creationId xmlns:a16="http://schemas.microsoft.com/office/drawing/2014/main" id="{EF3845E7-1DFE-9A6B-99B6-2163523CE116}"/>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0" y="0"/>
            <a:ext cx="12193587" cy="13716000"/>
          </a:xfrm>
          <a:prstGeom prst="rect">
            <a:avLst/>
          </a:prstGeom>
        </p:spPr>
      </p:pic>
      <p:sp>
        <p:nvSpPr>
          <p:cNvPr id="3" name="Text Placeholder 2">
            <a:extLst>
              <a:ext uri="{FF2B5EF4-FFF2-40B4-BE49-F238E27FC236}">
                <a16:creationId xmlns:a16="http://schemas.microsoft.com/office/drawing/2014/main" id="{96D09076-99B1-FDB8-2F1A-7FDA2EFBF405}"/>
              </a:ext>
            </a:extLst>
          </p:cNvPr>
          <p:cNvSpPr>
            <a:spLocks noGrp="1"/>
          </p:cNvSpPr>
          <p:nvPr>
            <p:ph type="body" sz="quarter" idx="17"/>
          </p:nvPr>
        </p:nvSpPr>
        <p:spPr>
          <a:xfrm>
            <a:off x="14346899" y="3529913"/>
            <a:ext cx="8890787" cy="8647220"/>
          </a:xfrm>
        </p:spPr>
        <p:txBody>
          <a:bodyPr/>
          <a:lstStyle/>
          <a:p>
            <a:pPr algn="l">
              <a:lnSpc>
                <a:spcPct val="100000"/>
              </a:lnSpc>
            </a:pPr>
            <a:r>
              <a:rPr lang="en-US" sz="2400" dirty="0">
                <a:solidFill>
                  <a:srgbClr val="FFFFFF">
                    <a:alpha val="100000"/>
                  </a:srgbClr>
                </a:solidFill>
                <a:latin typeface="EYInterstate Regular" pitchFamily="34" charset="0"/>
                <a:ea typeface="EYInterstate Regular" pitchFamily="34" charset="-122"/>
                <a:cs typeface="EYInterstate Regular" pitchFamily="34" charset="-120"/>
              </a:rPr>
              <a:t>Situation</a:t>
            </a:r>
            <a:endParaRPr lang="en-US" dirty="0">
              <a:latin typeface="+mn-lt"/>
            </a:endParaRPr>
          </a:p>
          <a:p>
            <a:pPr marL="342900" indent="-342900" algn="l">
              <a:lnSpc>
                <a:spcPct val="100000"/>
              </a:lnSpc>
              <a:buFont typeface="Arial" panose="020B0604020202020204" pitchFamily="34" charset="0"/>
              <a:buChar char="•"/>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Legacy value proposition</a:t>
            </a:r>
            <a:endParaRPr lang="en-US" dirty="0">
              <a:latin typeface="+mn-lt"/>
            </a:endParaRPr>
          </a:p>
          <a:p>
            <a:pPr marL="342900" indent="-342900" algn="l">
              <a:lnSpc>
                <a:spcPct val="100000"/>
              </a:lnSpc>
              <a:buFont typeface="Arial" panose="020B0604020202020204" pitchFamily="34" charset="0"/>
              <a:buChar char="•"/>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Evolving customer needs</a:t>
            </a:r>
            <a:endParaRPr lang="en-US" dirty="0">
              <a:latin typeface="+mn-lt"/>
            </a:endParaRPr>
          </a:p>
          <a:p>
            <a:pPr marL="342900" indent="-342900" algn="l">
              <a:lnSpc>
                <a:spcPct val="100000"/>
              </a:lnSpc>
              <a:buFont typeface="Arial" panose="020B0604020202020204" pitchFamily="34" charset="0"/>
              <a:buChar char="•"/>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Move from a research publisher to a healthcare catalyst</a:t>
            </a:r>
            <a:endParaRPr lang="en-US" sz="2400" dirty="0"/>
          </a:p>
          <a:p>
            <a:pPr algn="l">
              <a:lnSpc>
                <a:spcPct val="100000"/>
              </a:lnSpc>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 </a:t>
            </a:r>
            <a:endParaRPr lang="en-US" sz="2400" dirty="0"/>
          </a:p>
          <a:p>
            <a:pPr algn="l">
              <a:lnSpc>
                <a:spcPct val="100000"/>
              </a:lnSpc>
            </a:pPr>
            <a:r>
              <a:rPr lang="en-US" sz="2400" dirty="0">
                <a:solidFill>
                  <a:srgbClr val="FFFFFF">
                    <a:alpha val="100000"/>
                  </a:srgbClr>
                </a:solidFill>
                <a:latin typeface="EYInterstate Regular" pitchFamily="34" charset="0"/>
                <a:ea typeface="EYInterstate Regular" pitchFamily="34" charset="-122"/>
                <a:cs typeface="EYInterstate Regular" pitchFamily="34" charset="-120"/>
              </a:rPr>
              <a:t>Solution</a:t>
            </a:r>
            <a:r>
              <a:rPr lang="en-US" sz="2400" dirty="0">
                <a:solidFill>
                  <a:srgbClr val="FFFFFF">
                    <a:alpha val="100000"/>
                  </a:srgbClr>
                </a:solidFill>
                <a:latin typeface="EYInterstate Light" pitchFamily="34" charset="0"/>
                <a:ea typeface="EYInterstate Light" pitchFamily="34" charset="-122"/>
                <a:cs typeface="EYInterstate Light" pitchFamily="34" charset="-120"/>
              </a:rPr>
              <a:t> </a:t>
            </a:r>
            <a:endParaRPr lang="en-US" dirty="0">
              <a:latin typeface="+mn-lt"/>
            </a:endParaRPr>
          </a:p>
          <a:p>
            <a:pPr marL="342900" indent="-342900" algn="l">
              <a:lnSpc>
                <a:spcPct val="100000"/>
              </a:lnSpc>
              <a:buFont typeface="Arial" panose="020B0604020202020204" pitchFamily="34" charset="0"/>
              <a:buChar char="•"/>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Reimagine how value is delivered</a:t>
            </a:r>
            <a:endParaRPr lang="en-US" dirty="0">
              <a:latin typeface="+mn-lt"/>
            </a:endParaRPr>
          </a:p>
          <a:p>
            <a:pPr marL="342900" indent="-342900" algn="l">
              <a:lnSpc>
                <a:spcPct val="100000"/>
              </a:lnSpc>
              <a:buFont typeface="Arial" panose="020B0604020202020204" pitchFamily="34" charset="0"/>
              <a:buChar char="•"/>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Understand member needs</a:t>
            </a:r>
            <a:endParaRPr lang="en-US" dirty="0">
              <a:latin typeface="+mn-lt"/>
            </a:endParaRPr>
          </a:p>
          <a:p>
            <a:pPr marL="342900" indent="-342900" algn="l">
              <a:lnSpc>
                <a:spcPct val="100000"/>
              </a:lnSpc>
              <a:buFont typeface="Arial" panose="020B0604020202020204" pitchFamily="34" charset="0"/>
              <a:buChar char="•"/>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Clarify the value proposition</a:t>
            </a:r>
            <a:endParaRPr lang="en-US" dirty="0">
              <a:latin typeface="+mn-lt"/>
            </a:endParaRPr>
          </a:p>
          <a:p>
            <a:pPr marL="342900" indent="-342900" algn="l">
              <a:lnSpc>
                <a:spcPct val="100000"/>
              </a:lnSpc>
              <a:buFont typeface="Arial" panose="020B0604020202020204" pitchFamily="34" charset="0"/>
              <a:buChar char="•"/>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Rapid prototyping via Figma</a:t>
            </a:r>
            <a:endParaRPr lang="en-US" dirty="0">
              <a:latin typeface="+mn-lt"/>
            </a:endParaRPr>
          </a:p>
          <a:p>
            <a:pPr marL="342900" indent="-342900" algn="l">
              <a:lnSpc>
                <a:spcPct val="100000"/>
              </a:lnSpc>
              <a:buFont typeface="Arial" panose="020B0604020202020204" pitchFamily="34" charset="0"/>
              <a:buChar char="•"/>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Alignment workshops via MURAL</a:t>
            </a:r>
            <a:endParaRPr lang="en-US" sz="2400" dirty="0"/>
          </a:p>
          <a:p>
            <a:pPr algn="l">
              <a:lnSpc>
                <a:spcPct val="100000"/>
              </a:lnSpc>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 </a:t>
            </a:r>
            <a:endParaRPr lang="en-US" sz="2400" dirty="0"/>
          </a:p>
          <a:p>
            <a:pPr algn="l">
              <a:lnSpc>
                <a:spcPct val="100000"/>
              </a:lnSpc>
            </a:pPr>
            <a:r>
              <a:rPr lang="en-US" sz="2400" dirty="0">
                <a:solidFill>
                  <a:srgbClr val="FFFFFF">
                    <a:alpha val="100000"/>
                  </a:srgbClr>
                </a:solidFill>
                <a:latin typeface="EYInterstate Regular" pitchFamily="34" charset="0"/>
                <a:ea typeface="EYInterstate Regular" pitchFamily="34" charset="-122"/>
                <a:cs typeface="EYInterstate Regular" pitchFamily="34" charset="-120"/>
              </a:rPr>
              <a:t>Results</a:t>
            </a:r>
            <a:r>
              <a:rPr lang="en-US" sz="2400" dirty="0">
                <a:solidFill>
                  <a:srgbClr val="FFFFFF">
                    <a:alpha val="100000"/>
                  </a:srgbClr>
                </a:solidFill>
                <a:latin typeface="EYInterstate Light" pitchFamily="34" charset="0"/>
                <a:ea typeface="EYInterstate Light" pitchFamily="34" charset="-122"/>
                <a:cs typeface="EYInterstate Light" pitchFamily="34" charset="-120"/>
              </a:rPr>
              <a:t> </a:t>
            </a:r>
            <a:endParaRPr lang="en-US" sz="2400" dirty="0"/>
          </a:p>
          <a:p>
            <a:pPr marL="342900" indent="-342900" algn="l">
              <a:lnSpc>
                <a:spcPct val="100000"/>
              </a:lnSpc>
              <a:buFont typeface="Arial" panose="020B0604020202020204" pitchFamily="34" charset="0"/>
              <a:buChar char="•"/>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Differentiated platform and services enabling profitable growth</a:t>
            </a:r>
            <a:endParaRPr lang="en-US" dirty="0">
              <a:latin typeface="+mn-lt"/>
            </a:endParaRPr>
          </a:p>
          <a:p>
            <a:pPr marL="342900" indent="-342900" algn="l">
              <a:lnSpc>
                <a:spcPct val="100000"/>
              </a:lnSpc>
              <a:buFont typeface="Arial" panose="020B0604020202020204" pitchFamily="34" charset="0"/>
              <a:buChar char="•"/>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30 Innovative new services</a:t>
            </a:r>
            <a:endParaRPr lang="en-US" dirty="0">
              <a:latin typeface="+mn-lt"/>
            </a:endParaRPr>
          </a:p>
          <a:p>
            <a:pPr marL="342900" indent="-342900" algn="l">
              <a:lnSpc>
                <a:spcPct val="100000"/>
              </a:lnSpc>
              <a:buFont typeface="Arial" panose="020B0604020202020204" pitchFamily="34" charset="0"/>
              <a:buChar char="•"/>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Automated, scalable solutions</a:t>
            </a:r>
            <a:endParaRPr lang="en-US" dirty="0">
              <a:latin typeface="+mn-lt"/>
            </a:endParaRPr>
          </a:p>
          <a:p>
            <a:pPr marL="342900" indent="-342900" algn="l">
              <a:lnSpc>
                <a:spcPct val="100000"/>
              </a:lnSpc>
              <a:buFont typeface="Arial" panose="020B0604020202020204" pitchFamily="34" charset="0"/>
              <a:buChar char="•"/>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Open new revenue channels and customer segments</a:t>
            </a:r>
            <a:endParaRPr lang="en-US" dirty="0">
              <a:latin typeface="+mn-lt"/>
            </a:endParaRPr>
          </a:p>
          <a:p>
            <a:pPr marL="342900" indent="-342900" algn="l">
              <a:lnSpc>
                <a:spcPct val="100000"/>
              </a:lnSpc>
              <a:buFont typeface="Arial" panose="020B0604020202020204" pitchFamily="34" charset="0"/>
              <a:buChar char="•"/>
            </a:pPr>
            <a:r>
              <a:rPr lang="en-US" sz="2400" dirty="0">
                <a:solidFill>
                  <a:srgbClr val="FFFFFF">
                    <a:alpha val="100000"/>
                  </a:srgbClr>
                </a:solidFill>
                <a:latin typeface="EYInterstate Light" pitchFamily="34" charset="0"/>
                <a:ea typeface="EYInterstate Light" pitchFamily="34" charset="-122"/>
                <a:cs typeface="EYInterstate Light" pitchFamily="34" charset="-120"/>
              </a:rPr>
              <a:t>Improve engagement and retention</a:t>
            </a:r>
            <a:endParaRPr lang="en-US" sz="2400" dirty="0"/>
          </a:p>
          <a:p>
            <a:pPr>
              <a:lnSpc>
                <a:spcPct val="100000"/>
              </a:lnSpc>
            </a:pPr>
            <a:endParaRPr lang="en-US" dirty="0"/>
          </a:p>
        </p:txBody>
      </p:sp>
      <p:sp>
        <p:nvSpPr>
          <p:cNvPr id="4" name="Text Placeholder 3">
            <a:extLst>
              <a:ext uri="{FF2B5EF4-FFF2-40B4-BE49-F238E27FC236}">
                <a16:creationId xmlns:a16="http://schemas.microsoft.com/office/drawing/2014/main" id="{EAB8B126-C37B-8A65-8931-F90180BD390D}"/>
              </a:ext>
            </a:extLst>
          </p:cNvPr>
          <p:cNvSpPr>
            <a:spLocks noGrp="1"/>
          </p:cNvSpPr>
          <p:nvPr>
            <p:ph type="body" sz="quarter" idx="18"/>
          </p:nvPr>
        </p:nvSpPr>
        <p:spPr/>
        <p:txBody>
          <a:bodyPr/>
          <a:lstStyle/>
          <a:p>
            <a:r>
              <a:rPr lang="en-US" sz="5400">
                <a:solidFill>
                  <a:srgbClr val="FFFFFF">
                    <a:alpha val="100000"/>
                  </a:srgbClr>
                </a:solidFill>
                <a:latin typeface="Source Serif 4 14pt Light" pitchFamily="34" charset="0"/>
                <a:ea typeface="Source Serif 4 14pt Light" pitchFamily="34" charset="-122"/>
                <a:cs typeface="Source Serif 4 14pt Light" pitchFamily="34" charset="-120"/>
              </a:rPr>
              <a:t>It is about defining a </a:t>
            </a:r>
            <a:r>
              <a:rPr lang="en-US" sz="5400">
                <a:solidFill>
                  <a:srgbClr val="FFFFFF">
                    <a:alpha val="100000"/>
                  </a:srgbClr>
                </a:solidFill>
                <a:latin typeface="Source Serif 4 Light Italic" pitchFamily="34" charset="0"/>
                <a:ea typeface="Source Serif 4 Light Italic" pitchFamily="34" charset="-122"/>
                <a:cs typeface="Source Serif 4 Light Italic" pitchFamily="34" charset="-120"/>
              </a:rPr>
              <a:t>value proposition </a:t>
            </a:r>
            <a:endParaRPr lang="en-US" sz="5400"/>
          </a:p>
          <a:p>
            <a:endParaRPr lang="en-US"/>
          </a:p>
        </p:txBody>
      </p:sp>
      <p:sp>
        <p:nvSpPr>
          <p:cNvPr id="6" name="Shape 5">
            <a:extLst>
              <a:ext uri="{FF2B5EF4-FFF2-40B4-BE49-F238E27FC236}">
                <a16:creationId xmlns:a16="http://schemas.microsoft.com/office/drawing/2014/main" id="{EBD09929-5CE6-243B-7B58-A0D30E4664DC}"/>
              </a:ext>
            </a:extLst>
          </p:cNvPr>
          <p:cNvSpPr/>
          <p:nvPr/>
        </p:nvSpPr>
        <p:spPr>
          <a:xfrm>
            <a:off x="1345885" y="1854200"/>
            <a:ext cx="7620953" cy="9791700"/>
          </a:xfrm>
          <a:prstGeom prst="rect">
            <a:avLst/>
          </a:prstGeom>
          <a:noFill/>
          <a:ln/>
        </p:spPr>
        <p:txBody>
          <a:bodyPr/>
          <a:lstStyle/>
          <a:p>
            <a:endParaRPr lang="es-AR"/>
          </a:p>
        </p:txBody>
      </p:sp>
      <p:pic>
        <p:nvPicPr>
          <p:cNvPr id="7" name="Image 4" descr="preencoded.png">
            <a:extLst>
              <a:ext uri="{FF2B5EF4-FFF2-40B4-BE49-F238E27FC236}">
                <a16:creationId xmlns:a16="http://schemas.microsoft.com/office/drawing/2014/main" id="{0EFAA5C4-EAC9-065C-A7AC-7276CC1BA7D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351420" y="1859744"/>
            <a:ext cx="7609882" cy="9780619"/>
          </a:xfrm>
          <a:prstGeom prst="rect">
            <a:avLst/>
          </a:prstGeom>
        </p:spPr>
      </p:pic>
      <p:pic>
        <p:nvPicPr>
          <p:cNvPr id="8" name="Image 5" descr="preencoded.png">
            <a:extLst>
              <a:ext uri="{FF2B5EF4-FFF2-40B4-BE49-F238E27FC236}">
                <a16:creationId xmlns:a16="http://schemas.microsoft.com/office/drawing/2014/main" id="{5E0DD9BD-7D74-A1AB-A6F9-F95CBA9ADDB0}"/>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4860643" y="2002799"/>
            <a:ext cx="109495" cy="109432"/>
          </a:xfrm>
          <a:prstGeom prst="rect">
            <a:avLst/>
          </a:prstGeom>
        </p:spPr>
      </p:pic>
      <p:pic>
        <p:nvPicPr>
          <p:cNvPr id="9" name="Image 6" descr="preencoded.png">
            <a:extLst>
              <a:ext uri="{FF2B5EF4-FFF2-40B4-BE49-F238E27FC236}">
                <a16:creationId xmlns:a16="http://schemas.microsoft.com/office/drawing/2014/main" id="{6741F802-2C29-7C3A-733E-1CCB67E483DD}"/>
              </a:ext>
            </a:extLst>
          </p:cNvPr>
          <p:cNvPicPr>
            <a:picLocks noChangeAspect="1"/>
          </p:cNvPicPr>
          <p:nvPr/>
        </p:nvPicPr>
        <p:blipFill>
          <a:blip r:embed="rId6">
            <a:extLst>
              <a:ext uri="{28A0092B-C50C-407E-A947-70E740481C1C}">
                <a14:useLocalDpi xmlns:a14="http://schemas.microsoft.com/office/drawing/2010/main"/>
              </a:ext>
            </a:extLst>
          </a:blip>
          <a:stretch>
            <a:fillRect/>
          </a:stretch>
        </p:blipFill>
        <p:spPr>
          <a:xfrm>
            <a:off x="5176958" y="2017911"/>
            <a:ext cx="79298" cy="79307"/>
          </a:xfrm>
          <a:prstGeom prst="rect">
            <a:avLst/>
          </a:prstGeom>
        </p:spPr>
      </p:pic>
      <p:pic>
        <p:nvPicPr>
          <p:cNvPr id="10" name="Image 7" descr="preencoded.png">
            <a:extLst>
              <a:ext uri="{FF2B5EF4-FFF2-40B4-BE49-F238E27FC236}">
                <a16:creationId xmlns:a16="http://schemas.microsoft.com/office/drawing/2014/main" id="{120416BE-8E26-5735-1DCB-F96FF771E743}"/>
              </a:ext>
            </a:extLst>
          </p:cNvPr>
          <p:cNvPicPr>
            <a:picLocks noChangeAspect="1"/>
          </p:cNvPicPr>
          <p:nvPr/>
        </p:nvPicPr>
        <p:blipFill>
          <a:blip r:embed="rId7">
            <a:extLst>
              <a:ext uri="{28A0092B-C50C-407E-A947-70E740481C1C}">
                <a14:useLocalDpi xmlns:a14="http://schemas.microsoft.com/office/drawing/2010/main"/>
              </a:ext>
            </a:extLst>
          </a:blip>
          <a:stretch>
            <a:fillRect/>
          </a:stretch>
        </p:blipFill>
        <p:spPr>
          <a:xfrm>
            <a:off x="1737476" y="2245872"/>
            <a:ext cx="6837771" cy="9023428"/>
          </a:xfrm>
          <a:prstGeom prst="rect">
            <a:avLst/>
          </a:prstGeom>
        </p:spPr>
      </p:pic>
      <p:sp>
        <p:nvSpPr>
          <p:cNvPr id="11" name="Shape 6">
            <a:extLst>
              <a:ext uri="{FF2B5EF4-FFF2-40B4-BE49-F238E27FC236}">
                <a16:creationId xmlns:a16="http://schemas.microsoft.com/office/drawing/2014/main" id="{4DA14D23-3993-CFE2-8679-5D36D5B5723C}"/>
              </a:ext>
            </a:extLst>
          </p:cNvPr>
          <p:cNvSpPr/>
          <p:nvPr/>
        </p:nvSpPr>
        <p:spPr>
          <a:xfrm>
            <a:off x="2129067" y="2321192"/>
            <a:ext cx="1596484" cy="497117"/>
          </a:xfrm>
          <a:prstGeom prst="rect">
            <a:avLst/>
          </a:prstGeom>
          <a:solidFill>
            <a:srgbClr val="FFFFFF">
              <a:alpha val="100000"/>
            </a:srgbClr>
          </a:solidFill>
          <a:ln/>
        </p:spPr>
        <p:txBody>
          <a:bodyPr/>
          <a:lstStyle/>
          <a:p>
            <a:endParaRPr lang="es-AR"/>
          </a:p>
        </p:txBody>
      </p:sp>
      <p:pic>
        <p:nvPicPr>
          <p:cNvPr id="12" name="Image 8" descr="preencoded.png">
            <a:extLst>
              <a:ext uri="{FF2B5EF4-FFF2-40B4-BE49-F238E27FC236}">
                <a16:creationId xmlns:a16="http://schemas.microsoft.com/office/drawing/2014/main" id="{60EEC96C-EBDC-9303-5F25-919E9A5AD52A}"/>
              </a:ext>
            </a:extLst>
          </p:cNvPr>
          <p:cNvPicPr>
            <a:picLocks noChangeAspect="1"/>
          </p:cNvPicPr>
          <p:nvPr/>
        </p:nvPicPr>
        <p:blipFill>
          <a:blip r:embed="rId8">
            <a:extLst>
              <a:ext uri="{28A0092B-C50C-407E-A947-70E740481C1C}">
                <a14:useLocalDpi xmlns:a14="http://schemas.microsoft.com/office/drawing/2010/main"/>
              </a:ext>
            </a:extLst>
          </a:blip>
          <a:stretch>
            <a:fillRect/>
          </a:stretch>
        </p:blipFill>
        <p:spPr>
          <a:xfrm>
            <a:off x="2168210" y="2364036"/>
            <a:ext cx="418731" cy="372827"/>
          </a:xfrm>
          <a:prstGeom prst="rect">
            <a:avLst/>
          </a:prstGeom>
        </p:spPr>
      </p:pic>
      <p:pic>
        <p:nvPicPr>
          <p:cNvPr id="13" name="Image 9" descr="preencoded.png">
            <a:extLst>
              <a:ext uri="{FF2B5EF4-FFF2-40B4-BE49-F238E27FC236}">
                <a16:creationId xmlns:a16="http://schemas.microsoft.com/office/drawing/2014/main" id="{D55AF1D9-2448-CC8B-0D5A-29D396F15571}"/>
              </a:ext>
            </a:extLst>
          </p:cNvPr>
          <p:cNvPicPr>
            <a:picLocks noChangeAspect="1"/>
          </p:cNvPicPr>
          <p:nvPr/>
        </p:nvPicPr>
        <p:blipFill>
          <a:blip r:embed="rId9">
            <a:extLst>
              <a:ext uri="{28A0092B-C50C-407E-A947-70E740481C1C}">
                <a14:useLocalDpi xmlns:a14="http://schemas.microsoft.com/office/drawing/2010/main"/>
              </a:ext>
            </a:extLst>
          </a:blip>
          <a:stretch>
            <a:fillRect/>
          </a:stretch>
        </p:blipFill>
        <p:spPr>
          <a:xfrm>
            <a:off x="1727950" y="2236347"/>
            <a:ext cx="6856823" cy="9042478"/>
          </a:xfrm>
          <a:prstGeom prst="rect">
            <a:avLst/>
          </a:prstGeom>
        </p:spPr>
      </p:pic>
      <p:sp>
        <p:nvSpPr>
          <p:cNvPr id="22" name="Text 1">
            <a:extLst>
              <a:ext uri="{FF2B5EF4-FFF2-40B4-BE49-F238E27FC236}">
                <a16:creationId xmlns:a16="http://schemas.microsoft.com/office/drawing/2014/main" id="{E2D589D2-FDF4-93C2-528B-BE9D80B5E682}"/>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2" name="Graphic 1">
            <a:extLst>
              <a:ext uri="{FF2B5EF4-FFF2-40B4-BE49-F238E27FC236}">
                <a16:creationId xmlns:a16="http://schemas.microsoft.com/office/drawing/2014/main" id="{493B54E4-49F3-5DD8-7ADE-BA7526F06B2B}"/>
              </a:ext>
            </a:extLst>
          </p:cNvPr>
          <p:cNvPicPr/>
          <p:nvPr/>
        </p:nvPicPr>
        <p:blipFill>
          <a:blip r:embed="rId10">
            <a:extLst>
              <a:ext uri="{96DAC541-7B7A-43D3-8B79-37D633B846F1}">
                <asvg:svgBlip xmlns:asvg="http://schemas.microsoft.com/office/drawing/2016/SVG/main" r:embed="rId11"/>
              </a:ext>
            </a:extLst>
          </a:blip>
          <a:stretch>
            <a:fillRect/>
          </a:stretch>
        </p:blipFill>
        <p:spPr>
          <a:xfrm>
            <a:off x="457384" y="12470860"/>
            <a:ext cx="2259732" cy="876775"/>
          </a:xfrm>
          <a:prstGeom prst="rect">
            <a:avLst/>
          </a:prstGeom>
        </p:spPr>
      </p:pic>
      <p:sp>
        <p:nvSpPr>
          <p:cNvPr id="17" name="TextBox 16">
            <a:extLst>
              <a:ext uri="{FF2B5EF4-FFF2-40B4-BE49-F238E27FC236}">
                <a16:creationId xmlns:a16="http://schemas.microsoft.com/office/drawing/2014/main" id="{06D839C5-4EA3-834A-C4D2-DD0E7ACEBC12}"/>
              </a:ext>
            </a:extLst>
          </p:cNvPr>
          <p:cNvSpPr txBox="1"/>
          <p:nvPr/>
        </p:nvSpPr>
        <p:spPr>
          <a:xfrm>
            <a:off x="1946015" y="936447"/>
            <a:ext cx="6541184" cy="646331"/>
          </a:xfrm>
          <a:prstGeom prst="rect">
            <a:avLst/>
          </a:prstGeom>
          <a:noFill/>
        </p:spPr>
        <p:txBody>
          <a:bodyPr wrap="square">
            <a:spAutoFit/>
          </a:bodyPr>
          <a:lstStyle/>
          <a:p>
            <a:r>
              <a:rPr lang="en-IN" sz="3600" dirty="0">
                <a:solidFill>
                  <a:schemeClr val="bg1"/>
                </a:solidFill>
                <a:latin typeface="EYInterstate Light" panose="02000506000000020004" pitchFamily="2" charset="0"/>
              </a:rPr>
              <a:t>Healthcare Advisory Group</a:t>
            </a:r>
          </a:p>
        </p:txBody>
      </p:sp>
      <p:pic>
        <p:nvPicPr>
          <p:cNvPr id="18" name="Image 4" descr="preencoded.png">
            <a:extLst>
              <a:ext uri="{FF2B5EF4-FFF2-40B4-BE49-F238E27FC236}">
                <a16:creationId xmlns:a16="http://schemas.microsoft.com/office/drawing/2014/main" id="{C9F240F2-42AE-D6D4-13B1-45EF071A6C5F}"/>
              </a:ext>
            </a:extLst>
          </p:cNvPr>
          <p:cNvPicPr>
            <a:picLocks noChangeAspect="1"/>
          </p:cNvPicPr>
          <p:nvPr/>
        </p:nvPicPr>
        <p:blipFill>
          <a:blip r:embed="rId12" cstate="email">
            <a:extLst>
              <a:ext uri="{28A0092B-C50C-407E-A947-70E740481C1C}">
                <a14:useLocalDpi xmlns:a14="http://schemas.microsoft.com/office/drawing/2010/main"/>
              </a:ext>
            </a:extLst>
          </a:blip>
          <a:stretch>
            <a:fillRect/>
          </a:stretch>
        </p:blipFill>
        <p:spPr>
          <a:xfrm>
            <a:off x="9315339" y="7205406"/>
            <a:ext cx="2618976" cy="5265454"/>
          </a:xfrm>
          <a:prstGeom prst="rect">
            <a:avLst/>
          </a:prstGeom>
        </p:spPr>
      </p:pic>
      <p:pic>
        <p:nvPicPr>
          <p:cNvPr id="19" name="Image 5" descr="preencoded.png">
            <a:extLst>
              <a:ext uri="{FF2B5EF4-FFF2-40B4-BE49-F238E27FC236}">
                <a16:creationId xmlns:a16="http://schemas.microsoft.com/office/drawing/2014/main" id="{FB39E8BD-48C1-F648-A01D-DBBC8CFD795B}"/>
              </a:ext>
            </a:extLst>
          </p:cNvPr>
          <p:cNvPicPr>
            <a:picLocks noChangeAspect="1"/>
          </p:cNvPicPr>
          <p:nvPr/>
        </p:nvPicPr>
        <p:blipFill>
          <a:blip r:embed="rId13" cstate="email">
            <a:extLst>
              <a:ext uri="{28A0092B-C50C-407E-A947-70E740481C1C}">
                <a14:useLocalDpi xmlns:a14="http://schemas.microsoft.com/office/drawing/2010/main"/>
              </a:ext>
            </a:extLst>
          </a:blip>
          <a:stretch>
            <a:fillRect/>
          </a:stretch>
        </p:blipFill>
        <p:spPr>
          <a:xfrm>
            <a:off x="9226110" y="1222104"/>
            <a:ext cx="2628363" cy="5265455"/>
          </a:xfrm>
          <a:prstGeom prst="rect">
            <a:avLst/>
          </a:prstGeom>
        </p:spPr>
      </p:pic>
      <p:sp>
        <p:nvSpPr>
          <p:cNvPr id="26" name="TextBox 25">
            <a:extLst>
              <a:ext uri="{FF2B5EF4-FFF2-40B4-BE49-F238E27FC236}">
                <a16:creationId xmlns:a16="http://schemas.microsoft.com/office/drawing/2014/main" id="{E7F4192F-5A39-9C8B-61E5-9EB1385E6FBB}"/>
              </a:ext>
            </a:extLst>
          </p:cNvPr>
          <p:cNvSpPr txBox="1"/>
          <p:nvPr/>
        </p:nvSpPr>
        <p:spPr>
          <a:xfrm>
            <a:off x="1507120" y="11798530"/>
            <a:ext cx="7418974" cy="1015663"/>
          </a:xfrm>
          <a:prstGeom prst="rect">
            <a:avLst/>
          </a:prstGeom>
          <a:noFill/>
        </p:spPr>
        <p:txBody>
          <a:bodyPr wrap="square">
            <a:spAutoFit/>
          </a:bodyPr>
          <a:lstStyle/>
          <a:p>
            <a:r>
              <a:rPr lang="en-IN" sz="2000" dirty="0">
                <a:solidFill>
                  <a:schemeClr val="bg1"/>
                </a:solidFill>
                <a:latin typeface="EYInterstate Light" panose="02000506000000020004" pitchFamily="2" charset="0"/>
              </a:rPr>
              <a:t>Moving from a publisher of healthcare research to a healthcare catalyst</a:t>
            </a:r>
          </a:p>
          <a:p>
            <a:endParaRPr lang="en-IN" sz="2000" dirty="0">
              <a:solidFill>
                <a:schemeClr val="bg1"/>
              </a:solidFill>
              <a:latin typeface="EYInterstate Light" panose="02000506000000020004" pitchFamily="2" charset="0"/>
            </a:endParaRPr>
          </a:p>
        </p:txBody>
      </p:sp>
    </p:spTree>
    <p:extLst>
      <p:ext uri="{BB962C8B-B14F-4D97-AF65-F5344CB8AC3E}">
        <p14:creationId xmlns:p14="http://schemas.microsoft.com/office/powerpoint/2010/main" val="805081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D189F4C9-D2FE-D8CC-6E42-F260DB368B73}"/>
              </a:ext>
            </a:extLst>
          </p:cNvPr>
          <p:cNvPicPr>
            <a:picLocks noGrp="1" noChangeAspect="1"/>
          </p:cNvPicPr>
          <p:nvPr>
            <p:ph type="pic" sz="quarter" idx="12"/>
          </p:nvPr>
        </p:nvPicPr>
        <p:blipFill>
          <a:blip r:embed="rId3" cstate="email">
            <a:extLst>
              <a:ext uri="{28A0092B-C50C-407E-A947-70E740481C1C}">
                <a14:useLocalDpi xmlns:a14="http://schemas.microsoft.com/office/drawing/2010/main"/>
              </a:ext>
            </a:extLst>
          </a:blip>
          <a:srcRect/>
          <a:stretch/>
        </p:blipFill>
        <p:spPr>
          <a:xfrm>
            <a:off x="-1" y="0"/>
            <a:ext cx="12193588" cy="13716000"/>
          </a:xfrm>
        </p:spPr>
      </p:pic>
      <p:sp>
        <p:nvSpPr>
          <p:cNvPr id="3" name="Text Placeholder 2">
            <a:extLst>
              <a:ext uri="{FF2B5EF4-FFF2-40B4-BE49-F238E27FC236}">
                <a16:creationId xmlns:a16="http://schemas.microsoft.com/office/drawing/2014/main" id="{C38F18DF-CADE-9602-4C5E-A97667F58197}"/>
              </a:ext>
            </a:extLst>
          </p:cNvPr>
          <p:cNvSpPr>
            <a:spLocks noGrp="1"/>
          </p:cNvSpPr>
          <p:nvPr>
            <p:ph type="body" sz="quarter" idx="17"/>
          </p:nvPr>
        </p:nvSpPr>
        <p:spPr>
          <a:xfrm>
            <a:off x="14369390" y="1813560"/>
            <a:ext cx="7578954" cy="10861040"/>
          </a:xfrm>
        </p:spPr>
        <p:txBody>
          <a:bodyPr/>
          <a:lstStyle/>
          <a:p>
            <a:r>
              <a:rPr lang="en-US"/>
              <a:t>$27b medical device company sought to establish an innovation culture and capabilities for its innovative digital surgery platform and partner ecosystem.​</a:t>
            </a:r>
          </a:p>
          <a:p>
            <a:r>
              <a:rPr lang="en-US"/>
              <a:t>​</a:t>
            </a:r>
          </a:p>
          <a:p>
            <a:r>
              <a:rPr lang="en-US"/>
              <a:t>Designed Digital Innovation Operating Model for the client’s digital surgery platform to enable more patient-centric care, identified capability gaps and partner ecosystem model, and developed data architecture and capability requirements to aggregate/analyze data across its product teams.​</a:t>
            </a:r>
          </a:p>
          <a:p>
            <a:r>
              <a:rPr lang="en-US"/>
              <a:t>​</a:t>
            </a:r>
          </a:p>
          <a:p>
            <a:r>
              <a:rPr lang="en-US"/>
              <a:t>Solution</a:t>
            </a:r>
          </a:p>
          <a:p>
            <a:r>
              <a:rPr lang="en-US"/>
              <a:t>Defined an MVP operating model structure, customer experience and capability road map, and data fabric architecture to enable future state customer experiences.​</a:t>
            </a:r>
          </a:p>
        </p:txBody>
      </p:sp>
      <p:sp>
        <p:nvSpPr>
          <p:cNvPr id="2" name="Rectangle 1">
            <a:extLst>
              <a:ext uri="{FF2B5EF4-FFF2-40B4-BE49-F238E27FC236}">
                <a16:creationId xmlns:a16="http://schemas.microsoft.com/office/drawing/2014/main" id="{846A30CA-C8CB-E04A-F119-BFBEDE4251A3}"/>
              </a:ext>
            </a:extLst>
          </p:cNvPr>
          <p:cNvSpPr/>
          <p:nvPr/>
        </p:nvSpPr>
        <p:spPr>
          <a:xfrm>
            <a:off x="-39312" y="0"/>
            <a:ext cx="12272211" cy="13716000"/>
          </a:xfrm>
          <a:prstGeom prst="rect">
            <a:avLst/>
          </a:prstGeom>
          <a:solidFill>
            <a:schemeClr val="tx1">
              <a:alpha val="3906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F49C162-B195-5112-B82C-C0F52BF53AE2}"/>
              </a:ext>
            </a:extLst>
          </p:cNvPr>
          <p:cNvSpPr>
            <a:spLocks noGrp="1"/>
          </p:cNvSpPr>
          <p:nvPr>
            <p:ph type="body" sz="quarter" idx="11"/>
          </p:nvPr>
        </p:nvSpPr>
        <p:spPr>
          <a:xfrm>
            <a:off x="2352561" y="1813560"/>
            <a:ext cx="7693140" cy="4079240"/>
          </a:xfrm>
        </p:spPr>
        <p:txBody>
          <a:bodyPr/>
          <a:lstStyle/>
          <a:p>
            <a:r>
              <a:rPr lang="en-US"/>
              <a:t>Building and operating healthcare innovation labs</a:t>
            </a:r>
          </a:p>
        </p:txBody>
      </p:sp>
      <p:sp>
        <p:nvSpPr>
          <p:cNvPr id="4" name="Text Placeholder 3">
            <a:extLst>
              <a:ext uri="{FF2B5EF4-FFF2-40B4-BE49-F238E27FC236}">
                <a16:creationId xmlns:a16="http://schemas.microsoft.com/office/drawing/2014/main" id="{7EBCE459-42DE-4622-6457-B942D061FD0E}"/>
              </a:ext>
            </a:extLst>
          </p:cNvPr>
          <p:cNvSpPr>
            <a:spLocks noGrp="1"/>
          </p:cNvSpPr>
          <p:nvPr>
            <p:ph type="body" sz="quarter" idx="10"/>
          </p:nvPr>
        </p:nvSpPr>
        <p:spPr>
          <a:xfrm>
            <a:off x="6359325" y="320040"/>
            <a:ext cx="11668525" cy="574675"/>
          </a:xfrm>
        </p:spPr>
        <p:txBody>
          <a:bodyPr/>
          <a:lstStyle/>
          <a:p>
            <a:r>
              <a:rPr lang="en-US"/>
              <a:t>GLOBAL MEDICAL DEVICE MANUFACTURER</a:t>
            </a:r>
          </a:p>
        </p:txBody>
      </p:sp>
      <p:sp>
        <p:nvSpPr>
          <p:cNvPr id="14" name="Text 1">
            <a:extLst>
              <a:ext uri="{FF2B5EF4-FFF2-40B4-BE49-F238E27FC236}">
                <a16:creationId xmlns:a16="http://schemas.microsoft.com/office/drawing/2014/main" id="{7B0232A7-1EA6-965F-520B-C414B33304A3}"/>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6" name="Graphic 5">
            <a:extLst>
              <a:ext uri="{FF2B5EF4-FFF2-40B4-BE49-F238E27FC236}">
                <a16:creationId xmlns:a16="http://schemas.microsoft.com/office/drawing/2014/main" id="{80DC7850-C29B-9C4C-BED2-453C4C326B53}"/>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1316897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D189F4C9-D2FE-D8CC-6E42-F260DB368B73}"/>
              </a:ext>
            </a:extLst>
          </p:cNvPr>
          <p:cNvPicPr>
            <a:picLocks noGrp="1" noChangeAspect="1"/>
          </p:cNvPicPr>
          <p:nvPr>
            <p:ph type="pic" sz="quarter" idx="12"/>
          </p:nvPr>
        </p:nvPicPr>
        <p:blipFill>
          <a:blip r:embed="rId3" cstate="email">
            <a:extLst>
              <a:ext uri="{28A0092B-C50C-407E-A947-70E740481C1C}">
                <a14:useLocalDpi xmlns:a14="http://schemas.microsoft.com/office/drawing/2010/main"/>
              </a:ext>
            </a:extLst>
          </a:blip>
          <a:srcRect/>
          <a:stretch/>
        </p:blipFill>
        <p:spPr>
          <a:xfrm>
            <a:off x="-1" y="0"/>
            <a:ext cx="12193588" cy="13716000"/>
          </a:xfrm>
        </p:spPr>
      </p:pic>
      <p:sp>
        <p:nvSpPr>
          <p:cNvPr id="3" name="Text Placeholder 2">
            <a:extLst>
              <a:ext uri="{FF2B5EF4-FFF2-40B4-BE49-F238E27FC236}">
                <a16:creationId xmlns:a16="http://schemas.microsoft.com/office/drawing/2014/main" id="{C38F18DF-CADE-9602-4C5E-A97667F58197}"/>
              </a:ext>
            </a:extLst>
          </p:cNvPr>
          <p:cNvSpPr>
            <a:spLocks noGrp="1"/>
          </p:cNvSpPr>
          <p:nvPr>
            <p:ph type="body" sz="quarter" idx="17"/>
          </p:nvPr>
        </p:nvSpPr>
        <p:spPr>
          <a:xfrm>
            <a:off x="14369390" y="1813560"/>
            <a:ext cx="7578954" cy="10861040"/>
          </a:xfrm>
        </p:spPr>
        <p:txBody>
          <a:bodyPr/>
          <a:lstStyle/>
          <a:p>
            <a:r>
              <a:rPr lang="en-US"/>
              <a:t>$4b medtech company sought to design, pilot and launch an innovation lab/incubator to focus on cross-BU horizontal innovations and align its digital and IT investments. ​</a:t>
            </a:r>
          </a:p>
          <a:p>
            <a:r>
              <a:rPr lang="en-US"/>
              <a:t>​</a:t>
            </a:r>
          </a:p>
          <a:p>
            <a:r>
              <a:rPr lang="en-US"/>
              <a:t>Designed Innovation Operating Model and capability road map, including innovation strategy and scope, priority growth platforms, governance and funding model, innovation process, tools and resources.​</a:t>
            </a:r>
          </a:p>
          <a:p>
            <a:r>
              <a:rPr lang="en-US"/>
              <a:t>​</a:t>
            </a:r>
          </a:p>
          <a:p>
            <a:r>
              <a:rPr lang="en-US"/>
              <a:t>Solution</a:t>
            </a:r>
          </a:p>
          <a:p>
            <a:r>
              <a:rPr lang="en-US"/>
              <a:t>Designed proof-of-concept MVP pilot for an end-to-end, medication safety solutions to integrate products, processes, people and data/information from infusion pumps, med dispensing robots and bedside barcoding technologies to reduce preventable harm in hospitals.​​</a:t>
            </a:r>
          </a:p>
        </p:txBody>
      </p:sp>
      <p:sp>
        <p:nvSpPr>
          <p:cNvPr id="2" name="Rectangle 1">
            <a:extLst>
              <a:ext uri="{FF2B5EF4-FFF2-40B4-BE49-F238E27FC236}">
                <a16:creationId xmlns:a16="http://schemas.microsoft.com/office/drawing/2014/main" id="{846A30CA-C8CB-E04A-F119-BFBEDE4251A3}"/>
              </a:ext>
            </a:extLst>
          </p:cNvPr>
          <p:cNvSpPr/>
          <p:nvPr/>
        </p:nvSpPr>
        <p:spPr>
          <a:xfrm>
            <a:off x="-39313" y="0"/>
            <a:ext cx="12272211" cy="13716000"/>
          </a:xfrm>
          <a:prstGeom prst="rect">
            <a:avLst/>
          </a:prstGeom>
          <a:solidFill>
            <a:schemeClr val="tx1">
              <a:alpha val="3906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BF49C162-B195-5112-B82C-C0F52BF53AE2}"/>
              </a:ext>
            </a:extLst>
          </p:cNvPr>
          <p:cNvSpPr>
            <a:spLocks noGrp="1"/>
          </p:cNvSpPr>
          <p:nvPr>
            <p:ph type="body" sz="quarter" idx="11"/>
          </p:nvPr>
        </p:nvSpPr>
        <p:spPr>
          <a:xfrm>
            <a:off x="2352561" y="1813560"/>
            <a:ext cx="7693140" cy="4079240"/>
          </a:xfrm>
        </p:spPr>
        <p:txBody>
          <a:bodyPr/>
          <a:lstStyle/>
          <a:p>
            <a:r>
              <a:rPr lang="en-US"/>
              <a:t>Barcoding technologies to reduce preventable harm</a:t>
            </a:r>
          </a:p>
        </p:txBody>
      </p:sp>
      <p:sp>
        <p:nvSpPr>
          <p:cNvPr id="4" name="Text Placeholder 3">
            <a:extLst>
              <a:ext uri="{FF2B5EF4-FFF2-40B4-BE49-F238E27FC236}">
                <a16:creationId xmlns:a16="http://schemas.microsoft.com/office/drawing/2014/main" id="{7EBCE459-42DE-4622-6457-B942D061FD0E}"/>
              </a:ext>
            </a:extLst>
          </p:cNvPr>
          <p:cNvSpPr>
            <a:spLocks noGrp="1"/>
          </p:cNvSpPr>
          <p:nvPr>
            <p:ph type="body" sz="quarter" idx="10"/>
          </p:nvPr>
        </p:nvSpPr>
        <p:spPr>
          <a:xfrm>
            <a:off x="6359325" y="320040"/>
            <a:ext cx="11668525" cy="574675"/>
          </a:xfrm>
        </p:spPr>
        <p:txBody>
          <a:bodyPr/>
          <a:lstStyle/>
          <a:p>
            <a:r>
              <a:rPr lang="en-US"/>
              <a:t>Leading med-tech company</a:t>
            </a:r>
          </a:p>
        </p:txBody>
      </p:sp>
      <p:sp>
        <p:nvSpPr>
          <p:cNvPr id="14" name="Text 1">
            <a:extLst>
              <a:ext uri="{FF2B5EF4-FFF2-40B4-BE49-F238E27FC236}">
                <a16:creationId xmlns:a16="http://schemas.microsoft.com/office/drawing/2014/main" id="{7B0232A7-1EA6-965F-520B-C414B33304A3}"/>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6" name="Graphic 5">
            <a:extLst>
              <a:ext uri="{FF2B5EF4-FFF2-40B4-BE49-F238E27FC236}">
                <a16:creationId xmlns:a16="http://schemas.microsoft.com/office/drawing/2014/main" id="{9C93AAA5-41B2-568F-C383-D4EBE0455921}"/>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203187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D189F4C9-D2FE-D8CC-6E42-F260DB368B73}"/>
              </a:ext>
            </a:extLst>
          </p:cNvPr>
          <p:cNvPicPr>
            <a:picLocks noGrp="1" noChangeAspect="1"/>
          </p:cNvPicPr>
          <p:nvPr>
            <p:ph type="pic" sz="quarter" idx="12"/>
          </p:nvPr>
        </p:nvPicPr>
        <p:blipFill rotWithShape="1">
          <a:blip r:embed="rId3" cstate="email">
            <a:extLst>
              <a:ext uri="{28A0092B-C50C-407E-A947-70E740481C1C}">
                <a14:useLocalDpi xmlns:a14="http://schemas.microsoft.com/office/drawing/2010/main"/>
              </a:ext>
            </a:extLst>
          </a:blip>
          <a:srcRect/>
          <a:stretch/>
        </p:blipFill>
        <p:spPr>
          <a:xfrm>
            <a:off x="-1" y="0"/>
            <a:ext cx="12193588" cy="13716000"/>
          </a:xfrm>
        </p:spPr>
      </p:pic>
      <p:sp>
        <p:nvSpPr>
          <p:cNvPr id="2" name="Rectangle 1">
            <a:extLst>
              <a:ext uri="{FF2B5EF4-FFF2-40B4-BE49-F238E27FC236}">
                <a16:creationId xmlns:a16="http://schemas.microsoft.com/office/drawing/2014/main" id="{846A30CA-C8CB-E04A-F119-BFBEDE4251A3}"/>
              </a:ext>
            </a:extLst>
          </p:cNvPr>
          <p:cNvSpPr/>
          <p:nvPr/>
        </p:nvSpPr>
        <p:spPr>
          <a:xfrm>
            <a:off x="-78624" y="0"/>
            <a:ext cx="12272211" cy="13716000"/>
          </a:xfrm>
          <a:prstGeom prst="rect">
            <a:avLst/>
          </a:prstGeom>
          <a:solidFill>
            <a:schemeClr val="tx1">
              <a:alpha val="3906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C38F18DF-CADE-9602-4C5E-A97667F58197}"/>
              </a:ext>
            </a:extLst>
          </p:cNvPr>
          <p:cNvSpPr>
            <a:spLocks noGrp="1"/>
          </p:cNvSpPr>
          <p:nvPr>
            <p:ph type="body" sz="quarter" idx="17"/>
          </p:nvPr>
        </p:nvSpPr>
        <p:spPr>
          <a:xfrm>
            <a:off x="14369390" y="1813560"/>
            <a:ext cx="7578954" cy="10861040"/>
          </a:xfrm>
        </p:spPr>
        <p:txBody>
          <a:bodyPr/>
          <a:lstStyle/>
          <a:p>
            <a:r>
              <a:rPr lang="en-US"/>
              <a:t>$20b health care payer-provider sought to define and implement an innovation operating model and governance structure to standardize and secure use of mobile applications by clinicians and patients.​</a:t>
            </a:r>
          </a:p>
          <a:p>
            <a:endParaRPr lang="en-US"/>
          </a:p>
          <a:p>
            <a:r>
              <a:rPr lang="en-US"/>
              <a:t>Designed mobility Center of Excellence (</a:t>
            </a:r>
            <a:r>
              <a:rPr lang="en-US" err="1"/>
              <a:t>CoE</a:t>
            </a:r>
            <a:r>
              <a:rPr lang="en-US"/>
              <a:t>) operating model, including governance and funding, process flows, activities, resources, conceptual technology architecture and mobile app certification process to standardize deployment across the organization, created mobile product road map, portfolio and KPIs.​</a:t>
            </a:r>
          </a:p>
          <a:p>
            <a:r>
              <a:rPr lang="en-US"/>
              <a:t>​</a:t>
            </a:r>
          </a:p>
          <a:p>
            <a:r>
              <a:rPr lang="en-US"/>
              <a:t>Solution</a:t>
            </a:r>
          </a:p>
          <a:p>
            <a:r>
              <a:rPr lang="en-US"/>
              <a:t>Aligned business unit mobility strategies, application development platforms, data architecture, cybersecurity and brand standards.​​</a:t>
            </a:r>
          </a:p>
          <a:p>
            <a:endParaRPr lang="en-US"/>
          </a:p>
        </p:txBody>
      </p:sp>
      <p:sp>
        <p:nvSpPr>
          <p:cNvPr id="4" name="Text Placeholder 3">
            <a:extLst>
              <a:ext uri="{FF2B5EF4-FFF2-40B4-BE49-F238E27FC236}">
                <a16:creationId xmlns:a16="http://schemas.microsoft.com/office/drawing/2014/main" id="{7EBCE459-42DE-4622-6457-B942D061FD0E}"/>
              </a:ext>
            </a:extLst>
          </p:cNvPr>
          <p:cNvSpPr>
            <a:spLocks noGrp="1"/>
          </p:cNvSpPr>
          <p:nvPr>
            <p:ph type="body" sz="quarter" idx="10"/>
          </p:nvPr>
        </p:nvSpPr>
        <p:spPr>
          <a:xfrm>
            <a:off x="6359325" y="320040"/>
            <a:ext cx="11668525" cy="574675"/>
          </a:xfrm>
        </p:spPr>
        <p:txBody>
          <a:bodyPr/>
          <a:lstStyle/>
          <a:p>
            <a:r>
              <a:rPr lang="en-US"/>
              <a:t>Leading national payer-provider</a:t>
            </a:r>
          </a:p>
        </p:txBody>
      </p:sp>
      <p:sp>
        <p:nvSpPr>
          <p:cNvPr id="5" name="Text Placeholder 4">
            <a:extLst>
              <a:ext uri="{FF2B5EF4-FFF2-40B4-BE49-F238E27FC236}">
                <a16:creationId xmlns:a16="http://schemas.microsoft.com/office/drawing/2014/main" id="{BF49C162-B195-5112-B82C-C0F52BF53AE2}"/>
              </a:ext>
            </a:extLst>
          </p:cNvPr>
          <p:cNvSpPr>
            <a:spLocks noGrp="1"/>
          </p:cNvSpPr>
          <p:nvPr>
            <p:ph type="body" sz="quarter" idx="11"/>
          </p:nvPr>
        </p:nvSpPr>
        <p:spPr>
          <a:xfrm>
            <a:off x="2352561" y="1813560"/>
            <a:ext cx="7693140" cy="4079240"/>
          </a:xfrm>
        </p:spPr>
        <p:txBody>
          <a:bodyPr/>
          <a:lstStyle/>
          <a:p>
            <a:r>
              <a:rPr lang="en-US"/>
              <a:t>Standardizing and securing mobile apps for clinicians and patients</a:t>
            </a:r>
          </a:p>
        </p:txBody>
      </p:sp>
      <p:sp>
        <p:nvSpPr>
          <p:cNvPr id="14" name="Text 1">
            <a:extLst>
              <a:ext uri="{FF2B5EF4-FFF2-40B4-BE49-F238E27FC236}">
                <a16:creationId xmlns:a16="http://schemas.microsoft.com/office/drawing/2014/main" id="{7B0232A7-1EA6-965F-520B-C414B33304A3}"/>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6" name="Graphic 5">
            <a:extLst>
              <a:ext uri="{FF2B5EF4-FFF2-40B4-BE49-F238E27FC236}">
                <a16:creationId xmlns:a16="http://schemas.microsoft.com/office/drawing/2014/main" id="{757FD786-A9CC-5971-D22F-0D557C30AC86}"/>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1256297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person in a white coat typing on a keyboard&#10;&#10;Description automatically generated">
            <a:extLst>
              <a:ext uri="{FF2B5EF4-FFF2-40B4-BE49-F238E27FC236}">
                <a16:creationId xmlns:a16="http://schemas.microsoft.com/office/drawing/2014/main" id="{2C1CD995-27B2-3779-0CA2-6501909C5672}"/>
              </a:ext>
            </a:extLst>
          </p:cNvPr>
          <p:cNvPicPr>
            <a:picLocks noGrp="1" noChangeAspect="1"/>
          </p:cNvPicPr>
          <p:nvPr>
            <p:ph type="pic" sz="quarter" idx="12"/>
          </p:nvPr>
        </p:nvPicPr>
        <p:blipFill>
          <a:blip r:embed="rId3" cstate="email">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759F6420-B92F-07BF-378A-F42928256F54}"/>
              </a:ext>
            </a:extLst>
          </p:cNvPr>
          <p:cNvSpPr>
            <a:spLocks noGrp="1"/>
          </p:cNvSpPr>
          <p:nvPr>
            <p:ph type="body" sz="quarter" idx="17"/>
          </p:nvPr>
        </p:nvSpPr>
        <p:spPr>
          <a:xfrm>
            <a:off x="14369389" y="1534160"/>
            <a:ext cx="8869751" cy="10861040"/>
          </a:xfrm>
        </p:spPr>
        <p:txBody>
          <a:bodyPr/>
          <a:lstStyle/>
          <a:p>
            <a:pPr>
              <a:lnSpc>
                <a:spcPct val="100000"/>
              </a:lnSpc>
            </a:pPr>
            <a:r>
              <a:rPr lang="en-US" sz="2400" kern="0">
                <a:latin typeface="EYInterstate Light"/>
              </a:rPr>
              <a:t>The client wanted to identify opportunities for short-term improvements and a long-term user experience strategy for their clinical data management product.</a:t>
            </a:r>
            <a:endParaRPr lang="en-US" sz="2400" kern="0" dirty="0">
              <a:latin typeface="EYInterstate Light"/>
            </a:endParaRPr>
          </a:p>
          <a:p>
            <a:pPr>
              <a:lnSpc>
                <a:spcPct val="100000"/>
              </a:lnSpc>
            </a:pPr>
            <a:endParaRPr lang="en-US" dirty="0"/>
          </a:p>
          <a:p>
            <a:pPr>
              <a:lnSpc>
                <a:spcPct val="100000"/>
              </a:lnSpc>
            </a:pPr>
            <a:r>
              <a:rPr lang="en-US" b="1"/>
              <a:t>Solution</a:t>
            </a:r>
            <a:endParaRPr lang="en-US" b="1" dirty="0"/>
          </a:p>
          <a:p>
            <a:pPr marL="342900" indent="-342900">
              <a:lnSpc>
                <a:spcPct val="100000"/>
              </a:lnSpc>
              <a:buFont typeface="Arial" panose="020B0604020202020204" pitchFamily="34" charset="0"/>
              <a:buChar char="•"/>
            </a:pPr>
            <a:r>
              <a:rPr lang="en-US"/>
              <a:t>Initial UX Assessment: Prior to starting the redesign, the legacy online application was evaluated to identify current problems and prioritize near &amp; long-term enhancements.</a:t>
            </a:r>
            <a:endParaRPr lang="en-US" dirty="0"/>
          </a:p>
          <a:p>
            <a:pPr marL="342900" indent="-342900">
              <a:lnSpc>
                <a:spcPct val="100000"/>
              </a:lnSpc>
              <a:buFont typeface="Arial" panose="020B0604020202020204" pitchFamily="34" charset="0"/>
              <a:buChar char="•"/>
            </a:pPr>
            <a:r>
              <a:rPr lang="en-US"/>
              <a:t>Competitive Assessment: Competitive and comparative sites within and outside clinical data management were reviewed to identify opportunities and potential pitfalls</a:t>
            </a:r>
            <a:endParaRPr lang="en-US" dirty="0"/>
          </a:p>
          <a:p>
            <a:pPr marL="342900" indent="-342900">
              <a:lnSpc>
                <a:spcPct val="100000"/>
              </a:lnSpc>
              <a:buFont typeface="Arial" panose="020B0604020202020204" pitchFamily="34" charset="0"/>
              <a:buChar char="•"/>
            </a:pPr>
            <a:r>
              <a:rPr lang="en-US"/>
              <a:t>Provide guidance: </a:t>
            </a:r>
            <a:r>
              <a:rPr lang="en-US" sz="2400" kern="0" spc="-25">
                <a:latin typeface="EYInterstate Light"/>
              </a:rPr>
              <a:t>Point users in the right direction throughout the experience.</a:t>
            </a:r>
            <a:endParaRPr lang="en-US" sz="2400" kern="0" spc="-25" dirty="0">
              <a:latin typeface="EYInterstate Light"/>
            </a:endParaRPr>
          </a:p>
          <a:p>
            <a:pPr marL="342900" indent="-342900">
              <a:lnSpc>
                <a:spcPct val="100000"/>
              </a:lnSpc>
              <a:buFont typeface="Arial" panose="020B0604020202020204" pitchFamily="34" charset="0"/>
              <a:buChar char="•"/>
            </a:pPr>
            <a:r>
              <a:rPr lang="en-US"/>
              <a:t>Surface critical information: Provide personalized, role-based information immediately. </a:t>
            </a:r>
            <a:endParaRPr lang="en-US" dirty="0"/>
          </a:p>
          <a:p>
            <a:pPr marL="342900" indent="-342900">
              <a:lnSpc>
                <a:spcPct val="100000"/>
              </a:lnSpc>
              <a:buFont typeface="Arial" panose="020B0604020202020204" pitchFamily="34" charset="0"/>
              <a:buChar char="•"/>
            </a:pPr>
            <a:r>
              <a:rPr lang="en-US"/>
              <a:t>Clarify the layout and look: </a:t>
            </a:r>
            <a:r>
              <a:rPr lang="en-US" sz="2400" kern="0" spc="-25">
                <a:latin typeface="EYInterstate Light"/>
              </a:rPr>
              <a:t>Clarify iconography, reduce scrolling, provide easily scannable audit trails.</a:t>
            </a:r>
            <a:endParaRPr lang="en-US" sz="2400" kern="0" spc="-25" dirty="0">
              <a:latin typeface="EYInterstate Light"/>
            </a:endParaRPr>
          </a:p>
          <a:p>
            <a:pPr marL="342900" indent="-342900">
              <a:lnSpc>
                <a:spcPct val="100000"/>
              </a:lnSpc>
              <a:buFont typeface="Arial" panose="020B0604020202020204" pitchFamily="34" charset="0"/>
              <a:buChar char="•"/>
            </a:pPr>
            <a:r>
              <a:rPr lang="en-US"/>
              <a:t>Maximize efficiency: </a:t>
            </a:r>
            <a:r>
              <a:rPr lang="en-US" sz="2400" kern="0" spc="-25">
                <a:latin typeface="EYInterstate Light"/>
              </a:rPr>
              <a:t>Reduce user effort completing tasks, increase system speed, design for mobile/tablet. </a:t>
            </a:r>
            <a:endParaRPr lang="en-US" sz="2400" kern="0" spc="-25" dirty="0">
              <a:latin typeface="EYInterstate Light"/>
            </a:endParaRPr>
          </a:p>
        </p:txBody>
      </p:sp>
      <p:sp>
        <p:nvSpPr>
          <p:cNvPr id="8" name="Rectangle 7">
            <a:extLst>
              <a:ext uri="{FF2B5EF4-FFF2-40B4-BE49-F238E27FC236}">
                <a16:creationId xmlns:a16="http://schemas.microsoft.com/office/drawing/2014/main" id="{68C7F57A-1BD7-A0E2-F4C2-4932D825409F}"/>
              </a:ext>
            </a:extLst>
          </p:cNvPr>
          <p:cNvSpPr/>
          <p:nvPr/>
        </p:nvSpPr>
        <p:spPr>
          <a:xfrm>
            <a:off x="0" y="0"/>
            <a:ext cx="12193587" cy="13716000"/>
          </a:xfrm>
          <a:prstGeom prst="rect">
            <a:avLst/>
          </a:prstGeom>
          <a:solidFill>
            <a:schemeClr val="tx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
            <a:extLst>
              <a:ext uri="{FF2B5EF4-FFF2-40B4-BE49-F238E27FC236}">
                <a16:creationId xmlns:a16="http://schemas.microsoft.com/office/drawing/2014/main" id="{F6AA8587-E982-50AA-45CE-F9DB13FE40E5}"/>
              </a:ext>
            </a:extLst>
          </p:cNvPr>
          <p:cNvSpPr>
            <a:spLocks noGrp="1"/>
          </p:cNvSpPr>
          <p:nvPr>
            <p:ph type="body" sz="quarter" idx="11"/>
          </p:nvPr>
        </p:nvSpPr>
        <p:spPr/>
        <p:txBody>
          <a:bodyPr/>
          <a:lstStyle/>
          <a:p>
            <a:r>
              <a:rPr lang="en-US"/>
              <a:t>Short- and long-term enhancements to clinical data management tools</a:t>
            </a:r>
          </a:p>
        </p:txBody>
      </p:sp>
      <p:sp>
        <p:nvSpPr>
          <p:cNvPr id="4" name="Text Placeholder 3">
            <a:extLst>
              <a:ext uri="{FF2B5EF4-FFF2-40B4-BE49-F238E27FC236}">
                <a16:creationId xmlns:a16="http://schemas.microsoft.com/office/drawing/2014/main" id="{A690DDE3-70C7-6B44-3414-86E1A9BAF5A9}"/>
              </a:ext>
            </a:extLst>
          </p:cNvPr>
          <p:cNvSpPr>
            <a:spLocks noGrp="1"/>
          </p:cNvSpPr>
          <p:nvPr>
            <p:ph type="body" sz="quarter" idx="10"/>
          </p:nvPr>
        </p:nvSpPr>
        <p:spPr/>
        <p:txBody>
          <a:bodyPr/>
          <a:lstStyle/>
          <a:p>
            <a:r>
              <a:rPr lang="en-US"/>
              <a:t>Cloud-based e-clinical platform</a:t>
            </a:r>
          </a:p>
        </p:txBody>
      </p:sp>
      <p:sp>
        <p:nvSpPr>
          <p:cNvPr id="14" name="Text 1">
            <a:extLst>
              <a:ext uri="{FF2B5EF4-FFF2-40B4-BE49-F238E27FC236}">
                <a16:creationId xmlns:a16="http://schemas.microsoft.com/office/drawing/2014/main" id="{D388BC5B-A6E9-E6A1-1A28-671E1205C786}"/>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2" name="Graphic 1">
            <a:extLst>
              <a:ext uri="{FF2B5EF4-FFF2-40B4-BE49-F238E27FC236}">
                <a16:creationId xmlns:a16="http://schemas.microsoft.com/office/drawing/2014/main" id="{E88252FF-56B0-9F98-FA90-7DB009D63FD7}"/>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837329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descr="person sitting while using laptop computer and green stethoscope near">
            <a:extLst>
              <a:ext uri="{FF2B5EF4-FFF2-40B4-BE49-F238E27FC236}">
                <a16:creationId xmlns:a16="http://schemas.microsoft.com/office/drawing/2014/main" id="{91166C2A-CA8C-1699-9CDA-357ADE209CC8}"/>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0" y="1"/>
            <a:ext cx="12193587" cy="137160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68C7F57A-1BD7-A0E2-F4C2-4932D825409F}"/>
              </a:ext>
            </a:extLst>
          </p:cNvPr>
          <p:cNvSpPr/>
          <p:nvPr/>
        </p:nvSpPr>
        <p:spPr>
          <a:xfrm>
            <a:off x="0" y="0"/>
            <a:ext cx="12193587" cy="13716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759F6420-B92F-07BF-378A-F42928256F54}"/>
              </a:ext>
            </a:extLst>
          </p:cNvPr>
          <p:cNvSpPr>
            <a:spLocks noGrp="1"/>
          </p:cNvSpPr>
          <p:nvPr>
            <p:ph type="body" sz="quarter" idx="17"/>
          </p:nvPr>
        </p:nvSpPr>
        <p:spPr/>
        <p:txBody>
          <a:bodyPr/>
          <a:lstStyle/>
          <a:p>
            <a:pPr marL="342900" indent="-342900">
              <a:lnSpc>
                <a:spcPct val="100000"/>
              </a:lnSpc>
              <a:buFont typeface="Arial" panose="020B0604020202020204" pitchFamily="34" charset="0"/>
              <a:buChar char="•"/>
            </a:pPr>
            <a:r>
              <a:rPr lang="en-US">
                <a:effectLst/>
              </a:rPr>
              <a:t>Develop End-to-End experience mapping to define target customer experiences (with cross-functional walk-the-wall work sessions)​</a:t>
            </a:r>
            <a:endParaRPr lang="en-US" dirty="0">
              <a:effectLst/>
            </a:endParaRPr>
          </a:p>
          <a:p>
            <a:pPr marL="342900" indent="-342900">
              <a:lnSpc>
                <a:spcPct val="100000"/>
              </a:lnSpc>
              <a:buFont typeface="Arial" panose="020B0604020202020204" pitchFamily="34" charset="0"/>
              <a:buChar char="•"/>
            </a:pPr>
            <a:r>
              <a:rPr lang="en-US">
                <a:effectLst/>
              </a:rPr>
              <a:t>Identify key cross-functional operational requirements to support customer expectations of cloud-based solution provider​</a:t>
            </a:r>
            <a:endParaRPr lang="en-US" dirty="0">
              <a:effectLst/>
            </a:endParaRPr>
          </a:p>
          <a:p>
            <a:pPr marL="342900" indent="-342900">
              <a:lnSpc>
                <a:spcPct val="100000"/>
              </a:lnSpc>
              <a:buFont typeface="Arial" panose="020B0604020202020204" pitchFamily="34" charset="0"/>
              <a:buChar char="•"/>
            </a:pPr>
            <a:r>
              <a:rPr lang="en-US">
                <a:effectLst/>
              </a:rPr>
              <a:t>Refine product roadmap based on customer usage data across experience stages</a:t>
            </a:r>
            <a:endParaRPr lang="en-US" dirty="0">
              <a:effectLst/>
            </a:endParaRPr>
          </a:p>
          <a:p>
            <a:pPr>
              <a:lnSpc>
                <a:spcPct val="100000"/>
              </a:lnSpc>
            </a:pPr>
            <a:endParaRPr lang="en-US" dirty="0">
              <a:latin typeface="EYInterstate Regular" panose="02000503020000020004" pitchFamily="2" charset="0"/>
            </a:endParaRPr>
          </a:p>
          <a:p>
            <a:pPr>
              <a:lnSpc>
                <a:spcPct val="100000"/>
              </a:lnSpc>
            </a:pPr>
            <a:r>
              <a:rPr lang="en-US">
                <a:latin typeface="EYInterstate Regular" panose="02000503020000020004" pitchFamily="2" charset="0"/>
              </a:rPr>
              <a:t>Solution </a:t>
            </a:r>
            <a:endParaRPr lang="en-US" dirty="0">
              <a:latin typeface="EYInterstate Regular" panose="02000503020000020004" pitchFamily="2" charset="0"/>
            </a:endParaRPr>
          </a:p>
          <a:p>
            <a:pPr marL="342900" indent="-342900">
              <a:lnSpc>
                <a:spcPct val="100000"/>
              </a:lnSpc>
              <a:buFont typeface="Arial" panose="020B0604020202020204" pitchFamily="34" charset="0"/>
              <a:buChar char="•"/>
            </a:pPr>
            <a:r>
              <a:rPr lang="en-US">
                <a:effectLst/>
              </a:rPr>
              <a:t>Delivered new SaaS pay-by-use models of bundled software​</a:t>
            </a:r>
            <a:endParaRPr lang="en-US" dirty="0">
              <a:effectLst/>
            </a:endParaRPr>
          </a:p>
          <a:p>
            <a:pPr marL="342900" indent="-342900">
              <a:lnSpc>
                <a:spcPct val="100000"/>
              </a:lnSpc>
              <a:buFont typeface="Arial" panose="020B0604020202020204" pitchFamily="34" charset="0"/>
              <a:buChar char="•"/>
            </a:pPr>
            <a:r>
              <a:rPr lang="en-US">
                <a:effectLst/>
              </a:rPr>
              <a:t>Developed full cross-functional alignment (e.g. billing, legal, finance, IT) and execution on the highest customer value initiatives (90 day sprints, small dedicated teams)​</a:t>
            </a:r>
            <a:endParaRPr lang="en-US" dirty="0">
              <a:effectLst/>
            </a:endParaRPr>
          </a:p>
          <a:p>
            <a:pPr marL="342900" indent="-342900">
              <a:lnSpc>
                <a:spcPct val="100000"/>
              </a:lnSpc>
              <a:buFont typeface="Arial" panose="020B0604020202020204" pitchFamily="34" charset="0"/>
              <a:buChar char="•"/>
            </a:pPr>
            <a:r>
              <a:rPr lang="en-US">
                <a:effectLst/>
              </a:rPr>
              <a:t>Redesigned the role of customer support and tech support to drive customer success, adoption of new value and reduce churn​</a:t>
            </a:r>
            <a:endParaRPr lang="en-US" dirty="0">
              <a:effectLst/>
            </a:endParaRPr>
          </a:p>
          <a:p>
            <a:pPr marL="342900" indent="-342900">
              <a:lnSpc>
                <a:spcPct val="100000"/>
              </a:lnSpc>
              <a:buFont typeface="Arial" panose="020B0604020202020204" pitchFamily="34" charset="0"/>
              <a:buChar char="•"/>
            </a:pPr>
            <a:r>
              <a:rPr lang="en-US">
                <a:effectLst/>
              </a:rPr>
              <a:t>Drove executive alignment and decisions on prioritization of initiatives  and UX/UI design direction from a shared vision  </a:t>
            </a:r>
            <a:endParaRPr lang="en-US" dirty="0">
              <a:effectLst/>
            </a:endParaRPr>
          </a:p>
        </p:txBody>
      </p:sp>
      <p:sp>
        <p:nvSpPr>
          <p:cNvPr id="4" name="Text Placeholder 3">
            <a:extLst>
              <a:ext uri="{FF2B5EF4-FFF2-40B4-BE49-F238E27FC236}">
                <a16:creationId xmlns:a16="http://schemas.microsoft.com/office/drawing/2014/main" id="{A690DDE3-70C7-6B44-3414-86E1A9BAF5A9}"/>
              </a:ext>
            </a:extLst>
          </p:cNvPr>
          <p:cNvSpPr>
            <a:spLocks noGrp="1"/>
          </p:cNvSpPr>
          <p:nvPr>
            <p:ph type="body" sz="quarter" idx="10"/>
          </p:nvPr>
        </p:nvSpPr>
        <p:spPr/>
        <p:txBody>
          <a:bodyPr/>
          <a:lstStyle/>
          <a:p>
            <a:r>
              <a:rPr lang="en-US"/>
              <a:t>National health insurance</a:t>
            </a:r>
          </a:p>
        </p:txBody>
      </p:sp>
      <p:sp>
        <p:nvSpPr>
          <p:cNvPr id="5" name="Text Placeholder 4">
            <a:extLst>
              <a:ext uri="{FF2B5EF4-FFF2-40B4-BE49-F238E27FC236}">
                <a16:creationId xmlns:a16="http://schemas.microsoft.com/office/drawing/2014/main" id="{F6AA8587-E982-50AA-45CE-F9DB13FE40E5}"/>
              </a:ext>
            </a:extLst>
          </p:cNvPr>
          <p:cNvSpPr>
            <a:spLocks noGrp="1"/>
          </p:cNvSpPr>
          <p:nvPr>
            <p:ph type="body" sz="quarter" idx="11"/>
          </p:nvPr>
        </p:nvSpPr>
        <p:spPr/>
        <p:txBody>
          <a:bodyPr/>
          <a:lstStyle/>
          <a:p>
            <a:r>
              <a:rPr lang="en-US">
                <a:effectLst/>
                <a:latin typeface="Source Serif 4 14pt Light" panose="02040403040405020204" pitchFamily="18" charset="0"/>
                <a:ea typeface="Source Serif 4 14pt Light" panose="02040403040405020204" pitchFamily="18" charset="0"/>
              </a:rPr>
              <a:t>Redesigning the customer service model</a:t>
            </a:r>
            <a:endParaRPr lang="en-US"/>
          </a:p>
        </p:txBody>
      </p:sp>
      <p:sp>
        <p:nvSpPr>
          <p:cNvPr id="14" name="Text 1">
            <a:extLst>
              <a:ext uri="{FF2B5EF4-FFF2-40B4-BE49-F238E27FC236}">
                <a16:creationId xmlns:a16="http://schemas.microsoft.com/office/drawing/2014/main" id="{D388BC5B-A6E9-E6A1-1A28-671E1205C786}"/>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2" name="Graphic 1">
            <a:extLst>
              <a:ext uri="{FF2B5EF4-FFF2-40B4-BE49-F238E27FC236}">
                <a16:creationId xmlns:a16="http://schemas.microsoft.com/office/drawing/2014/main" id="{0D8B106D-4457-C9A5-BC68-C7C3FFF80039}"/>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2764692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Picture Placeholder 30">
            <a:extLst>
              <a:ext uri="{FF2B5EF4-FFF2-40B4-BE49-F238E27FC236}">
                <a16:creationId xmlns:a16="http://schemas.microsoft.com/office/drawing/2014/main" id="{01C9CD88-E4B0-958B-F482-5B299A3BC544}"/>
              </a:ext>
            </a:extLst>
          </p:cNvPr>
          <p:cNvPicPr>
            <a:picLocks noGrp="1" noChangeAspect="1"/>
          </p:cNvPicPr>
          <p:nvPr>
            <p:ph type="pic" sz="quarter" idx="12"/>
          </p:nvPr>
        </p:nvPicPr>
        <p:blipFill>
          <a:blip r:embed="rId3" cstate="email">
            <a:extLst>
              <a:ext uri="{28A0092B-C50C-407E-A947-70E740481C1C}">
                <a14:useLocalDpi xmlns:a14="http://schemas.microsoft.com/office/drawing/2010/main"/>
              </a:ext>
            </a:extLst>
          </a:blip>
          <a:srcRect/>
          <a:stretch/>
        </p:blipFill>
        <p:spPr/>
      </p:pic>
      <p:sp>
        <p:nvSpPr>
          <p:cNvPr id="4" name="Text Placeholder 3">
            <a:extLst>
              <a:ext uri="{FF2B5EF4-FFF2-40B4-BE49-F238E27FC236}">
                <a16:creationId xmlns:a16="http://schemas.microsoft.com/office/drawing/2014/main" id="{0678B91C-9037-0820-D603-1BC255236D38}"/>
              </a:ext>
            </a:extLst>
          </p:cNvPr>
          <p:cNvSpPr>
            <a:spLocks noGrp="1"/>
          </p:cNvSpPr>
          <p:nvPr>
            <p:ph type="body" sz="quarter" idx="17"/>
          </p:nvPr>
        </p:nvSpPr>
        <p:spPr/>
        <p:txBody>
          <a:bodyPr lIns="0" tIns="0" rIns="0" bIns="0" anchor="t">
            <a:noAutofit/>
          </a:bodyPr>
          <a:lstStyle/>
          <a:p>
            <a:pPr>
              <a:lnSpc>
                <a:spcPct val="100000"/>
              </a:lnSpc>
            </a:pPr>
            <a:r>
              <a:rPr lang="en-US" b="1" dirty="0">
                <a:latin typeface="EYInterstate Light"/>
                <a:ea typeface="EYInterstate Regular"/>
              </a:rPr>
              <a:t>Situation</a:t>
            </a:r>
          </a:p>
          <a:p>
            <a:pPr>
              <a:lnSpc>
                <a:spcPct val="100000"/>
              </a:lnSpc>
            </a:pPr>
            <a:r>
              <a:rPr lang="en-US" dirty="0"/>
              <a:t>A regulatory and ethical services provider engaged us to help them envision a new IRB (institutional review board) submission experience. IRB submission occurs within a complex ecosystem of stakeholders, tools, and processes, resulting in inefficiencies, communication breakdowns, and delays. The client wished to move toward a user-centered process and become a more user-centric organization</a:t>
            </a:r>
          </a:p>
          <a:p>
            <a:pPr>
              <a:lnSpc>
                <a:spcPct val="100000"/>
              </a:lnSpc>
            </a:pPr>
            <a:endParaRPr lang="en-US" dirty="0">
              <a:latin typeface="EYInterstate Light"/>
              <a:ea typeface="EYInterstate Regular"/>
            </a:endParaRPr>
          </a:p>
          <a:p>
            <a:pPr>
              <a:lnSpc>
                <a:spcPct val="100000"/>
              </a:lnSpc>
            </a:pPr>
            <a:r>
              <a:rPr lang="en-US" b="1" dirty="0">
                <a:latin typeface="EYInterstate Light"/>
                <a:ea typeface="EYInterstate Regular"/>
              </a:rPr>
              <a:t>Solution</a:t>
            </a:r>
            <a:br>
              <a:rPr lang="en-US" dirty="0">
                <a:latin typeface="EYInterstate Light"/>
              </a:rPr>
            </a:br>
            <a:r>
              <a:rPr lang="en-US" dirty="0"/>
              <a:t>By taking a multidisciplinary approach to discovery, we leveraged user, business, and technical insight to define the initial product vision and backlog. The redesign led to an innovative approach in the IRB submission process, resulting in advanced performance, increased user satisfaction, and market differentiation. </a:t>
            </a:r>
          </a:p>
        </p:txBody>
      </p:sp>
      <p:sp>
        <p:nvSpPr>
          <p:cNvPr id="5" name="Text Placeholder 4">
            <a:extLst>
              <a:ext uri="{FF2B5EF4-FFF2-40B4-BE49-F238E27FC236}">
                <a16:creationId xmlns:a16="http://schemas.microsoft.com/office/drawing/2014/main" id="{58918790-D5AB-FBD2-5525-1B0DA99FD7EE}"/>
              </a:ext>
            </a:extLst>
          </p:cNvPr>
          <p:cNvSpPr>
            <a:spLocks noGrp="1"/>
          </p:cNvSpPr>
          <p:nvPr>
            <p:ph type="body" sz="quarter" idx="18"/>
          </p:nvPr>
        </p:nvSpPr>
        <p:spPr>
          <a:xfrm>
            <a:off x="14346900" y="1936463"/>
            <a:ext cx="8336924" cy="1524000"/>
          </a:xfrm>
        </p:spPr>
        <p:txBody>
          <a:bodyPr lIns="0" tIns="0" rIns="0" bIns="0" anchor="t">
            <a:noAutofit/>
          </a:bodyPr>
          <a:lstStyle/>
          <a:p>
            <a:r>
              <a:rPr lang="en-US" dirty="0">
                <a:effectLst/>
                <a:latin typeface="Source Serif 4 14pt Light"/>
              </a:rPr>
              <a:t>Innovating, thinking and designing with users in mind</a:t>
            </a:r>
            <a:endParaRPr lang="en-US" dirty="0">
              <a:latin typeface="Source Serif 4 14pt Light"/>
            </a:endParaRPr>
          </a:p>
        </p:txBody>
      </p:sp>
      <p:sp>
        <p:nvSpPr>
          <p:cNvPr id="32" name="Text 1">
            <a:extLst>
              <a:ext uri="{FF2B5EF4-FFF2-40B4-BE49-F238E27FC236}">
                <a16:creationId xmlns:a16="http://schemas.microsoft.com/office/drawing/2014/main" id="{BA3C8F68-69B5-8EB0-A561-545C6861BA50}"/>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grpSp>
        <p:nvGrpSpPr>
          <p:cNvPr id="21" name="Group 20">
            <a:extLst>
              <a:ext uri="{FF2B5EF4-FFF2-40B4-BE49-F238E27FC236}">
                <a16:creationId xmlns:a16="http://schemas.microsoft.com/office/drawing/2014/main" id="{0E8EDC59-20A6-3908-1866-4E23349C70B3}"/>
              </a:ext>
            </a:extLst>
          </p:cNvPr>
          <p:cNvGrpSpPr/>
          <p:nvPr/>
        </p:nvGrpSpPr>
        <p:grpSpPr>
          <a:xfrm>
            <a:off x="1447336" y="2658844"/>
            <a:ext cx="9422534" cy="6584946"/>
            <a:chOff x="1349544" y="3305175"/>
            <a:chExt cx="10167620" cy="7105650"/>
          </a:xfrm>
        </p:grpSpPr>
        <p:grpSp>
          <p:nvGrpSpPr>
            <p:cNvPr id="8" name="Group 7">
              <a:extLst>
                <a:ext uri="{FF2B5EF4-FFF2-40B4-BE49-F238E27FC236}">
                  <a16:creationId xmlns:a16="http://schemas.microsoft.com/office/drawing/2014/main" id="{46F10D05-FFFA-DBA4-9F52-500F1BA144C6}"/>
                </a:ext>
              </a:extLst>
            </p:cNvPr>
            <p:cNvGrpSpPr/>
            <p:nvPr/>
          </p:nvGrpSpPr>
          <p:grpSpPr>
            <a:xfrm>
              <a:off x="1349544" y="3305175"/>
              <a:ext cx="10167620" cy="7105650"/>
              <a:chOff x="1349544" y="3305175"/>
              <a:chExt cx="10167620" cy="7105650"/>
            </a:xfrm>
          </p:grpSpPr>
          <p:sp>
            <p:nvSpPr>
              <p:cNvPr id="9" name="Shape 7">
                <a:extLst>
                  <a:ext uri="{FF2B5EF4-FFF2-40B4-BE49-F238E27FC236}">
                    <a16:creationId xmlns:a16="http://schemas.microsoft.com/office/drawing/2014/main" id="{C3BB5C42-4CF3-45FF-8587-1E2E1D664B02}"/>
                  </a:ext>
                </a:extLst>
              </p:cNvPr>
              <p:cNvSpPr/>
              <p:nvPr/>
            </p:nvSpPr>
            <p:spPr>
              <a:xfrm>
                <a:off x="1359070" y="3314700"/>
                <a:ext cx="10148568" cy="7086600"/>
              </a:xfrm>
              <a:prstGeom prst="rect">
                <a:avLst/>
              </a:prstGeom>
              <a:noFill/>
              <a:ln/>
            </p:spPr>
            <p:txBody>
              <a:bodyPr/>
              <a:lstStyle/>
              <a:p>
                <a:endParaRPr lang="es-AR"/>
              </a:p>
            </p:txBody>
          </p:sp>
          <p:pic>
            <p:nvPicPr>
              <p:cNvPr id="10" name="Image 6" descr=" ">
                <a:extLst>
                  <a:ext uri="{FF2B5EF4-FFF2-40B4-BE49-F238E27FC236}">
                    <a16:creationId xmlns:a16="http://schemas.microsoft.com/office/drawing/2014/main" id="{2187DB2D-D42A-66B0-00BF-9F583680BC7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49544" y="3305175"/>
                <a:ext cx="10167620" cy="6797985"/>
              </a:xfrm>
              <a:prstGeom prst="rect">
                <a:avLst/>
              </a:prstGeom>
            </p:spPr>
          </p:pic>
          <p:pic>
            <p:nvPicPr>
              <p:cNvPr id="11" name="Image 7" descr=" ">
                <a:extLst>
                  <a:ext uri="{FF2B5EF4-FFF2-40B4-BE49-F238E27FC236}">
                    <a16:creationId xmlns:a16="http://schemas.microsoft.com/office/drawing/2014/main" id="{A3117877-4411-798E-C232-C9644BFD194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49544" y="10084107"/>
                <a:ext cx="10166964" cy="326718"/>
              </a:xfrm>
              <a:prstGeom prst="rect">
                <a:avLst/>
              </a:prstGeom>
            </p:spPr>
          </p:pic>
          <p:pic>
            <p:nvPicPr>
              <p:cNvPr id="12" name="Image 8" descr=" ">
                <a:extLst>
                  <a:ext uri="{FF2B5EF4-FFF2-40B4-BE49-F238E27FC236}">
                    <a16:creationId xmlns:a16="http://schemas.microsoft.com/office/drawing/2014/main" id="{162F82FF-95E0-D9CF-58DC-3231DB515D8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20918" y="10084107"/>
                <a:ext cx="1424873" cy="101095"/>
              </a:xfrm>
              <a:prstGeom prst="rect">
                <a:avLst/>
              </a:prstGeom>
            </p:spPr>
          </p:pic>
          <p:pic>
            <p:nvPicPr>
              <p:cNvPr id="13" name="Image 9" descr=" ">
                <a:extLst>
                  <a:ext uri="{FF2B5EF4-FFF2-40B4-BE49-F238E27FC236}">
                    <a16:creationId xmlns:a16="http://schemas.microsoft.com/office/drawing/2014/main" id="{3569056A-9660-3F63-11AA-D73CDEFAAC5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359805" y="10258453"/>
                <a:ext cx="10147099" cy="19050"/>
              </a:xfrm>
              <a:prstGeom prst="rect">
                <a:avLst/>
              </a:prstGeom>
            </p:spPr>
          </p:pic>
          <p:pic>
            <p:nvPicPr>
              <p:cNvPr id="14" name="Image 10" descr=" ">
                <a:extLst>
                  <a:ext uri="{FF2B5EF4-FFF2-40B4-BE49-F238E27FC236}">
                    <a16:creationId xmlns:a16="http://schemas.microsoft.com/office/drawing/2014/main" id="{AF889871-5EB3-C12E-9DF0-CA9A747E8206}"/>
                  </a:ext>
                </a:extLst>
              </p:cNvPr>
              <p:cNvPicPr>
                <a:picLocks noChangeAspect="1"/>
              </p:cNvPicPr>
              <p:nvPr/>
            </p:nvPicPr>
            <p:blipFill>
              <a:blip r:embed="rId12">
                <a:extLst>
                  <a:ext uri="{28A0092B-C50C-407E-A947-70E740481C1C}">
                    <a14:useLocalDpi xmlns:a14="http://schemas.microsoft.com/office/drawing/2010/main"/>
                  </a:ext>
                </a:extLst>
              </a:blip>
              <a:stretch>
                <a:fillRect/>
              </a:stretch>
            </p:blipFill>
            <p:spPr>
              <a:xfrm>
                <a:off x="1625803" y="3708400"/>
                <a:ext cx="9589699" cy="5994078"/>
              </a:xfrm>
              <a:prstGeom prst="rect">
                <a:avLst/>
              </a:prstGeom>
            </p:spPr>
          </p:pic>
          <p:sp>
            <p:nvSpPr>
              <p:cNvPr id="15" name="Shape 8">
                <a:extLst>
                  <a:ext uri="{FF2B5EF4-FFF2-40B4-BE49-F238E27FC236}">
                    <a16:creationId xmlns:a16="http://schemas.microsoft.com/office/drawing/2014/main" id="{18A209AC-5BDB-D03F-E06E-4FCFE4655CA4}"/>
                  </a:ext>
                </a:extLst>
              </p:cNvPr>
              <p:cNvSpPr/>
              <p:nvPr/>
            </p:nvSpPr>
            <p:spPr>
              <a:xfrm>
                <a:off x="1625803" y="3708400"/>
                <a:ext cx="9589699" cy="5994078"/>
              </a:xfrm>
              <a:prstGeom prst="roundRect">
                <a:avLst>
                  <a:gd name="adj" fmla="val 153"/>
                </a:avLst>
              </a:prstGeom>
              <a:noFill/>
              <a:ln w="25400">
                <a:solidFill>
                  <a:srgbClr val="FFFFFF">
                    <a:alpha val="50000"/>
                  </a:srgbClr>
                </a:solidFill>
                <a:prstDash val="solid"/>
              </a:ln>
            </p:spPr>
            <p:txBody>
              <a:bodyPr/>
              <a:lstStyle/>
              <a:p>
                <a:endParaRPr lang="es-AR"/>
              </a:p>
            </p:txBody>
          </p:sp>
          <p:pic>
            <p:nvPicPr>
              <p:cNvPr id="16" name="Image 11" descr=" ">
                <a:extLst>
                  <a:ext uri="{FF2B5EF4-FFF2-40B4-BE49-F238E27FC236}">
                    <a16:creationId xmlns:a16="http://schemas.microsoft.com/office/drawing/2014/main" id="{E3AB7B86-09CD-CA57-7E8E-C6D2DC70CF5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387886" y="3489722"/>
                <a:ext cx="90910" cy="90903"/>
              </a:xfrm>
              <a:prstGeom prst="rect">
                <a:avLst/>
              </a:prstGeom>
            </p:spPr>
          </p:pic>
        </p:grpSp>
        <p:pic>
          <p:nvPicPr>
            <p:cNvPr id="7" name="Picture 6" descr="A screenshot of a computer&#10;&#10;Description automatically generated">
              <a:extLst>
                <a:ext uri="{FF2B5EF4-FFF2-40B4-BE49-F238E27FC236}">
                  <a16:creationId xmlns:a16="http://schemas.microsoft.com/office/drawing/2014/main" id="{83A9F600-56A5-8D7C-51CD-71EEE2B3CBCE}"/>
                </a:ext>
              </a:extLst>
            </p:cNvPr>
            <p:cNvPicPr>
              <a:picLocks noChangeAspect="1"/>
            </p:cNvPicPr>
            <p:nvPr/>
          </p:nvPicPr>
          <p:blipFill rotWithShape="1">
            <a:blip r:embed="rId15" cstate="email">
              <a:extLst>
                <a:ext uri="{28A0092B-C50C-407E-A947-70E740481C1C}">
                  <a14:useLocalDpi xmlns:a14="http://schemas.microsoft.com/office/drawing/2010/main"/>
                </a:ext>
              </a:extLst>
            </a:blip>
            <a:srcRect/>
            <a:stretch/>
          </p:blipFill>
          <p:spPr>
            <a:xfrm>
              <a:off x="1640697" y="3708401"/>
              <a:ext cx="9584330" cy="5994077"/>
            </a:xfrm>
            <a:prstGeom prst="rect">
              <a:avLst/>
            </a:prstGeom>
          </p:spPr>
        </p:pic>
        <p:sp>
          <p:nvSpPr>
            <p:cNvPr id="17" name="Rectangle 16">
              <a:extLst>
                <a:ext uri="{FF2B5EF4-FFF2-40B4-BE49-F238E27FC236}">
                  <a16:creationId xmlns:a16="http://schemas.microsoft.com/office/drawing/2014/main" id="{03026041-3B55-7DEF-7384-5D6A7C9411DA}"/>
                </a:ext>
              </a:extLst>
            </p:cNvPr>
            <p:cNvSpPr/>
            <p:nvPr/>
          </p:nvSpPr>
          <p:spPr>
            <a:xfrm>
              <a:off x="1818167" y="3806456"/>
              <a:ext cx="1318438" cy="414670"/>
            </a:xfrm>
            <a:prstGeom prst="rect">
              <a:avLst/>
            </a:prstGeom>
            <a:solidFill>
              <a:srgbClr val="F1F6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 name="Graphic 1">
            <a:extLst>
              <a:ext uri="{FF2B5EF4-FFF2-40B4-BE49-F238E27FC236}">
                <a16:creationId xmlns:a16="http://schemas.microsoft.com/office/drawing/2014/main" id="{11A0B16F-7763-18ED-4667-F47D30900019}"/>
              </a:ext>
            </a:extLst>
          </p:cNvPr>
          <p:cNvPicPr/>
          <p:nvPr/>
        </p:nvPicPr>
        <p:blipFill>
          <a:blip r:embed="rId16">
            <a:extLst>
              <a:ext uri="{96DAC541-7B7A-43D3-8B79-37D633B846F1}">
                <asvg:svgBlip xmlns:asvg="http://schemas.microsoft.com/office/drawing/2016/SVG/main" r:embed="rId17"/>
              </a:ext>
            </a:extLst>
          </a:blip>
          <a:stretch>
            <a:fillRect/>
          </a:stretch>
        </p:blipFill>
        <p:spPr>
          <a:xfrm>
            <a:off x="457384" y="12470860"/>
            <a:ext cx="2259732" cy="876775"/>
          </a:xfrm>
          <a:prstGeom prst="rect">
            <a:avLst/>
          </a:prstGeom>
        </p:spPr>
      </p:pic>
      <p:sp>
        <p:nvSpPr>
          <p:cNvPr id="19" name="TextBox 18">
            <a:extLst>
              <a:ext uri="{FF2B5EF4-FFF2-40B4-BE49-F238E27FC236}">
                <a16:creationId xmlns:a16="http://schemas.microsoft.com/office/drawing/2014/main" id="{B13E3CAD-A60A-AD25-BE4A-2D17F1E29241}"/>
              </a:ext>
            </a:extLst>
          </p:cNvPr>
          <p:cNvSpPr txBox="1"/>
          <p:nvPr/>
        </p:nvSpPr>
        <p:spPr>
          <a:xfrm>
            <a:off x="1349544" y="724057"/>
            <a:ext cx="9422534" cy="646331"/>
          </a:xfrm>
          <a:prstGeom prst="rect">
            <a:avLst/>
          </a:prstGeom>
          <a:noFill/>
        </p:spPr>
        <p:txBody>
          <a:bodyPr wrap="square">
            <a:spAutoFit/>
          </a:bodyPr>
          <a:lstStyle/>
          <a:p>
            <a:r>
              <a:rPr lang="en-IN" sz="3600" dirty="0">
                <a:solidFill>
                  <a:schemeClr val="bg1"/>
                </a:solidFill>
                <a:latin typeface="EYInterstate Light" panose="02000506000000020004" pitchFamily="2" charset="0"/>
              </a:rPr>
              <a:t>Building new user centric experiences</a:t>
            </a:r>
          </a:p>
        </p:txBody>
      </p:sp>
      <p:sp>
        <p:nvSpPr>
          <p:cNvPr id="20" name="Text Placeholder 2">
            <a:extLst>
              <a:ext uri="{FF2B5EF4-FFF2-40B4-BE49-F238E27FC236}">
                <a16:creationId xmlns:a16="http://schemas.microsoft.com/office/drawing/2014/main" id="{4F8C13E2-4A1C-B870-2A6C-4C8EA3EC95CE}"/>
              </a:ext>
            </a:extLst>
          </p:cNvPr>
          <p:cNvSpPr txBox="1">
            <a:spLocks/>
          </p:cNvSpPr>
          <p:nvPr/>
        </p:nvSpPr>
        <p:spPr>
          <a:xfrm>
            <a:off x="1447336" y="1517387"/>
            <a:ext cx="9881100" cy="788485"/>
          </a:xfrm>
          <a:prstGeom prst="rect">
            <a:avLst/>
          </a:prstGeom>
        </p:spPr>
        <p:txBody>
          <a:bodyPr lIns="0" tIns="0" rIns="0" bIns="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dirty="0">
                <a:solidFill>
                  <a:schemeClr val="bg1"/>
                </a:solidFill>
                <a:latin typeface="EYInterstate Light" panose="02000506000000020004" pitchFamily="2" charset="0"/>
                <a:sym typeface="Arial"/>
              </a:rPr>
              <a:t>An end-to-end user-centered redesign of a clinical trials document management &amp; communication platform included contextual field research to define user needs, followed by iterative design and agile development, leading to a successful launch.</a:t>
            </a:r>
          </a:p>
        </p:txBody>
      </p:sp>
      <p:pic>
        <p:nvPicPr>
          <p:cNvPr id="23" name="Picture 22">
            <a:extLst>
              <a:ext uri="{FF2B5EF4-FFF2-40B4-BE49-F238E27FC236}">
                <a16:creationId xmlns:a16="http://schemas.microsoft.com/office/drawing/2014/main" id="{E84944DC-E445-4885-EBD3-EE6EBC448A4C}"/>
              </a:ext>
            </a:extLst>
          </p:cNvPr>
          <p:cNvPicPr>
            <a:picLocks noChangeAspect="1"/>
          </p:cNvPicPr>
          <p:nvPr/>
        </p:nvPicPr>
        <p:blipFill>
          <a:blip r:embed="rId18" cstate="email">
            <a:extLst>
              <a:ext uri="{28A0092B-C50C-407E-A947-70E740481C1C}">
                <a14:useLocalDpi xmlns:a14="http://schemas.microsoft.com/office/drawing/2010/main"/>
              </a:ext>
            </a:extLst>
          </a:blip>
          <a:stretch>
            <a:fillRect/>
          </a:stretch>
        </p:blipFill>
        <p:spPr>
          <a:xfrm>
            <a:off x="3358334" y="9493754"/>
            <a:ext cx="5476919" cy="3853881"/>
          </a:xfrm>
          <a:prstGeom prst="rect">
            <a:avLst/>
          </a:prstGeom>
        </p:spPr>
      </p:pic>
      <p:sp>
        <p:nvSpPr>
          <p:cNvPr id="24" name="Text Placeholder 2">
            <a:extLst>
              <a:ext uri="{FF2B5EF4-FFF2-40B4-BE49-F238E27FC236}">
                <a16:creationId xmlns:a16="http://schemas.microsoft.com/office/drawing/2014/main" id="{DC040DC6-31DE-1ED0-C21A-0E0B98BBC2FD}"/>
              </a:ext>
            </a:extLst>
          </p:cNvPr>
          <p:cNvSpPr txBox="1">
            <a:spLocks/>
          </p:cNvSpPr>
          <p:nvPr/>
        </p:nvSpPr>
        <p:spPr>
          <a:xfrm>
            <a:off x="14346900" y="11919045"/>
            <a:ext cx="7578954" cy="449660"/>
          </a:xfrm>
          <a:prstGeom prst="rect">
            <a:avLst/>
          </a:prstGeom>
        </p:spPr>
        <p:txBody>
          <a:bodyPr vert="horz" lIns="0" tIns="0" rIns="0" bIns="0" rtlCol="0">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dirty="0"/>
              <a:t>—Website Comment</a:t>
            </a:r>
          </a:p>
        </p:txBody>
      </p:sp>
      <p:sp>
        <p:nvSpPr>
          <p:cNvPr id="25" name="Text Placeholder 3">
            <a:extLst>
              <a:ext uri="{FF2B5EF4-FFF2-40B4-BE49-F238E27FC236}">
                <a16:creationId xmlns:a16="http://schemas.microsoft.com/office/drawing/2014/main" id="{0EC34E2A-72FE-5B1D-905D-56A0B9F3130D}"/>
              </a:ext>
            </a:extLst>
          </p:cNvPr>
          <p:cNvSpPr txBox="1">
            <a:spLocks/>
          </p:cNvSpPr>
          <p:nvPr/>
        </p:nvSpPr>
        <p:spPr>
          <a:xfrm>
            <a:off x="14369390" y="10398483"/>
            <a:ext cx="8512912" cy="1524000"/>
          </a:xfrm>
          <a:prstGeom prst="rect">
            <a:avLst/>
          </a:prstGeom>
        </p:spPr>
        <p:txBody>
          <a:bodyPr vert="horz" lIns="0" tIns="0" rIns="0" bIns="0" rtlCol="0" anchor="t">
            <a:noAutofit/>
          </a:bodyPr>
          <a:lstStyle>
            <a:lvl1pPr marL="0" indent="0" algn="l" defTabSz="914400" rtl="0" eaLnBrk="1" latinLnBrk="0" hangingPunct="1">
              <a:lnSpc>
                <a:spcPts val="5292"/>
              </a:lnSpc>
              <a:spcBef>
                <a:spcPts val="0"/>
              </a:spcBef>
              <a:buFont typeface="Arial" panose="020B0604020202020204" pitchFamily="34" charset="0"/>
              <a:buNone/>
              <a:defRPr sz="5400" b="0" i="0" kern="1200">
                <a:solidFill>
                  <a:schemeClr val="bg1"/>
                </a:solidFill>
                <a:latin typeface="Source Serif 4 14pt Light" panose="02040403040405020204" pitchFamily="18" charset="0"/>
                <a:ea typeface="Source Serif 4 14pt Light" panose="02040403040405020204" pitchFamily="18"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3200" i="1" dirty="0">
                <a:latin typeface="EYInterstate Light" panose="02000506000000020004" pitchFamily="2" charset="0"/>
              </a:rPr>
              <a:t>“The result? Cut submission times by 50%, and gave complete visibility into the status and timelines of IRB reviews – all in one place”</a:t>
            </a:r>
          </a:p>
        </p:txBody>
      </p:sp>
    </p:spTree>
    <p:extLst>
      <p:ext uri="{BB962C8B-B14F-4D97-AF65-F5344CB8AC3E}">
        <p14:creationId xmlns:p14="http://schemas.microsoft.com/office/powerpoint/2010/main" val="19511260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Image from iOS (1).jpg">
            <a:extLst>
              <a:ext uri="{FF2B5EF4-FFF2-40B4-BE49-F238E27FC236}">
                <a16:creationId xmlns:a16="http://schemas.microsoft.com/office/drawing/2014/main" id="{8EEC1FD8-73C4-215A-47ED-B8C1BE7A448F}"/>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 y="0"/>
            <a:ext cx="12188830" cy="13716000"/>
          </a:xfrm>
          <a:prstGeom prst="rect">
            <a:avLst/>
          </a:prstGeom>
          <a:ln w="12700">
            <a:miter lim="400000"/>
          </a:ln>
        </p:spPr>
      </p:pic>
      <p:sp>
        <p:nvSpPr>
          <p:cNvPr id="14" name="Rectangle 13">
            <a:extLst>
              <a:ext uri="{FF2B5EF4-FFF2-40B4-BE49-F238E27FC236}">
                <a16:creationId xmlns:a16="http://schemas.microsoft.com/office/drawing/2014/main" id="{16FF1433-5CB4-05C1-6DCB-621D7F8F246A}"/>
              </a:ext>
            </a:extLst>
          </p:cNvPr>
          <p:cNvSpPr/>
          <p:nvPr/>
        </p:nvSpPr>
        <p:spPr>
          <a:xfrm>
            <a:off x="0" y="0"/>
            <a:ext cx="12273279" cy="13716000"/>
          </a:xfrm>
          <a:prstGeom prst="rect">
            <a:avLst/>
          </a:prstGeom>
          <a:solidFill>
            <a:schemeClr val="tx1">
              <a:alpha val="4611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2BBB25F9-7CC5-BBE8-8724-90C1BAFE6BCD}"/>
              </a:ext>
            </a:extLst>
          </p:cNvPr>
          <p:cNvSpPr>
            <a:spLocks noGrp="1"/>
          </p:cNvSpPr>
          <p:nvPr>
            <p:ph type="body" sz="quarter" idx="17"/>
          </p:nvPr>
        </p:nvSpPr>
        <p:spPr/>
        <p:txBody>
          <a:bodyPr/>
          <a:lstStyle/>
          <a:p>
            <a:pPr>
              <a:lnSpc>
                <a:spcPct val="100000"/>
              </a:lnSpc>
            </a:pPr>
            <a:r>
              <a:rPr lang="en-US" dirty="0"/>
              <a:t>This global pharmaceutical company conducted a digital transformation to better support the safe and efficient formulation and distribution of life-saving pharmaceuticals. Using a human-centered approach, our team worked to uncover and creatively explore opportunities to streamline and connect dozens of digital manufacturing solutions, for a group of users ranging from “the shop floor to the top floor.”</a:t>
            </a:r>
            <a:br>
              <a:rPr lang="en-US" dirty="0"/>
            </a:br>
            <a:endParaRPr lang="en-US" dirty="0"/>
          </a:p>
          <a:p>
            <a:pPr>
              <a:lnSpc>
                <a:spcPct val="100000"/>
              </a:lnSpc>
            </a:pPr>
            <a:r>
              <a:rPr lang="en-US" dirty="0"/>
              <a:t>From conducting usability research and testing with 80+ users around the world to creating high-fidelity prototype designs, we are working to create streamlined guided experiences from historically disparate digital solutions.</a:t>
            </a:r>
          </a:p>
          <a:p>
            <a:pPr>
              <a:lnSpc>
                <a:spcPct val="100000"/>
              </a:lnSpc>
            </a:pPr>
            <a:endParaRPr lang="en-US" dirty="0"/>
          </a:p>
          <a:p>
            <a:pPr lvl="0">
              <a:lnSpc>
                <a:spcPct val="100000"/>
              </a:lnSpc>
            </a:pPr>
            <a:r>
              <a:rPr lang="en-US" noProof="0" dirty="0"/>
              <a:t>Services we provided:</a:t>
            </a:r>
            <a:endParaRPr lang="en-US" dirty="0"/>
          </a:p>
          <a:p>
            <a:pPr lvl="0">
              <a:lnSpc>
                <a:spcPct val="100000"/>
              </a:lnSpc>
            </a:pPr>
            <a:r>
              <a:rPr lang="en-US" noProof="0" dirty="0"/>
              <a:t>Design Research</a:t>
            </a:r>
            <a:br>
              <a:rPr lang="en-US" noProof="0" dirty="0"/>
            </a:br>
            <a:r>
              <a:rPr lang="en-US" noProof="0" dirty="0"/>
              <a:t>Product Strategy &amp; Ownership</a:t>
            </a:r>
            <a:br>
              <a:rPr lang="en-US" noProof="0" dirty="0"/>
            </a:br>
            <a:r>
              <a:rPr lang="en-US" noProof="0" dirty="0"/>
              <a:t>User testing &amp; validation </a:t>
            </a:r>
            <a:br>
              <a:rPr lang="en-US" noProof="0" dirty="0"/>
            </a:br>
            <a:r>
              <a:rPr lang="en-US" noProof="0" dirty="0"/>
              <a:t>Prototyping</a:t>
            </a:r>
            <a:br>
              <a:rPr lang="en-US" dirty="0"/>
            </a:br>
            <a:r>
              <a:rPr lang="en-US" dirty="0"/>
              <a:t>Digital Strategy</a:t>
            </a:r>
          </a:p>
          <a:p>
            <a:pPr lvl="0">
              <a:lnSpc>
                <a:spcPct val="100000"/>
              </a:lnSpc>
            </a:pPr>
            <a:r>
              <a:rPr lang="en-US" noProof="0" dirty="0" err="1"/>
              <a:t>DesignOps</a:t>
            </a:r>
            <a:endParaRPr lang="en-US" noProof="0" dirty="0"/>
          </a:p>
        </p:txBody>
      </p:sp>
      <p:sp>
        <p:nvSpPr>
          <p:cNvPr id="21" name="Text Placeholder 20">
            <a:extLst>
              <a:ext uri="{FF2B5EF4-FFF2-40B4-BE49-F238E27FC236}">
                <a16:creationId xmlns:a16="http://schemas.microsoft.com/office/drawing/2014/main" id="{8B34E1D8-22BE-BA14-CB69-4E4CB8759867}"/>
              </a:ext>
            </a:extLst>
          </p:cNvPr>
          <p:cNvSpPr>
            <a:spLocks noGrp="1"/>
          </p:cNvSpPr>
          <p:nvPr>
            <p:ph type="body" sz="quarter" idx="10"/>
          </p:nvPr>
        </p:nvSpPr>
        <p:spPr/>
        <p:txBody>
          <a:bodyPr/>
          <a:lstStyle/>
          <a:p>
            <a:r>
              <a:rPr lang="en-US"/>
              <a:t>GLOBAL PHARMACEUTICAL MANUFACTURING</a:t>
            </a:r>
          </a:p>
          <a:p>
            <a:endParaRPr lang="en-US"/>
          </a:p>
        </p:txBody>
      </p:sp>
      <p:sp>
        <p:nvSpPr>
          <p:cNvPr id="4" name="Text Placeholder 3">
            <a:extLst>
              <a:ext uri="{FF2B5EF4-FFF2-40B4-BE49-F238E27FC236}">
                <a16:creationId xmlns:a16="http://schemas.microsoft.com/office/drawing/2014/main" id="{ECB7A10B-FE42-E7B4-DC64-7EEE0E6BD6C3}"/>
              </a:ext>
            </a:extLst>
          </p:cNvPr>
          <p:cNvSpPr>
            <a:spLocks noGrp="1"/>
          </p:cNvSpPr>
          <p:nvPr>
            <p:ph type="body" sz="quarter" idx="11"/>
          </p:nvPr>
        </p:nvSpPr>
        <p:spPr>
          <a:xfrm>
            <a:off x="2352560" y="1813560"/>
            <a:ext cx="8264639" cy="4079240"/>
          </a:xfrm>
        </p:spPr>
        <p:txBody>
          <a:bodyPr anchor="t"/>
          <a:lstStyle/>
          <a:p>
            <a:r>
              <a:rPr lang="en-US"/>
              <a:t>Digital transformation for global pharmaceutical manufacturing</a:t>
            </a:r>
          </a:p>
        </p:txBody>
      </p:sp>
      <p:sp>
        <p:nvSpPr>
          <p:cNvPr id="13" name="Text Placeholder 1">
            <a:extLst>
              <a:ext uri="{FF2B5EF4-FFF2-40B4-BE49-F238E27FC236}">
                <a16:creationId xmlns:a16="http://schemas.microsoft.com/office/drawing/2014/main" id="{C5F2E6E2-43B9-9F71-7A6F-0C149ED0686E}"/>
              </a:ext>
            </a:extLst>
          </p:cNvPr>
          <p:cNvSpPr txBox="1">
            <a:spLocks/>
          </p:cNvSpPr>
          <p:nvPr/>
        </p:nvSpPr>
        <p:spPr>
          <a:xfrm>
            <a:off x="1" y="334107"/>
            <a:ext cx="24387174" cy="5746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3200" kern="100" spc="320">
              <a:solidFill>
                <a:schemeClr val="bg1"/>
              </a:solidFill>
              <a:latin typeface="EYInterstate Regular" panose="02000503020000020004" pitchFamily="2" charset="0"/>
            </a:endParaRPr>
          </a:p>
        </p:txBody>
      </p:sp>
      <p:sp>
        <p:nvSpPr>
          <p:cNvPr id="12" name="Text 1">
            <a:extLst>
              <a:ext uri="{FF2B5EF4-FFF2-40B4-BE49-F238E27FC236}">
                <a16:creationId xmlns:a16="http://schemas.microsoft.com/office/drawing/2014/main" id="{B1BFD4A5-4520-1F9A-62DD-8EF4DF04DF36}"/>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2" name="Graphic 1">
            <a:extLst>
              <a:ext uri="{FF2B5EF4-FFF2-40B4-BE49-F238E27FC236}">
                <a16:creationId xmlns:a16="http://schemas.microsoft.com/office/drawing/2014/main" id="{058786E9-0311-69C7-1516-DA91E190BE37}"/>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2554427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1" name="Picture 10" descr="A person holding a bottle of medicine&#10;&#10;Description automatically generated">
            <a:extLst>
              <a:ext uri="{FF2B5EF4-FFF2-40B4-BE49-F238E27FC236}">
                <a16:creationId xmlns:a16="http://schemas.microsoft.com/office/drawing/2014/main" id="{A71DA584-E201-CADE-06C8-DB7DA6997DB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 y="0"/>
            <a:ext cx="12236431" cy="13716000"/>
          </a:xfrm>
          <a:prstGeom prst="rect">
            <a:avLst/>
          </a:prstGeom>
        </p:spPr>
      </p:pic>
      <p:sp>
        <p:nvSpPr>
          <p:cNvPr id="14" name="Rectangle 13">
            <a:extLst>
              <a:ext uri="{FF2B5EF4-FFF2-40B4-BE49-F238E27FC236}">
                <a16:creationId xmlns:a16="http://schemas.microsoft.com/office/drawing/2014/main" id="{16FF1433-5CB4-05C1-6DCB-621D7F8F246A}"/>
              </a:ext>
            </a:extLst>
          </p:cNvPr>
          <p:cNvSpPr/>
          <p:nvPr/>
        </p:nvSpPr>
        <p:spPr>
          <a:xfrm>
            <a:off x="0" y="0"/>
            <a:ext cx="12272211" cy="13716000"/>
          </a:xfrm>
          <a:prstGeom prst="rect">
            <a:avLst/>
          </a:prstGeom>
          <a:solidFill>
            <a:schemeClr val="tx1">
              <a:alpha val="3143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1C6DD889-1E97-EDB1-BB82-48D8BC4C4F3D}"/>
              </a:ext>
            </a:extLst>
          </p:cNvPr>
          <p:cNvSpPr>
            <a:spLocks noGrp="1"/>
          </p:cNvSpPr>
          <p:nvPr>
            <p:ph type="body" sz="quarter" idx="17"/>
          </p:nvPr>
        </p:nvSpPr>
        <p:spPr/>
        <p:txBody>
          <a:bodyPr/>
          <a:lstStyle/>
          <a:p>
            <a:pPr>
              <a:lnSpc>
                <a:spcPct val="100000"/>
              </a:lnSpc>
            </a:pPr>
            <a:r>
              <a:rPr lang="en-US"/>
              <a:t>The client wanted to redesign its loyalty program to drive profitable growth by reducing the cost of the program and driving increased engagement of shopper. </a:t>
            </a:r>
            <a:endParaRPr lang="en-US" dirty="0"/>
          </a:p>
          <a:p>
            <a:pPr>
              <a:lnSpc>
                <a:spcPct val="100000"/>
              </a:lnSpc>
            </a:pPr>
            <a:endParaRPr lang="en-US" dirty="0"/>
          </a:p>
          <a:p>
            <a:pPr>
              <a:lnSpc>
                <a:spcPct val="100000"/>
              </a:lnSpc>
            </a:pPr>
            <a:r>
              <a:rPr lang="en-US"/>
              <a:t>Solution</a:t>
            </a:r>
            <a:endParaRPr lang="en-US" dirty="0"/>
          </a:p>
          <a:p>
            <a:pPr marL="342900" indent="-342900">
              <a:lnSpc>
                <a:spcPct val="100000"/>
              </a:lnSpc>
              <a:buFont typeface="Arial" panose="020B0604020202020204" pitchFamily="34" charset="0"/>
              <a:buChar char="•"/>
            </a:pPr>
            <a:r>
              <a:rPr lang="en-US"/>
              <a:t>EY provided benchmark comparison of costs &amp; business benefits;  tested hypotheses to streamline costs and drive growth</a:t>
            </a:r>
            <a:endParaRPr lang="en-US" dirty="0"/>
          </a:p>
          <a:p>
            <a:pPr marL="342900" indent="-342900">
              <a:lnSpc>
                <a:spcPct val="100000"/>
              </a:lnSpc>
              <a:buFont typeface="Arial" panose="020B0604020202020204" pitchFamily="34" charset="0"/>
              <a:buChar char="•"/>
            </a:pPr>
            <a:r>
              <a:rPr lang="en-US"/>
              <a:t>EY conducted quantitative analysis to test potential program features, and build the business case for redesign</a:t>
            </a:r>
            <a:endParaRPr lang="en-US" dirty="0"/>
          </a:p>
          <a:p>
            <a:pPr marL="342900" indent="-342900">
              <a:lnSpc>
                <a:spcPct val="100000"/>
              </a:lnSpc>
              <a:buFont typeface="Arial" panose="020B0604020202020204" pitchFamily="34" charset="0"/>
              <a:buChar char="•"/>
            </a:pPr>
            <a:r>
              <a:rPr lang="en-US"/>
              <a:t>EY built conjoint model with customer preferences to determine best benefit combinations; segmentation model to identify and size opportunity to grow and retain shoppers</a:t>
            </a:r>
            <a:endParaRPr lang="en-US" dirty="0"/>
          </a:p>
          <a:p>
            <a:pPr marL="342900" indent="-342900">
              <a:lnSpc>
                <a:spcPct val="100000"/>
              </a:lnSpc>
              <a:buFont typeface="Arial" panose="020B0604020202020204" pitchFamily="34" charset="0"/>
              <a:buChar char="•"/>
            </a:pPr>
            <a:r>
              <a:rPr lang="en-US"/>
              <a:t>EY estimated price elasticities to optimize loyalty program promotional discounts</a:t>
            </a:r>
            <a:endParaRPr lang="en-US" dirty="0"/>
          </a:p>
          <a:p>
            <a:pPr>
              <a:lnSpc>
                <a:spcPct val="100000"/>
              </a:lnSpc>
            </a:pPr>
            <a:endParaRPr lang="en-US" dirty="0"/>
          </a:p>
          <a:p>
            <a:pPr>
              <a:lnSpc>
                <a:spcPct val="100000"/>
              </a:lnSpc>
            </a:pPr>
            <a:r>
              <a:rPr lang="en-US"/>
              <a:t>Developed a more cost-efficient future program while minimizing impact to sales and customer retention</a:t>
            </a:r>
            <a:endParaRPr lang="en-US" dirty="0"/>
          </a:p>
          <a:p>
            <a:pPr>
              <a:lnSpc>
                <a:spcPct val="100000"/>
              </a:lnSpc>
            </a:pPr>
            <a:r>
              <a:rPr lang="en-US"/>
              <a:t>Redesigned program expected to improve margin by over $100M through reduced program costs and acquired customers</a:t>
            </a:r>
            <a:endParaRPr lang="en-US" dirty="0"/>
          </a:p>
          <a:p>
            <a:pPr>
              <a:lnSpc>
                <a:spcPct val="100000"/>
              </a:lnSpc>
            </a:pPr>
            <a:endParaRPr lang="en-US" dirty="0"/>
          </a:p>
          <a:p>
            <a:pPr>
              <a:lnSpc>
                <a:spcPct val="100000"/>
              </a:lnSpc>
            </a:pPr>
            <a:endParaRPr lang="en-US" dirty="0"/>
          </a:p>
        </p:txBody>
      </p:sp>
      <p:sp>
        <p:nvSpPr>
          <p:cNvPr id="3" name="Text Placeholder 2">
            <a:extLst>
              <a:ext uri="{FF2B5EF4-FFF2-40B4-BE49-F238E27FC236}">
                <a16:creationId xmlns:a16="http://schemas.microsoft.com/office/drawing/2014/main" id="{2A3C718B-AACB-4960-A0B6-625E82ED7571}"/>
              </a:ext>
            </a:extLst>
          </p:cNvPr>
          <p:cNvSpPr>
            <a:spLocks noGrp="1"/>
          </p:cNvSpPr>
          <p:nvPr>
            <p:ph type="body" sz="quarter" idx="10"/>
          </p:nvPr>
        </p:nvSpPr>
        <p:spPr/>
        <p:txBody>
          <a:bodyPr vert="horz" lIns="0" tIns="0" rIns="0" bIns="0" rtlCol="0" anchor="t">
            <a:noAutofit/>
          </a:bodyPr>
          <a:lstStyle/>
          <a:p>
            <a:r>
              <a:rPr lang="en-US"/>
              <a:t>FORTUNE 100 DRUG RETAIL CHAIN</a:t>
            </a:r>
          </a:p>
          <a:p>
            <a:endParaRPr lang="en-US"/>
          </a:p>
        </p:txBody>
      </p:sp>
      <p:sp>
        <p:nvSpPr>
          <p:cNvPr id="4" name="Text Placeholder 3">
            <a:extLst>
              <a:ext uri="{FF2B5EF4-FFF2-40B4-BE49-F238E27FC236}">
                <a16:creationId xmlns:a16="http://schemas.microsoft.com/office/drawing/2014/main" id="{ECB7A10B-FE42-E7B4-DC64-7EEE0E6BD6C3}"/>
              </a:ext>
            </a:extLst>
          </p:cNvPr>
          <p:cNvSpPr>
            <a:spLocks noGrp="1"/>
          </p:cNvSpPr>
          <p:nvPr>
            <p:ph type="body" sz="quarter" idx="11"/>
          </p:nvPr>
        </p:nvSpPr>
        <p:spPr/>
        <p:txBody>
          <a:bodyPr/>
          <a:lstStyle/>
          <a:p>
            <a:r>
              <a:rPr lang="en-US"/>
              <a:t>Redesigning customer loyalty through</a:t>
            </a:r>
            <a:br>
              <a:rPr lang="en-US"/>
            </a:br>
            <a:r>
              <a:rPr lang="en-US"/>
              <a:t>data-driven insights</a:t>
            </a:r>
          </a:p>
        </p:txBody>
      </p:sp>
      <p:sp>
        <p:nvSpPr>
          <p:cNvPr id="12" name="Text 1">
            <a:extLst>
              <a:ext uri="{FF2B5EF4-FFF2-40B4-BE49-F238E27FC236}">
                <a16:creationId xmlns:a16="http://schemas.microsoft.com/office/drawing/2014/main" id="{6A158E5E-0B33-C09A-86B7-1B7BC3CFAFD8}"/>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2" name="Graphic 1">
            <a:extLst>
              <a:ext uri="{FF2B5EF4-FFF2-40B4-BE49-F238E27FC236}">
                <a16:creationId xmlns:a16="http://schemas.microsoft.com/office/drawing/2014/main" id="{04A03E38-0F09-B742-C8D9-7547565014B6}"/>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920608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71DA584-E201-CADE-06C8-DB7DA6997DBB}"/>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r="-2"/>
          <a:stretch/>
        </p:blipFill>
        <p:spPr>
          <a:xfrm>
            <a:off x="-1" y="0"/>
            <a:ext cx="12236431" cy="13716000"/>
          </a:xfrm>
          <a:prstGeom prst="rect">
            <a:avLst/>
          </a:prstGeom>
        </p:spPr>
      </p:pic>
      <p:sp>
        <p:nvSpPr>
          <p:cNvPr id="14" name="Rectangle 13">
            <a:extLst>
              <a:ext uri="{FF2B5EF4-FFF2-40B4-BE49-F238E27FC236}">
                <a16:creationId xmlns:a16="http://schemas.microsoft.com/office/drawing/2014/main" id="{16FF1433-5CB4-05C1-6DCB-621D7F8F246A}"/>
              </a:ext>
            </a:extLst>
          </p:cNvPr>
          <p:cNvSpPr/>
          <p:nvPr/>
        </p:nvSpPr>
        <p:spPr>
          <a:xfrm>
            <a:off x="-35781" y="0"/>
            <a:ext cx="12272211" cy="13716000"/>
          </a:xfrm>
          <a:prstGeom prst="rect">
            <a:avLst/>
          </a:prstGeom>
          <a:solidFill>
            <a:schemeClr val="tx1">
              <a:alpha val="3143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3">
            <a:extLst>
              <a:ext uri="{FF2B5EF4-FFF2-40B4-BE49-F238E27FC236}">
                <a16:creationId xmlns:a16="http://schemas.microsoft.com/office/drawing/2014/main" id="{66D9553E-8C51-770F-526E-72CF880BE596}"/>
              </a:ext>
            </a:extLst>
          </p:cNvPr>
          <p:cNvSpPr>
            <a:spLocks noGrp="1"/>
          </p:cNvSpPr>
          <p:nvPr>
            <p:ph type="body" sz="quarter" idx="17"/>
          </p:nvPr>
        </p:nvSpPr>
        <p:spPr>
          <a:xfrm>
            <a:off x="14369390" y="1813560"/>
            <a:ext cx="7578954" cy="10861040"/>
          </a:xfrm>
        </p:spPr>
        <p:txBody>
          <a:bodyPr/>
          <a:lstStyle/>
          <a:p>
            <a:r>
              <a:rPr lang="en-US" noProof="0">
                <a:sym typeface="Arial"/>
              </a:rPr>
              <a:t>The Service Design team at EY partnered with one of the largest </a:t>
            </a:r>
            <a:r>
              <a:rPr lang="en-US"/>
              <a:t>pharmacy store chains in the United States</a:t>
            </a:r>
            <a:r>
              <a:rPr lang="en-US">
                <a:sym typeface="Arial"/>
              </a:rPr>
              <a:t> </a:t>
            </a:r>
            <a:r>
              <a:rPr lang="en-US" noProof="0">
                <a:sym typeface="Arial"/>
              </a:rPr>
              <a:t>to re-imagine the customer and employee experience, illustrating a portfolio of solutions for acute and chronic healthcare services within the pharmacy ecosystem.</a:t>
            </a:r>
          </a:p>
          <a:p>
            <a:endParaRPr lang="en-US"/>
          </a:p>
          <a:p>
            <a:endParaRPr lang="en-US"/>
          </a:p>
          <a:p>
            <a:r>
              <a:rPr lang="en-US"/>
              <a:t>Solution</a:t>
            </a:r>
          </a:p>
          <a:p>
            <a:r>
              <a:rPr lang="en-US" noProof="0">
                <a:sym typeface="Arial"/>
              </a:rPr>
              <a:t>We took a pioneering approach to discovery, using mixed research methods to uncover the core problems. We laid out the end-to-end journey, identified the moments that matter, and built enhanced cohesive experiences across all aspects of the journey.</a:t>
            </a:r>
            <a:endParaRPr lang="en-US"/>
          </a:p>
          <a:p>
            <a:endParaRPr lang="en-US"/>
          </a:p>
        </p:txBody>
      </p:sp>
      <p:sp>
        <p:nvSpPr>
          <p:cNvPr id="22" name="Text Placeholder 21">
            <a:extLst>
              <a:ext uri="{FF2B5EF4-FFF2-40B4-BE49-F238E27FC236}">
                <a16:creationId xmlns:a16="http://schemas.microsoft.com/office/drawing/2014/main" id="{BA07F98D-0B6D-27AC-0462-DAC0026FBA51}"/>
              </a:ext>
            </a:extLst>
          </p:cNvPr>
          <p:cNvSpPr>
            <a:spLocks noGrp="1"/>
          </p:cNvSpPr>
          <p:nvPr>
            <p:ph type="body" sz="quarter" idx="10"/>
          </p:nvPr>
        </p:nvSpPr>
        <p:spPr>
          <a:xfrm>
            <a:off x="6359325" y="320040"/>
            <a:ext cx="11668525" cy="574675"/>
          </a:xfrm>
        </p:spPr>
        <p:txBody>
          <a:bodyPr/>
          <a:lstStyle/>
          <a:p>
            <a:r>
              <a:rPr lang="en-US"/>
              <a:t>PHARMACY CHAIN</a:t>
            </a:r>
          </a:p>
          <a:p>
            <a:endParaRPr lang="en-US"/>
          </a:p>
        </p:txBody>
      </p:sp>
      <p:sp>
        <p:nvSpPr>
          <p:cNvPr id="18" name="Text Placeholder 17">
            <a:extLst>
              <a:ext uri="{FF2B5EF4-FFF2-40B4-BE49-F238E27FC236}">
                <a16:creationId xmlns:a16="http://schemas.microsoft.com/office/drawing/2014/main" id="{C1BB0308-87FB-0D60-12B6-2EE3968BA533}"/>
              </a:ext>
            </a:extLst>
          </p:cNvPr>
          <p:cNvSpPr>
            <a:spLocks noGrp="1"/>
          </p:cNvSpPr>
          <p:nvPr>
            <p:ph type="body" sz="quarter" idx="11"/>
          </p:nvPr>
        </p:nvSpPr>
        <p:spPr>
          <a:xfrm>
            <a:off x="2352561" y="1813560"/>
            <a:ext cx="7693140" cy="4079240"/>
          </a:xfrm>
        </p:spPr>
        <p:txBody>
          <a:bodyPr/>
          <a:lstStyle/>
          <a:p>
            <a:r>
              <a:rPr lang="en-US"/>
              <a:t>Reimaging the customer and employee experience</a:t>
            </a:r>
          </a:p>
          <a:p>
            <a:endParaRPr lang="en-US"/>
          </a:p>
        </p:txBody>
      </p:sp>
      <p:sp>
        <p:nvSpPr>
          <p:cNvPr id="15" name="Text 1">
            <a:extLst>
              <a:ext uri="{FF2B5EF4-FFF2-40B4-BE49-F238E27FC236}">
                <a16:creationId xmlns:a16="http://schemas.microsoft.com/office/drawing/2014/main" id="{A7E7A231-77E4-8B4B-4075-00D52BF7D966}"/>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2" name="Graphic 1">
            <a:extLst>
              <a:ext uri="{FF2B5EF4-FFF2-40B4-BE49-F238E27FC236}">
                <a16:creationId xmlns:a16="http://schemas.microsoft.com/office/drawing/2014/main" id="{B5A94F1C-E120-2399-69AB-074F3628035B}"/>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15714801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A3C718B-AACB-4960-A0B6-625E82ED7571}"/>
              </a:ext>
            </a:extLst>
          </p:cNvPr>
          <p:cNvSpPr>
            <a:spLocks noGrp="1"/>
          </p:cNvSpPr>
          <p:nvPr>
            <p:ph type="body" sz="quarter" idx="17"/>
          </p:nvPr>
        </p:nvSpPr>
        <p:spPr>
          <a:xfrm>
            <a:off x="14369389" y="2741638"/>
            <a:ext cx="8490611" cy="6045524"/>
          </a:xfrm>
        </p:spPr>
        <p:txBody>
          <a:bodyPr vert="horz" lIns="0" tIns="0" rIns="0" bIns="0" rtlCol="0" anchor="t">
            <a:noAutofit/>
          </a:bodyPr>
          <a:lstStyle/>
          <a:p>
            <a:pPr>
              <a:lnSpc>
                <a:spcPct val="100000"/>
              </a:lnSpc>
            </a:pPr>
            <a:r>
              <a:rPr lang="en-US" b="1" dirty="0">
                <a:latin typeface="EYInterstate Light"/>
                <a:cs typeface="Arial"/>
              </a:rPr>
              <a:t>Situation</a:t>
            </a:r>
          </a:p>
          <a:p>
            <a:pPr>
              <a:lnSpc>
                <a:spcPct val="100000"/>
              </a:lnSpc>
            </a:pPr>
            <a:r>
              <a:rPr lang="en-US" dirty="0">
                <a:latin typeface="EYInterstate Light"/>
                <a:cs typeface="Arial"/>
              </a:rPr>
              <a:t>When Covid-19 hit, the need for virtual healthcare solutions was urgent. In response, a national safety-net hospital began piloting potential solutions to humanize remote care delivery.</a:t>
            </a:r>
          </a:p>
          <a:p>
            <a:pPr>
              <a:lnSpc>
                <a:spcPct val="100000"/>
              </a:lnSpc>
            </a:pPr>
            <a:r>
              <a:rPr lang="en-US" dirty="0">
                <a:latin typeface="EYInterstate Light"/>
                <a:cs typeface="Arial"/>
              </a:rPr>
              <a:t>Our team was engaged to help imagine what the future of remote care could look like for both patients and providers. Motivated by the need, we innovated quickly and empathetically to deliver immediate medical access to patients and proactive support for clinical teams.</a:t>
            </a:r>
          </a:p>
          <a:p>
            <a:pPr>
              <a:lnSpc>
                <a:spcPct val="100000"/>
              </a:lnSpc>
              <a:spcBef>
                <a:spcPts val="600"/>
              </a:spcBef>
              <a:spcAft>
                <a:spcPts val="600"/>
              </a:spcAft>
            </a:pPr>
            <a:r>
              <a:rPr lang="en-US" b="1" dirty="0">
                <a:latin typeface="EYInterstate Light"/>
                <a:cs typeface="Arial"/>
              </a:rPr>
              <a:t>Results</a:t>
            </a:r>
          </a:p>
          <a:p>
            <a:pPr>
              <a:lnSpc>
                <a:spcPct val="100000"/>
              </a:lnSpc>
            </a:pPr>
            <a:r>
              <a:rPr lang="en-US" dirty="0">
                <a:latin typeface="EYInterstate Light"/>
                <a:cs typeface="Arial"/>
              </a:rPr>
              <a:t>To show the hospital what was possible, we prototyped an immersive experience that worked in tandem with a new clinical model, helping the provider rise to the moment and meet the most complex needs for the highest-use clinical tiers. Our ability to concept and refine solutions quickly convinced the client our process could even deliver against unforeseen healthcare challenges.</a:t>
            </a:r>
            <a:endParaRPr lang="en-US" dirty="0"/>
          </a:p>
        </p:txBody>
      </p:sp>
      <p:sp>
        <p:nvSpPr>
          <p:cNvPr id="4" name="Text Placeholder 3">
            <a:extLst>
              <a:ext uri="{FF2B5EF4-FFF2-40B4-BE49-F238E27FC236}">
                <a16:creationId xmlns:a16="http://schemas.microsoft.com/office/drawing/2014/main" id="{ECB7A10B-FE42-E7B4-DC64-7EEE0E6BD6C3}"/>
              </a:ext>
            </a:extLst>
          </p:cNvPr>
          <p:cNvSpPr>
            <a:spLocks noGrp="1"/>
          </p:cNvSpPr>
          <p:nvPr>
            <p:ph type="body" sz="quarter" idx="18"/>
          </p:nvPr>
        </p:nvSpPr>
        <p:spPr>
          <a:xfrm>
            <a:off x="14346900" y="1148188"/>
            <a:ext cx="9653588" cy="1524000"/>
          </a:xfrm>
        </p:spPr>
        <p:txBody>
          <a:bodyPr vert="horz" lIns="0" tIns="0" rIns="0" bIns="0" rtlCol="0" anchor="t">
            <a:noAutofit/>
          </a:bodyPr>
          <a:lstStyle/>
          <a:p>
            <a:r>
              <a:rPr lang="en-US" dirty="0">
                <a:latin typeface="Source Serif 4 14pt Light"/>
                <a:cs typeface="Arial"/>
              </a:rPr>
              <a:t>Re-imagining patient care under lockdown</a:t>
            </a:r>
            <a:endParaRPr lang="en-US" dirty="0">
              <a:cs typeface="Arial"/>
            </a:endParaRPr>
          </a:p>
          <a:p>
            <a:endParaRPr lang="en-US" dirty="0"/>
          </a:p>
        </p:txBody>
      </p:sp>
      <p:pic>
        <p:nvPicPr>
          <p:cNvPr id="5" name="Picture Placeholder 4" descr="Screens screenshot of a phone&#10;&#10;Description automatically generated with medium confidence">
            <a:extLst>
              <a:ext uri="{FF2B5EF4-FFF2-40B4-BE49-F238E27FC236}">
                <a16:creationId xmlns:a16="http://schemas.microsoft.com/office/drawing/2014/main" id="{978C58A6-545C-C9D7-51DF-BAE0860782B3}"/>
              </a:ext>
            </a:extLst>
          </p:cNvPr>
          <p:cNvPicPr>
            <a:picLocks noGrp="1" noChangeAspect="1"/>
          </p:cNvPicPr>
          <p:nvPr>
            <p:ph type="pic" sz="quarter" idx="12"/>
          </p:nvPr>
        </p:nvPicPr>
        <p:blipFill rotWithShape="1">
          <a:blip r:embed="rId3" cstate="email">
            <a:extLst>
              <a:ext uri="{28A0092B-C50C-407E-A947-70E740481C1C}">
                <a14:useLocalDpi xmlns:a14="http://schemas.microsoft.com/office/drawing/2010/main"/>
              </a:ext>
            </a:extLst>
          </a:blip>
          <a:srcRect/>
          <a:stretch/>
        </p:blipFill>
        <p:spPr>
          <a:xfrm>
            <a:off x="0" y="0"/>
            <a:ext cx="12265572" cy="13716000"/>
          </a:xfrm>
        </p:spPr>
      </p:pic>
      <p:sp>
        <p:nvSpPr>
          <p:cNvPr id="11" name="Text 1">
            <a:extLst>
              <a:ext uri="{FF2B5EF4-FFF2-40B4-BE49-F238E27FC236}">
                <a16:creationId xmlns:a16="http://schemas.microsoft.com/office/drawing/2014/main" id="{13C76EE2-D52E-DDC0-2FD2-C2C17749F5F1}"/>
              </a:ext>
            </a:extLst>
          </p:cNvPr>
          <p:cNvSpPr/>
          <p:nvPr/>
        </p:nvSpPr>
        <p:spPr>
          <a:xfrm rot="16200000">
            <a:off x="-1807947" y="5696074"/>
            <a:ext cx="4835071" cy="389467"/>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98" normalizeH="0" baseline="0" noProof="0">
                <a:ln>
                  <a:noFill/>
                </a:ln>
                <a:solidFill>
                  <a:srgbClr val="FFFFFF">
                    <a:alpha val="50000"/>
                  </a:srgbClr>
                </a:solidFill>
                <a:effectLst/>
                <a:uLnTx/>
                <a:uFillTx/>
                <a:latin typeface="EYInterstate Regular" pitchFamily="34" charset="0"/>
                <a:ea typeface="EYInterstate Regular" pitchFamily="34" charset="-122"/>
                <a:cs typeface="EYInterstate Regular" pitchFamily="34" charset="-120"/>
              </a:rPr>
              <a:t>INNOVATION &amp; EXPERIENCE DESIGN</a:t>
            </a:r>
            <a:endParaRPr kumimoji="0" lang="en-US" sz="2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2" name="Graphic 11">
            <a:extLst>
              <a:ext uri="{FF2B5EF4-FFF2-40B4-BE49-F238E27FC236}">
                <a16:creationId xmlns:a16="http://schemas.microsoft.com/office/drawing/2014/main" id="{D28A659F-E6E5-0D4A-BDAB-D2EA2AC1B5E9}"/>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
        <p:nvSpPr>
          <p:cNvPr id="8" name="TextBox 7">
            <a:extLst>
              <a:ext uri="{FF2B5EF4-FFF2-40B4-BE49-F238E27FC236}">
                <a16:creationId xmlns:a16="http://schemas.microsoft.com/office/drawing/2014/main" id="{2ACC1B3A-14C3-205B-9F12-7CCD4349F11F}"/>
              </a:ext>
            </a:extLst>
          </p:cNvPr>
          <p:cNvSpPr txBox="1"/>
          <p:nvPr/>
        </p:nvSpPr>
        <p:spPr>
          <a:xfrm>
            <a:off x="7164660" y="940692"/>
            <a:ext cx="3763537" cy="1938992"/>
          </a:xfrm>
          <a:prstGeom prst="rect">
            <a:avLst/>
          </a:prstGeom>
          <a:noFill/>
        </p:spPr>
        <p:txBody>
          <a:bodyPr wrap="square">
            <a:spAutoFit/>
          </a:bodyPr>
          <a:lstStyle/>
          <a:p>
            <a:r>
              <a:rPr lang="en-IN" sz="4000" dirty="0">
                <a:solidFill>
                  <a:schemeClr val="bg1"/>
                </a:solidFill>
                <a:latin typeface="EYInterstate Light" panose="02000506000000020004" pitchFamily="2" charset="0"/>
              </a:rPr>
              <a:t>Humanizing virtual care in a time of crisis</a:t>
            </a:r>
          </a:p>
        </p:txBody>
      </p:sp>
      <p:sp>
        <p:nvSpPr>
          <p:cNvPr id="9" name="Text Placeholder 2">
            <a:extLst>
              <a:ext uri="{FF2B5EF4-FFF2-40B4-BE49-F238E27FC236}">
                <a16:creationId xmlns:a16="http://schemas.microsoft.com/office/drawing/2014/main" id="{099031C7-D0B8-C1AB-9256-71739E83AE3E}"/>
              </a:ext>
            </a:extLst>
          </p:cNvPr>
          <p:cNvSpPr txBox="1">
            <a:spLocks/>
          </p:cNvSpPr>
          <p:nvPr/>
        </p:nvSpPr>
        <p:spPr>
          <a:xfrm>
            <a:off x="1806497" y="10899539"/>
            <a:ext cx="4772723" cy="1571321"/>
          </a:xfrm>
          <a:prstGeom prst="rect">
            <a:avLst/>
          </a:prstGeom>
        </p:spPr>
        <p:txBody>
          <a:bodyPr vert="horz" lIns="0" tIns="0" rIns="0" bIns="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000" dirty="0">
                <a:solidFill>
                  <a:schemeClr val="bg1"/>
                </a:solidFill>
                <a:latin typeface="EYInterstate Light"/>
                <a:cs typeface="Arial"/>
              </a:rPr>
              <a:t>A national safety-net hospital responds to a global pandemic with newly demanded customer experiences, bringing enduring value to patient-focused telehealth strategies.</a:t>
            </a:r>
            <a:endParaRPr lang="en-US" sz="2000" dirty="0">
              <a:solidFill>
                <a:schemeClr val="bg1"/>
              </a:solidFill>
            </a:endParaRPr>
          </a:p>
        </p:txBody>
      </p:sp>
      <p:sp>
        <p:nvSpPr>
          <p:cNvPr id="10" name="Text Placeholder 3">
            <a:extLst>
              <a:ext uri="{FF2B5EF4-FFF2-40B4-BE49-F238E27FC236}">
                <a16:creationId xmlns:a16="http://schemas.microsoft.com/office/drawing/2014/main" id="{1C5F4F92-2405-A160-BF9B-F4F5044A96A6}"/>
              </a:ext>
            </a:extLst>
          </p:cNvPr>
          <p:cNvSpPr txBox="1">
            <a:spLocks/>
          </p:cNvSpPr>
          <p:nvPr/>
        </p:nvSpPr>
        <p:spPr>
          <a:xfrm>
            <a:off x="14346900" y="9835379"/>
            <a:ext cx="8233778" cy="2230244"/>
          </a:xfrm>
          <a:prstGeom prst="rect">
            <a:avLst/>
          </a:prstGeom>
        </p:spPr>
        <p:txBody>
          <a:bodyPr vert="horz" lIns="0" tIns="0" rIns="0" bIns="0" rtlCol="0" anchor="t">
            <a:noAutofit/>
          </a:bodyPr>
          <a:lstStyle>
            <a:lvl1pPr marL="0" indent="0" algn="l" defTabSz="914400" rtl="0" eaLnBrk="1" latinLnBrk="0" hangingPunct="1">
              <a:lnSpc>
                <a:spcPts val="5292"/>
              </a:lnSpc>
              <a:spcBef>
                <a:spcPts val="0"/>
              </a:spcBef>
              <a:buFont typeface="Arial" panose="020B0604020202020204" pitchFamily="34" charset="0"/>
              <a:buNone/>
              <a:defRPr sz="5400" b="0" i="0" kern="1200">
                <a:solidFill>
                  <a:schemeClr val="bg1"/>
                </a:solidFill>
                <a:latin typeface="Source Serif 4 14pt Light" panose="02040403040405020204" pitchFamily="18" charset="0"/>
                <a:ea typeface="Source Serif 4 14pt Light" panose="02040403040405020204" pitchFamily="18"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800" i="1" dirty="0">
                <a:latin typeface="EYInterstate Light" panose="02000506000000020004" pitchFamily="2" charset="0"/>
              </a:rPr>
              <a:t>“We estimated that more than a million additional nurses were required to cover the spike in care demands. We didn’t have an extra million nurses, so we needed a solution that would let the nurses we did have do more.”</a:t>
            </a:r>
            <a:endParaRPr lang="en-US" sz="9600" i="1" dirty="0">
              <a:latin typeface="EYInterstate Light" panose="02000506000000020004" pitchFamily="2" charset="0"/>
            </a:endParaRPr>
          </a:p>
        </p:txBody>
      </p:sp>
      <p:sp>
        <p:nvSpPr>
          <p:cNvPr id="13" name="Text Placeholder 2">
            <a:extLst>
              <a:ext uri="{FF2B5EF4-FFF2-40B4-BE49-F238E27FC236}">
                <a16:creationId xmlns:a16="http://schemas.microsoft.com/office/drawing/2014/main" id="{292C089A-1025-FD3C-1297-6DFBACDE991C}"/>
              </a:ext>
            </a:extLst>
          </p:cNvPr>
          <p:cNvSpPr txBox="1">
            <a:spLocks/>
          </p:cNvSpPr>
          <p:nvPr/>
        </p:nvSpPr>
        <p:spPr>
          <a:xfrm>
            <a:off x="14369389" y="12078196"/>
            <a:ext cx="7578954" cy="473099"/>
          </a:xfrm>
          <a:prstGeom prst="rect">
            <a:avLst/>
          </a:prstGeom>
        </p:spPr>
        <p:txBody>
          <a:bodyPr vert="horz" lIns="0" tIns="0" rIns="0" bIns="0" rtlCol="0" anchor="t">
            <a:noAutofit/>
          </a:bodyPr>
          <a:lstStyle>
            <a:lvl1pPr marL="0" indent="0" algn="l" defTabSz="914400" rtl="0" eaLnBrk="1" latinLnBrk="0" hangingPunct="1">
              <a:lnSpc>
                <a:spcPts val="4080"/>
              </a:lnSpc>
              <a:spcBef>
                <a:spcPts val="0"/>
              </a:spcBef>
              <a:buFont typeface="Arial" panose="020B0604020202020204" pitchFamily="34" charset="0"/>
              <a:buNone/>
              <a:defRPr sz="2400" b="0" i="0" kern="1200">
                <a:solidFill>
                  <a:schemeClr val="bg1"/>
                </a:solidFill>
                <a:latin typeface="EYInterstate Light" panose="02000506000000020004" pitchFamily="2"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EYInterstate Light"/>
                <a:cs typeface="Arial"/>
              </a:rPr>
              <a:t>- Vice President of Virtual Care</a:t>
            </a:r>
            <a:endParaRPr lang="en-US" dirty="0">
              <a:cs typeface="Arial"/>
            </a:endParaRPr>
          </a:p>
          <a:p>
            <a:endParaRPr lang="en-US" dirty="0"/>
          </a:p>
        </p:txBody>
      </p:sp>
    </p:spTree>
    <p:extLst>
      <p:ext uri="{BB962C8B-B14F-4D97-AF65-F5344CB8AC3E}">
        <p14:creationId xmlns:p14="http://schemas.microsoft.com/office/powerpoint/2010/main" val="40401910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A3C718B-AACB-4960-A0B6-625E82ED7571}"/>
              </a:ext>
            </a:extLst>
          </p:cNvPr>
          <p:cNvSpPr>
            <a:spLocks noGrp="1"/>
          </p:cNvSpPr>
          <p:nvPr>
            <p:ph type="body" sz="quarter" idx="17"/>
          </p:nvPr>
        </p:nvSpPr>
        <p:spPr>
          <a:xfrm>
            <a:off x="13247649" y="2741638"/>
            <a:ext cx="10058399" cy="5566706"/>
          </a:xfrm>
        </p:spPr>
        <p:txBody>
          <a:bodyPr vert="horz" lIns="0" tIns="0" rIns="0" bIns="0" rtlCol="0" anchor="t">
            <a:noAutofit/>
          </a:bodyPr>
          <a:lstStyle/>
          <a:p>
            <a:pPr>
              <a:lnSpc>
                <a:spcPct val="100000"/>
              </a:lnSpc>
            </a:pPr>
            <a:r>
              <a:rPr lang="en-US" b="1" dirty="0">
                <a:latin typeface="EYInterstate Light"/>
                <a:cs typeface="Arial"/>
              </a:rPr>
              <a:t>Situation </a:t>
            </a:r>
          </a:p>
          <a:p>
            <a:pPr>
              <a:lnSpc>
                <a:spcPct val="100000"/>
              </a:lnSpc>
            </a:pPr>
            <a:r>
              <a:rPr lang="en-US" sz="2000" dirty="0">
                <a:effectLst/>
                <a:latin typeface="EYInterstate Light"/>
                <a:cs typeface="Arial"/>
              </a:rPr>
              <a:t>With a critical conference on the horizon, a fast-growing reinsurance firm turned to EY to update their brand identity and website to better reflect the company’s leadership position today. To kick off the engagement, our team facilitated a stakeholder workshop to understand the client’s business, customers, key differentiators, and vision for the future-state website. We then synthesized their inputs as brand identity pillars and experience principles, which would guide the design and content of the new site. From there, we worked closely with client stakeholders to craft a bold and modern web experience that conveys a sophisticated financial brand</a:t>
            </a:r>
            <a:r>
              <a:rPr lang="en-US" sz="2000" dirty="0">
                <a:latin typeface="EYInterstate Light"/>
                <a:cs typeface="Arial"/>
              </a:rPr>
              <a:t>, while guiding the selection and setup of a CMS to bring it to life. </a:t>
            </a:r>
          </a:p>
          <a:p>
            <a:pPr>
              <a:lnSpc>
                <a:spcPct val="100000"/>
              </a:lnSpc>
            </a:pPr>
            <a:endParaRPr lang="en-US" sz="2000" dirty="0">
              <a:latin typeface="EYInterstate Light"/>
              <a:cs typeface="Arial"/>
            </a:endParaRPr>
          </a:p>
          <a:p>
            <a:pPr>
              <a:lnSpc>
                <a:spcPct val="100000"/>
              </a:lnSpc>
            </a:pPr>
            <a:r>
              <a:rPr lang="en-US" b="1" dirty="0">
                <a:latin typeface="EYInterstate Light"/>
                <a:cs typeface="Arial"/>
              </a:rPr>
              <a:t>Results</a:t>
            </a:r>
          </a:p>
          <a:p>
            <a:pPr>
              <a:lnSpc>
                <a:spcPct val="100000"/>
              </a:lnSpc>
            </a:pPr>
            <a:r>
              <a:rPr lang="en-US" sz="2000" dirty="0">
                <a:effectLst/>
                <a:latin typeface="EYInterstate Light"/>
                <a:cs typeface="Arial"/>
              </a:rPr>
              <a:t>In a tight 12-week timeline, we shepherded the project from discovery to development, delivering a responsive web experience that elevates the firm’s brand identity and better reflects its market </a:t>
            </a:r>
            <a:r>
              <a:rPr lang="en-US" sz="2000" dirty="0">
                <a:latin typeface="EYInterstate Light"/>
                <a:cs typeface="Arial"/>
              </a:rPr>
              <a:t>leadership, all supported by secondary assets including deck templates, business cards, letterhead, and more.</a:t>
            </a:r>
            <a:r>
              <a:rPr lang="en-US" sz="2000" dirty="0">
                <a:effectLst/>
                <a:latin typeface="EYInterstate Light"/>
                <a:cs typeface="Arial"/>
              </a:rPr>
              <a:t> With time to spare before the conference, the client was thrilled to be able to put its best face forward—on the website and beyond.</a:t>
            </a:r>
          </a:p>
        </p:txBody>
      </p:sp>
      <p:sp>
        <p:nvSpPr>
          <p:cNvPr id="4" name="Text Placeholder 3">
            <a:extLst>
              <a:ext uri="{FF2B5EF4-FFF2-40B4-BE49-F238E27FC236}">
                <a16:creationId xmlns:a16="http://schemas.microsoft.com/office/drawing/2014/main" id="{ECB7A10B-FE42-E7B4-DC64-7EEE0E6BD6C3}"/>
              </a:ext>
            </a:extLst>
          </p:cNvPr>
          <p:cNvSpPr>
            <a:spLocks noGrp="1"/>
          </p:cNvSpPr>
          <p:nvPr>
            <p:ph type="body" sz="quarter" idx="18"/>
          </p:nvPr>
        </p:nvSpPr>
        <p:spPr>
          <a:xfrm>
            <a:off x="13225346" y="1148188"/>
            <a:ext cx="10217581" cy="1524000"/>
          </a:xfrm>
        </p:spPr>
        <p:txBody>
          <a:bodyPr vert="horz" lIns="0" tIns="0" rIns="0" bIns="0" rtlCol="0" anchor="t">
            <a:noAutofit/>
          </a:bodyPr>
          <a:lstStyle/>
          <a:p>
            <a:r>
              <a:rPr lang="en-US">
                <a:latin typeface="Source Serif 4 14pt Light"/>
                <a:ea typeface="Source Serif 4 14pt Light"/>
                <a:cs typeface="Arial"/>
              </a:rPr>
              <a:t>Reflecting the client's values in a bold brand makeover</a:t>
            </a:r>
            <a:endParaRPr lang="en-US"/>
          </a:p>
          <a:p>
            <a:endParaRPr lang="en-US" b="1"/>
          </a:p>
        </p:txBody>
      </p:sp>
      <p:pic>
        <p:nvPicPr>
          <p:cNvPr id="5" name="Picture Placeholder 4">
            <a:extLst>
              <a:ext uri="{FF2B5EF4-FFF2-40B4-BE49-F238E27FC236}">
                <a16:creationId xmlns:a16="http://schemas.microsoft.com/office/drawing/2014/main" id="{978C58A6-545C-C9D7-51DF-BAE0860782B3}"/>
              </a:ext>
            </a:extLst>
          </p:cNvPr>
          <p:cNvPicPr>
            <a:picLocks noGrp="1" noChangeAspect="1"/>
          </p:cNvPicPr>
          <p:nvPr>
            <p:ph type="pic" sz="quarter" idx="12"/>
          </p:nvPr>
        </p:nvPicPr>
        <p:blipFill>
          <a:blip r:embed="rId3" cstate="email">
            <a:extLst>
              <a:ext uri="{28A0092B-C50C-407E-A947-70E740481C1C}">
                <a14:useLocalDpi xmlns:a14="http://schemas.microsoft.com/office/drawing/2010/main"/>
              </a:ext>
            </a:extLst>
          </a:blip>
          <a:srcRect/>
          <a:stretch/>
        </p:blipFill>
        <p:spPr>
          <a:xfrm>
            <a:off x="0" y="0"/>
            <a:ext cx="12265572" cy="13716000"/>
          </a:xfrm>
          <a:gradFill>
            <a:gsLst>
              <a:gs pos="100000">
                <a:schemeClr val="bg1"/>
              </a:gs>
              <a:gs pos="0">
                <a:schemeClr val="tx1"/>
              </a:gs>
            </a:gsLst>
            <a:lin ang="5400000" scaled="1"/>
          </a:gradFill>
        </p:spPr>
      </p:pic>
      <p:sp>
        <p:nvSpPr>
          <p:cNvPr id="11" name="Text 1">
            <a:extLst>
              <a:ext uri="{FF2B5EF4-FFF2-40B4-BE49-F238E27FC236}">
                <a16:creationId xmlns:a16="http://schemas.microsoft.com/office/drawing/2014/main" id="{13C76EE2-D52E-DDC0-2FD2-C2C17749F5F1}"/>
              </a:ext>
            </a:extLst>
          </p:cNvPr>
          <p:cNvSpPr/>
          <p:nvPr/>
        </p:nvSpPr>
        <p:spPr>
          <a:xfrm rot="16200000">
            <a:off x="-1807947" y="5696074"/>
            <a:ext cx="4835071" cy="389467"/>
          </a:xfrm>
          <a:prstGeom prst="rect">
            <a:avLst/>
          </a:prstGeom>
          <a:noFill/>
          <a:ln/>
        </p:spPr>
        <p:txBody>
          <a:bodyPr wrap="square" lIns="0" tIns="0" rIns="0" bIns="0" rtlCol="0" anchor="t"/>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98" normalizeH="0" baseline="0" noProof="0">
                <a:ln>
                  <a:noFill/>
                </a:ln>
                <a:solidFill>
                  <a:srgbClr val="FFFFFF">
                    <a:alpha val="50000"/>
                  </a:srgbClr>
                </a:solidFill>
                <a:effectLst/>
                <a:uLnTx/>
                <a:uFillTx/>
                <a:latin typeface="EYInterstate Regular" pitchFamily="34" charset="0"/>
                <a:ea typeface="EYInterstate Regular" pitchFamily="34" charset="-122"/>
                <a:cs typeface="EYInterstate Regular" pitchFamily="34" charset="-120"/>
              </a:rPr>
              <a:t>INNOVATION &amp; EXPERIENCE DESIGN</a:t>
            </a:r>
            <a:endParaRPr kumimoji="0" lang="en-US" sz="2000" b="0" i="0" u="none" strike="noStrike" kern="1200" cap="none" spc="0" normalizeH="0" baseline="0" noProof="0">
              <a:ln>
                <a:noFill/>
              </a:ln>
              <a:solidFill>
                <a:srgbClr val="000000"/>
              </a:solidFill>
              <a:effectLst/>
              <a:uLnTx/>
              <a:uFillTx/>
              <a:latin typeface="Arial" panose="020B0604020202020204"/>
              <a:ea typeface="+mn-ea"/>
              <a:cs typeface="+mn-cs"/>
            </a:endParaRPr>
          </a:p>
        </p:txBody>
      </p:sp>
      <p:pic>
        <p:nvPicPr>
          <p:cNvPr id="12" name="Graphic 11">
            <a:extLst>
              <a:ext uri="{FF2B5EF4-FFF2-40B4-BE49-F238E27FC236}">
                <a16:creationId xmlns:a16="http://schemas.microsoft.com/office/drawing/2014/main" id="{081B650E-6B1F-A1BF-796F-D348E064F609}"/>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pic>
        <p:nvPicPr>
          <p:cNvPr id="2" name="Picture 1">
            <a:extLst>
              <a:ext uri="{FF2B5EF4-FFF2-40B4-BE49-F238E27FC236}">
                <a16:creationId xmlns:a16="http://schemas.microsoft.com/office/drawing/2014/main" id="{0BEA7A04-111E-C36A-DD02-034E65A68431}"/>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13247649" y="9392633"/>
            <a:ext cx="7031115" cy="3955002"/>
          </a:xfrm>
          <a:prstGeom prst="rect">
            <a:avLst/>
          </a:prstGeom>
        </p:spPr>
      </p:pic>
      <p:sp>
        <p:nvSpPr>
          <p:cNvPr id="9" name="TextBox 8">
            <a:extLst>
              <a:ext uri="{FF2B5EF4-FFF2-40B4-BE49-F238E27FC236}">
                <a16:creationId xmlns:a16="http://schemas.microsoft.com/office/drawing/2014/main" id="{C6626DA3-AA95-8924-AE89-765C7ED58D55}"/>
              </a:ext>
            </a:extLst>
          </p:cNvPr>
          <p:cNvSpPr txBox="1"/>
          <p:nvPr/>
        </p:nvSpPr>
        <p:spPr>
          <a:xfrm>
            <a:off x="944249" y="548023"/>
            <a:ext cx="6325232" cy="1200329"/>
          </a:xfrm>
          <a:prstGeom prst="rect">
            <a:avLst/>
          </a:prstGeom>
          <a:noFill/>
        </p:spPr>
        <p:txBody>
          <a:bodyPr wrap="square">
            <a:spAutoFit/>
          </a:bodyPr>
          <a:lstStyle/>
          <a:p>
            <a:r>
              <a:rPr lang="en-IN" sz="3600" dirty="0">
                <a:solidFill>
                  <a:schemeClr val="bg1"/>
                </a:solidFill>
                <a:latin typeface="EYInterstate Light" panose="02000506000000020004" pitchFamily="2" charset="0"/>
              </a:rPr>
              <a:t>Elevating the brand to match the business</a:t>
            </a:r>
          </a:p>
        </p:txBody>
      </p:sp>
      <p:sp>
        <p:nvSpPr>
          <p:cNvPr id="10" name="Text Placeholder 10">
            <a:extLst>
              <a:ext uri="{FF2B5EF4-FFF2-40B4-BE49-F238E27FC236}">
                <a16:creationId xmlns:a16="http://schemas.microsoft.com/office/drawing/2014/main" id="{69D4630B-BFF6-17BB-1E2E-7FAB5D00BE0D}"/>
              </a:ext>
            </a:extLst>
          </p:cNvPr>
          <p:cNvSpPr txBox="1">
            <a:spLocks/>
          </p:cNvSpPr>
          <p:nvPr/>
        </p:nvSpPr>
        <p:spPr>
          <a:xfrm>
            <a:off x="609588" y="11570316"/>
            <a:ext cx="10390039" cy="831964"/>
          </a:xfrm>
          <a:prstGeom prst="rect">
            <a:avLst/>
          </a:prstGeom>
        </p:spPr>
        <p:txBody>
          <a:bodyPr vert="horz" lIns="0" tIns="0" rIns="0" bIns="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solidFill>
                  <a:schemeClr val="bg1"/>
                </a:solidFill>
                <a:latin typeface="EYInterstate Light"/>
                <a:cs typeface="Arial"/>
              </a:rPr>
              <a:t>When a newly minted reinsurance start-up quickly became an industry leader, it knew its brand and website needed a refresh to look the part.</a:t>
            </a:r>
            <a:endParaRPr lang="en-US" sz="2400" dirty="0">
              <a:solidFill>
                <a:schemeClr val="bg1"/>
              </a:solidFill>
            </a:endParaRPr>
          </a:p>
        </p:txBody>
      </p:sp>
    </p:spTree>
    <p:extLst>
      <p:ext uri="{BB962C8B-B14F-4D97-AF65-F5344CB8AC3E}">
        <p14:creationId xmlns:p14="http://schemas.microsoft.com/office/powerpoint/2010/main" val="42574846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A close-up of a stethoscope and a computer&#10;&#10;Description automatically generated">
            <a:extLst>
              <a:ext uri="{FF2B5EF4-FFF2-40B4-BE49-F238E27FC236}">
                <a16:creationId xmlns:a16="http://schemas.microsoft.com/office/drawing/2014/main" id="{DDB495D5-B0F5-9DE5-3A5D-843865B34AC5}"/>
              </a:ext>
            </a:extLst>
          </p:cNvPr>
          <p:cNvPicPr>
            <a:picLocks noGrp="1" noChangeAspect="1"/>
          </p:cNvPicPr>
          <p:nvPr>
            <p:ph type="pic" sz="quarter" idx="12"/>
          </p:nvPr>
        </p:nvPicPr>
        <p:blipFill>
          <a:blip r:embed="rId3" cstate="email">
            <a:extLst>
              <a:ext uri="{28A0092B-C50C-407E-A947-70E740481C1C}">
                <a14:useLocalDpi xmlns:a14="http://schemas.microsoft.com/office/drawing/2010/main"/>
              </a:ext>
            </a:extLst>
          </a:blip>
          <a:srcRect/>
          <a:stretch/>
        </p:blipFill>
        <p:spPr/>
      </p:pic>
      <p:sp>
        <p:nvSpPr>
          <p:cNvPr id="8" name="Rectangle 7">
            <a:extLst>
              <a:ext uri="{FF2B5EF4-FFF2-40B4-BE49-F238E27FC236}">
                <a16:creationId xmlns:a16="http://schemas.microsoft.com/office/drawing/2014/main" id="{E3634FC5-812F-81AD-8ED1-FF3DBFF157C7}"/>
              </a:ext>
            </a:extLst>
          </p:cNvPr>
          <p:cNvSpPr/>
          <p:nvPr/>
        </p:nvSpPr>
        <p:spPr>
          <a:xfrm>
            <a:off x="-45713" y="0"/>
            <a:ext cx="12272211" cy="13716000"/>
          </a:xfrm>
          <a:prstGeom prst="rect">
            <a:avLst/>
          </a:prstGeom>
          <a:solidFill>
            <a:schemeClr val="tx1">
              <a:alpha val="3143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9DBE45EA-4861-8C59-85C5-259AFF3C9277}"/>
              </a:ext>
            </a:extLst>
          </p:cNvPr>
          <p:cNvSpPr>
            <a:spLocks noGrp="1"/>
          </p:cNvSpPr>
          <p:nvPr>
            <p:ph type="body" sz="quarter" idx="17"/>
          </p:nvPr>
        </p:nvSpPr>
        <p:spPr/>
        <p:txBody>
          <a:bodyPr/>
          <a:lstStyle/>
          <a:p>
            <a:pPr>
              <a:lnSpc>
                <a:spcPct val="100000"/>
              </a:lnSpc>
            </a:pPr>
            <a:r>
              <a:rPr lang="en-US" dirty="0"/>
              <a:t>Innovating the constituent experience by redefining value stream operations to drive NPS</a:t>
            </a:r>
          </a:p>
          <a:p>
            <a:pPr>
              <a:lnSpc>
                <a:spcPct val="100000"/>
              </a:lnSpc>
            </a:pPr>
            <a:endParaRPr lang="en-US" dirty="0"/>
          </a:p>
          <a:p>
            <a:pPr>
              <a:lnSpc>
                <a:spcPct val="100000"/>
              </a:lnSpc>
            </a:pPr>
            <a:r>
              <a:rPr lang="en-US" b="1" dirty="0"/>
              <a:t>Approach</a:t>
            </a:r>
          </a:p>
          <a:p>
            <a:pPr marL="342900" indent="-342900">
              <a:lnSpc>
                <a:spcPct val="100000"/>
              </a:lnSpc>
              <a:buFont typeface="Arial" panose="020B0604020202020204" pitchFamily="34" charset="0"/>
              <a:buChar char="•"/>
            </a:pPr>
            <a:r>
              <a:rPr lang="en-US" dirty="0"/>
              <a:t>Develop End-to-End experience mapping to define target customer experiences (with cross-functional walk-the-wall work sessions)</a:t>
            </a:r>
          </a:p>
          <a:p>
            <a:pPr marL="342900" indent="-342900">
              <a:lnSpc>
                <a:spcPct val="100000"/>
              </a:lnSpc>
              <a:buFont typeface="Arial" panose="020B0604020202020204" pitchFamily="34" charset="0"/>
              <a:buChar char="•"/>
            </a:pPr>
            <a:r>
              <a:rPr lang="en-US" dirty="0"/>
              <a:t>Identify key cross-functional operational requirements to support customer expectations of cloud-based solution provider</a:t>
            </a:r>
          </a:p>
          <a:p>
            <a:pPr marL="342900" indent="-342900">
              <a:lnSpc>
                <a:spcPct val="100000"/>
              </a:lnSpc>
              <a:buFont typeface="Arial" panose="020B0604020202020204" pitchFamily="34" charset="0"/>
              <a:buChar char="•"/>
            </a:pPr>
            <a:r>
              <a:rPr lang="en-US" dirty="0"/>
              <a:t>Refine product roadmap based on customer usage data across experience stages</a:t>
            </a:r>
          </a:p>
          <a:p>
            <a:pPr marL="342900" indent="-342900">
              <a:lnSpc>
                <a:spcPct val="100000"/>
              </a:lnSpc>
              <a:buFont typeface="Arial" panose="020B0604020202020204" pitchFamily="34" charset="0"/>
              <a:buChar char="•"/>
            </a:pPr>
            <a:endParaRPr lang="en-US" dirty="0"/>
          </a:p>
          <a:p>
            <a:pPr>
              <a:lnSpc>
                <a:spcPct val="100000"/>
              </a:lnSpc>
            </a:pPr>
            <a:r>
              <a:rPr lang="en-US" b="1" dirty="0"/>
              <a:t>Outcomes</a:t>
            </a:r>
          </a:p>
          <a:p>
            <a:pPr marL="342900" indent="-342900">
              <a:lnSpc>
                <a:spcPct val="100000"/>
              </a:lnSpc>
              <a:buFont typeface="Arial" panose="020B0604020202020204" pitchFamily="34" charset="0"/>
              <a:buChar char="•"/>
            </a:pPr>
            <a:r>
              <a:rPr lang="en-US" dirty="0"/>
              <a:t>Delivered new SaaS pay-by-use models of bundled software</a:t>
            </a:r>
          </a:p>
          <a:p>
            <a:pPr marL="342900" indent="-342900">
              <a:lnSpc>
                <a:spcPct val="100000"/>
              </a:lnSpc>
              <a:buFont typeface="Arial" panose="020B0604020202020204" pitchFamily="34" charset="0"/>
              <a:buChar char="•"/>
            </a:pPr>
            <a:r>
              <a:rPr lang="en-US" dirty="0"/>
              <a:t>Developed full cross-functional alignment (e.g. billing, legal, finance, IT) and execution on the highest customer value initiatives (90 day sprints, small dedicated teams)</a:t>
            </a:r>
          </a:p>
          <a:p>
            <a:pPr marL="342900" indent="-342900">
              <a:lnSpc>
                <a:spcPct val="100000"/>
              </a:lnSpc>
              <a:buFont typeface="Arial" panose="020B0604020202020204" pitchFamily="34" charset="0"/>
              <a:buChar char="•"/>
            </a:pPr>
            <a:r>
              <a:rPr lang="en-US" dirty="0"/>
              <a:t>Redesigned the role of customer support and tech support to drive customer success, adoption of new value and reduce churn</a:t>
            </a:r>
          </a:p>
          <a:p>
            <a:pPr marL="342900" indent="-342900">
              <a:lnSpc>
                <a:spcPct val="100000"/>
              </a:lnSpc>
              <a:buFont typeface="Arial" panose="020B0604020202020204" pitchFamily="34" charset="0"/>
              <a:buChar char="•"/>
            </a:pPr>
            <a:r>
              <a:rPr lang="en-US" dirty="0"/>
              <a:t>Drove executive alignment and decisions on prioritization of initiatives  and UX/UI design direction from a shared vision  </a:t>
            </a:r>
          </a:p>
          <a:p>
            <a:pPr marL="342900" indent="-342900">
              <a:lnSpc>
                <a:spcPct val="100000"/>
              </a:lnSpc>
              <a:buFont typeface="Arial" panose="020B0604020202020204" pitchFamily="34" charset="0"/>
              <a:buChar char="•"/>
            </a:pPr>
            <a:endParaRPr lang="en-US" dirty="0"/>
          </a:p>
          <a:p>
            <a:pPr marL="342900" indent="-342900">
              <a:lnSpc>
                <a:spcPct val="100000"/>
              </a:lnSpc>
              <a:buFont typeface="Arial" panose="020B0604020202020204" pitchFamily="34" charset="0"/>
              <a:buChar char="•"/>
            </a:pPr>
            <a:endParaRPr lang="en-US" dirty="0"/>
          </a:p>
        </p:txBody>
      </p:sp>
      <p:sp>
        <p:nvSpPr>
          <p:cNvPr id="4" name="Text Placeholder 3">
            <a:extLst>
              <a:ext uri="{FF2B5EF4-FFF2-40B4-BE49-F238E27FC236}">
                <a16:creationId xmlns:a16="http://schemas.microsoft.com/office/drawing/2014/main" id="{EC783B1D-0DE1-FC3C-DEE9-48A2640409DC}"/>
              </a:ext>
            </a:extLst>
          </p:cNvPr>
          <p:cNvSpPr>
            <a:spLocks noGrp="1"/>
          </p:cNvSpPr>
          <p:nvPr>
            <p:ph type="body" sz="quarter" idx="10"/>
          </p:nvPr>
        </p:nvSpPr>
        <p:spPr/>
        <p:txBody>
          <a:bodyPr/>
          <a:lstStyle/>
          <a:p>
            <a:r>
              <a:rPr lang="en-US"/>
              <a:t>Health insurance platform</a:t>
            </a:r>
          </a:p>
        </p:txBody>
      </p:sp>
      <p:sp>
        <p:nvSpPr>
          <p:cNvPr id="5" name="Text Placeholder 4">
            <a:extLst>
              <a:ext uri="{FF2B5EF4-FFF2-40B4-BE49-F238E27FC236}">
                <a16:creationId xmlns:a16="http://schemas.microsoft.com/office/drawing/2014/main" id="{C0F0AF43-4435-A5A9-AE3C-D200E0CB6561}"/>
              </a:ext>
            </a:extLst>
          </p:cNvPr>
          <p:cNvSpPr>
            <a:spLocks noGrp="1"/>
          </p:cNvSpPr>
          <p:nvPr>
            <p:ph type="body" sz="quarter" idx="11"/>
          </p:nvPr>
        </p:nvSpPr>
        <p:spPr/>
        <p:txBody>
          <a:bodyPr/>
          <a:lstStyle/>
          <a:p>
            <a:r>
              <a:rPr lang="en-US"/>
              <a:t>Innovating the operating value streams to deliver great constituent experiences </a:t>
            </a:r>
          </a:p>
        </p:txBody>
      </p:sp>
      <p:sp>
        <p:nvSpPr>
          <p:cNvPr id="15" name="Text 1">
            <a:extLst>
              <a:ext uri="{FF2B5EF4-FFF2-40B4-BE49-F238E27FC236}">
                <a16:creationId xmlns:a16="http://schemas.microsoft.com/office/drawing/2014/main" id="{6AD69609-901D-C0C3-07F7-0477ED384007}"/>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pic>
        <p:nvPicPr>
          <p:cNvPr id="2" name="Graphic 1">
            <a:extLst>
              <a:ext uri="{FF2B5EF4-FFF2-40B4-BE49-F238E27FC236}">
                <a16:creationId xmlns:a16="http://schemas.microsoft.com/office/drawing/2014/main" id="{92474FC4-70B8-DC7A-2A76-CE85047F427E}"/>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980089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Placeholder 28" descr="A person sitting on a bench looking at a phone&#10;&#10;Description automatically generated">
            <a:extLst>
              <a:ext uri="{FF2B5EF4-FFF2-40B4-BE49-F238E27FC236}">
                <a16:creationId xmlns:a16="http://schemas.microsoft.com/office/drawing/2014/main" id="{6FE1223F-8568-6275-A120-32801B326870}"/>
              </a:ext>
            </a:extLst>
          </p:cNvPr>
          <p:cNvPicPr>
            <a:picLocks noGrp="1" noChangeAspect="1"/>
          </p:cNvPicPr>
          <p:nvPr>
            <p:ph type="pic" sz="quarter" idx="12"/>
          </p:nvPr>
        </p:nvPicPr>
        <p:blipFill rotWithShape="1">
          <a:blip r:embed="rId3" cstate="email">
            <a:extLst>
              <a:ext uri="{28A0092B-C50C-407E-A947-70E740481C1C}">
                <a14:useLocalDpi xmlns:a14="http://schemas.microsoft.com/office/drawing/2010/main"/>
              </a:ext>
            </a:extLst>
          </a:blip>
          <a:srcRect/>
          <a:stretch/>
        </p:blipFill>
        <p:spPr>
          <a:xfrm>
            <a:off x="-1" y="18406"/>
            <a:ext cx="12193588" cy="13716000"/>
          </a:xfrm>
        </p:spPr>
      </p:pic>
      <p:sp>
        <p:nvSpPr>
          <p:cNvPr id="19" name="Text Placeholder 18">
            <a:extLst>
              <a:ext uri="{FF2B5EF4-FFF2-40B4-BE49-F238E27FC236}">
                <a16:creationId xmlns:a16="http://schemas.microsoft.com/office/drawing/2014/main" id="{224CD46D-B62F-AA51-050B-B9F1AB5F3ECF}"/>
              </a:ext>
            </a:extLst>
          </p:cNvPr>
          <p:cNvSpPr>
            <a:spLocks noGrp="1"/>
          </p:cNvSpPr>
          <p:nvPr>
            <p:ph type="body" sz="quarter" idx="17"/>
          </p:nvPr>
        </p:nvSpPr>
        <p:spPr>
          <a:xfrm>
            <a:off x="14369390" y="1813560"/>
            <a:ext cx="7578954" cy="10861040"/>
          </a:xfrm>
        </p:spPr>
        <p:txBody>
          <a:bodyPr/>
          <a:lstStyle/>
          <a:p>
            <a:r>
              <a:rPr lang="en-US"/>
              <a:t>EY has worked with this multinational health management company for seven years to innovate and evolve the company’s subscriber experience. EY has conducted expansive user and admin research to identify strategies to engage subscribers and drive healthier, less costly behaviors.</a:t>
            </a:r>
          </a:p>
          <a:p>
            <a:endParaRPr lang="en-US"/>
          </a:p>
          <a:p>
            <a:r>
              <a:rPr lang="en-US"/>
              <a:t>Solution</a:t>
            </a:r>
          </a:p>
          <a:p>
            <a:r>
              <a:rPr lang="en-US"/>
              <a:t>In fall 2020, EY conducted research on two subscriber states, pre-engagement, in which we explored ways to guide subscriber decisions before they had engaged a physician to address two disease states, and hip replacement. Research into hip replacement experience was meant to better coordinate the digital experience to the end-to-end experience of preparing for, experiencing, and recovering from hip replacement </a:t>
            </a:r>
            <a:br>
              <a:rPr lang="en-US"/>
            </a:br>
            <a:endParaRPr lang="en-US"/>
          </a:p>
          <a:p>
            <a:endParaRPr lang="en-US"/>
          </a:p>
          <a:p>
            <a:endParaRPr lang="en-US"/>
          </a:p>
        </p:txBody>
      </p:sp>
      <p:sp>
        <p:nvSpPr>
          <p:cNvPr id="14" name="Rectangle 13">
            <a:extLst>
              <a:ext uri="{FF2B5EF4-FFF2-40B4-BE49-F238E27FC236}">
                <a16:creationId xmlns:a16="http://schemas.microsoft.com/office/drawing/2014/main" id="{16FF1433-5CB4-05C1-6DCB-621D7F8F246A}"/>
              </a:ext>
            </a:extLst>
          </p:cNvPr>
          <p:cNvSpPr/>
          <p:nvPr/>
        </p:nvSpPr>
        <p:spPr>
          <a:xfrm>
            <a:off x="-1" y="18406"/>
            <a:ext cx="12193588" cy="13752813"/>
          </a:xfrm>
          <a:prstGeom prst="rect">
            <a:avLst/>
          </a:prstGeom>
          <a:solidFill>
            <a:schemeClr val="tx1">
              <a:alpha val="4611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21">
            <a:extLst>
              <a:ext uri="{FF2B5EF4-FFF2-40B4-BE49-F238E27FC236}">
                <a16:creationId xmlns:a16="http://schemas.microsoft.com/office/drawing/2014/main" id="{6810BB39-0538-B841-4067-E33FB08D8818}"/>
              </a:ext>
            </a:extLst>
          </p:cNvPr>
          <p:cNvSpPr>
            <a:spLocks noGrp="1"/>
          </p:cNvSpPr>
          <p:nvPr>
            <p:ph type="body" sz="quarter" idx="11"/>
          </p:nvPr>
        </p:nvSpPr>
        <p:spPr>
          <a:xfrm>
            <a:off x="2352561" y="1813560"/>
            <a:ext cx="7693140" cy="4079240"/>
          </a:xfrm>
        </p:spPr>
        <p:txBody>
          <a:bodyPr/>
          <a:lstStyle/>
          <a:p>
            <a:r>
              <a:rPr lang="en-US"/>
              <a:t>Innovating subscriber experience </a:t>
            </a:r>
          </a:p>
        </p:txBody>
      </p:sp>
      <p:sp>
        <p:nvSpPr>
          <p:cNvPr id="4" name="Text 1">
            <a:extLst>
              <a:ext uri="{FF2B5EF4-FFF2-40B4-BE49-F238E27FC236}">
                <a16:creationId xmlns:a16="http://schemas.microsoft.com/office/drawing/2014/main" id="{A66B2060-6AB9-5AD8-BC8F-C7A0F0294DA1}"/>
              </a:ext>
            </a:extLst>
          </p:cNvPr>
          <p:cNvSpPr/>
          <p:nvPr/>
        </p:nvSpPr>
        <p:spPr>
          <a:xfrm rot="16200000">
            <a:off x="-1807947" y="5696074"/>
            <a:ext cx="4835071" cy="389467"/>
          </a:xfrm>
          <a:prstGeom prst="rect">
            <a:avLst/>
          </a:prstGeom>
          <a:noFill/>
          <a:ln/>
        </p:spPr>
        <p:txBody>
          <a:bodyPr wrap="square" lIns="0" tIns="0" rIns="0" bIns="0" rtlCol="0" anchor="t"/>
          <a:lstStyle/>
          <a:p>
            <a:pPr algn="r"/>
            <a:r>
              <a:rPr lang="en-US" sz="2000" kern="0" spc="98">
                <a:solidFill>
                  <a:srgbClr val="FFFFFF">
                    <a:alpha val="50000"/>
                  </a:srgbClr>
                </a:solidFill>
                <a:latin typeface="EYInterstate Regular" pitchFamily="34" charset="0"/>
                <a:ea typeface="EYInterstate Regular" pitchFamily="34" charset="-122"/>
                <a:cs typeface="EYInterstate Regular" pitchFamily="34" charset="-120"/>
              </a:rPr>
              <a:t>INNOVATION &amp; EXPERIENCE DESIGN</a:t>
            </a:r>
            <a:endParaRPr lang="en-US" sz="2000"/>
          </a:p>
        </p:txBody>
      </p:sp>
      <p:sp>
        <p:nvSpPr>
          <p:cNvPr id="21" name="Text Placeholder 20">
            <a:extLst>
              <a:ext uri="{FF2B5EF4-FFF2-40B4-BE49-F238E27FC236}">
                <a16:creationId xmlns:a16="http://schemas.microsoft.com/office/drawing/2014/main" id="{DE8BE370-736F-FF2C-35AA-59F86C9D05D4}"/>
              </a:ext>
            </a:extLst>
          </p:cNvPr>
          <p:cNvSpPr>
            <a:spLocks noGrp="1"/>
          </p:cNvSpPr>
          <p:nvPr>
            <p:ph type="body" sz="quarter" idx="10"/>
          </p:nvPr>
        </p:nvSpPr>
        <p:spPr>
          <a:xfrm>
            <a:off x="6359325" y="320040"/>
            <a:ext cx="11668525" cy="574675"/>
          </a:xfrm>
        </p:spPr>
        <p:txBody>
          <a:bodyPr/>
          <a:lstStyle/>
          <a:p>
            <a:r>
              <a:rPr lang="en-US"/>
              <a:t>CONSUMER HEALTH ENGAGEMENT</a:t>
            </a:r>
          </a:p>
          <a:p>
            <a:endParaRPr lang="en-US"/>
          </a:p>
        </p:txBody>
      </p:sp>
      <p:pic>
        <p:nvPicPr>
          <p:cNvPr id="2" name="Graphic 1">
            <a:extLst>
              <a:ext uri="{FF2B5EF4-FFF2-40B4-BE49-F238E27FC236}">
                <a16:creationId xmlns:a16="http://schemas.microsoft.com/office/drawing/2014/main" id="{7F1005E7-E708-FB40-18FF-29159F10B8BC}"/>
              </a:ext>
            </a:extLst>
          </p:cNvPr>
          <p:cNvPicPr/>
          <p:nvPr/>
        </p:nvPicPr>
        <p:blipFill>
          <a:blip r:embed="rId4">
            <a:extLst>
              <a:ext uri="{96DAC541-7B7A-43D3-8B79-37D633B846F1}">
                <asvg:svgBlip xmlns:asvg="http://schemas.microsoft.com/office/drawing/2016/SVG/main" r:embed="rId5"/>
              </a:ext>
            </a:extLst>
          </a:blip>
          <a:stretch>
            <a:fillRect/>
          </a:stretch>
        </p:blipFill>
        <p:spPr>
          <a:xfrm>
            <a:off x="457384" y="12470860"/>
            <a:ext cx="2259732" cy="876775"/>
          </a:xfrm>
          <a:prstGeom prst="rect">
            <a:avLst/>
          </a:prstGeom>
        </p:spPr>
      </p:pic>
    </p:spTree>
    <p:extLst>
      <p:ext uri="{BB962C8B-B14F-4D97-AF65-F5344CB8AC3E}">
        <p14:creationId xmlns:p14="http://schemas.microsoft.com/office/powerpoint/2010/main" val="1644467359"/>
      </p:ext>
    </p:extLst>
  </p:cSld>
  <p:clrMapOvr>
    <a:masterClrMapping/>
  </p:clrMapOvr>
</p:sld>
</file>

<file path=ppt/theme/theme1.xml><?xml version="1.0" encoding="utf-8"?>
<a:theme xmlns:a="http://schemas.openxmlformats.org/drawingml/2006/main" name="Large Text [SPECTRUM]">
  <a:themeElements>
    <a:clrScheme name="Custom 81">
      <a:dk1>
        <a:srgbClr val="1A1A24"/>
      </a:dk1>
      <a:lt1>
        <a:srgbClr val="FFFFFF"/>
      </a:lt1>
      <a:dk2>
        <a:srgbClr val="FFE600"/>
      </a:dk2>
      <a:lt2>
        <a:srgbClr val="2E2E38"/>
      </a:lt2>
      <a:accent1>
        <a:srgbClr val="2DB757"/>
      </a:accent1>
      <a:accent2>
        <a:srgbClr val="27ACAA"/>
      </a:accent2>
      <a:accent3>
        <a:srgbClr val="188CE5"/>
      </a:accent3>
      <a:accent4>
        <a:srgbClr val="750E5C"/>
      </a:accent4>
      <a:accent5>
        <a:srgbClr val="FF4136"/>
      </a:accent5>
      <a:accent6>
        <a:srgbClr val="FF6D00"/>
      </a:accent6>
      <a:hlink>
        <a:srgbClr val="FFE600"/>
      </a:hlink>
      <a:folHlink>
        <a:srgbClr val="FFE600"/>
      </a:folHlink>
    </a:clrScheme>
    <a:fontScheme name="EY">
      <a:majorFont>
        <a:latin typeface="EYInterstate Regular"/>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tx2"/>
          </a:solidFill>
          <a:miter lim="800000"/>
        </a:ln>
      </a:spPr>
      <a:bodyPr lIns="108000" tIns="108000" rIns="108000" bIns="108000" rtlCol="0" anchor="t" anchorCtr="0"/>
      <a:lstStyle>
        <a:defPPr marL="252000" indent="-252000" algn="l">
          <a:lnSpc>
            <a:spcPct val="90000"/>
          </a:lnSpc>
          <a:spcBef>
            <a:spcPts val="400"/>
          </a:spcBef>
          <a:spcAft>
            <a:spcPts val="400"/>
          </a:spcAft>
          <a:buClr>
            <a:schemeClr val="tx2"/>
          </a:buClr>
          <a:buFont typeface="Wingdings" pitchFamily="2" charset="2"/>
          <a:buChar char="§"/>
          <a:defRPr sz="20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bg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36576" rIns="0" bIns="0" rtlCol="0" anchor="t">
        <a:spAutoFit/>
      </a:bodyPr>
      <a:lstStyle>
        <a:defPPr marL="252000" indent="-252000" algn="l">
          <a:lnSpc>
            <a:spcPct val="90000"/>
          </a:lnSpc>
          <a:spcBef>
            <a:spcPts val="400"/>
          </a:spcBef>
          <a:spcAft>
            <a:spcPts val="400"/>
          </a:spcAft>
          <a:buClr>
            <a:schemeClr val="tx2"/>
          </a:buClr>
          <a:buSzPct val="100000"/>
          <a:buFont typeface="Wingdings" pitchFamily="2" charset="2"/>
          <a:buChar char="§"/>
          <a:defRPr sz="2000" dirty="0" err="1" smtClean="0">
            <a:solidFill>
              <a:schemeClr val="bg1"/>
            </a:solidFill>
          </a:defRPr>
        </a:defPPr>
      </a:lstStyle>
    </a:txDef>
  </a:objectDefaults>
  <a:extraClrSchemeLst/>
  <a:extLst>
    <a:ext uri="{05A4C25C-085E-4340-85A3-A5531E510DB2}">
      <thm15:themeFamily xmlns:thm15="http://schemas.microsoft.com/office/thememl/2012/main" name="Dark-global-widescreen-presentation-template-v2.4.potx" id="{FF47DC87-4AF3-4D5F-88A3-1A611FD73713}" vid="{2E49ABC6-E45F-41DB-9E18-D851610A97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7fab9e02-f2fd-4cfc-9769-18fdb892a844">
      <UserInfo>
        <DisplayName>Katie M Nolan</DisplayName>
        <AccountId>48</AccountId>
        <AccountType/>
      </UserInfo>
      <UserInfo>
        <DisplayName>Garrett Wexler</DisplayName>
        <AccountId>49</AccountId>
        <AccountType/>
      </UserInfo>
      <UserInfo>
        <DisplayName>Erika S Olson</DisplayName>
        <AccountId>50</AccountId>
        <AccountType/>
      </UserInfo>
      <UserInfo>
        <DisplayName>John M Motley</DisplayName>
        <AccountId>51</AccountId>
        <AccountType/>
      </UserInfo>
      <UserInfo>
        <DisplayName>Brooke E Smith</DisplayName>
        <AccountId>52</AccountId>
        <AccountType/>
      </UserInfo>
      <UserInfo>
        <DisplayName>Christopher C Smith</DisplayName>
        <AccountId>79</AccountId>
        <AccountType/>
      </UserInfo>
      <UserInfo>
        <DisplayName>Jose M Reyes</DisplayName>
        <AccountId>24</AccountId>
        <AccountType/>
      </UserInfo>
      <UserInfo>
        <DisplayName>Greg J Picarelli</DisplayName>
        <AccountId>22</AccountId>
        <AccountType/>
      </UserInfo>
      <UserInfo>
        <DisplayName>Ryan Bertani</DisplayName>
        <AccountId>44</AccountId>
        <AccountType/>
      </UserInfo>
      <UserInfo>
        <DisplayName>Emily G Dana</DisplayName>
        <AccountId>190</AccountId>
        <AccountType/>
      </UserInfo>
      <UserInfo>
        <DisplayName>Regina Zambrano</DisplayName>
        <AccountId>65</AccountId>
        <AccountType/>
      </UserInfo>
      <UserInfo>
        <DisplayName>Frank A Pizzuta</DisplayName>
        <AccountId>67</AccountId>
        <AccountType/>
      </UserInfo>
      <UserInfo>
        <DisplayName>Judy Chan</DisplayName>
        <AccountId>494</AccountId>
        <AccountType/>
      </UserInfo>
      <UserInfo>
        <DisplayName>Linton Small</DisplayName>
        <AccountId>97</AccountId>
        <AccountType/>
      </UserInfo>
      <UserInfo>
        <DisplayName>Emily R Frebowitz</DisplayName>
        <AccountId>167</AccountId>
        <AccountType/>
      </UserInfo>
      <UserInfo>
        <DisplayName>Matt L Siegel</DisplayName>
        <AccountId>671</AccountId>
        <AccountType/>
      </UserInfo>
      <UserInfo>
        <DisplayName>Daniel Teixeira Santos</DisplayName>
        <AccountId>1029</AccountId>
        <AccountType/>
      </UserInfo>
      <UserInfo>
        <DisplayName>Nadira Kalliecharan</DisplayName>
        <AccountId>1099</AccountId>
        <AccountType/>
      </UserInfo>
      <UserInfo>
        <DisplayName>Kelly Truong</DisplayName>
        <AccountId>1334</AccountId>
        <AccountType/>
      </UserInfo>
      <UserInfo>
        <DisplayName>Josue Batista</DisplayName>
        <AccountId>475</AccountId>
        <AccountType/>
      </UserInfo>
      <UserInfo>
        <DisplayName>Louise Larson</DisplayName>
        <AccountId>472</AccountId>
        <AccountType/>
      </UserInfo>
      <UserInfo>
        <DisplayName>Fran E Exley</DisplayName>
        <AccountId>1959</AccountId>
        <AccountType/>
      </UserInfo>
      <UserInfo>
        <DisplayName>Dana A Gresko</DisplayName>
        <AccountId>390</AccountId>
        <AccountType/>
      </UserInfo>
      <UserInfo>
        <DisplayName>Duncan Avis</DisplayName>
        <AccountId>3588</AccountId>
        <AccountType/>
      </UserInfo>
      <UserInfo>
        <DisplayName>Chris Gianutsos</DisplayName>
        <AccountId>800</AccountId>
        <AccountType/>
      </UserInfo>
    </SharedWithUsers>
    <lcf76f155ced4ddcb4097134ff3c332f xmlns="65e90d97-b30a-484d-bac3-df9852c7984b">
      <Terms xmlns="http://schemas.microsoft.com/office/infopath/2007/PartnerControls"/>
    </lcf76f155ced4ddcb4097134ff3c332f>
    <TaxCatchAll xmlns="7fab9e02-f2fd-4cfc-9769-18fdb892a84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657907C8D1A543B49DD181549847FF" ma:contentTypeVersion="15" ma:contentTypeDescription="Create a new document." ma:contentTypeScope="" ma:versionID="cc9e86251361309e0b2391099a35e286">
  <xsd:schema xmlns:xsd="http://www.w3.org/2001/XMLSchema" xmlns:xs="http://www.w3.org/2001/XMLSchema" xmlns:p="http://schemas.microsoft.com/office/2006/metadata/properties" xmlns:ns2="65e90d97-b30a-484d-bac3-df9852c7984b" xmlns:ns3="7fab9e02-f2fd-4cfc-9769-18fdb892a844" targetNamespace="http://schemas.microsoft.com/office/2006/metadata/properties" ma:root="true" ma:fieldsID="30605f329c5e293489d8fb1a1e028c6d" ns2:_="" ns3:_="">
    <xsd:import namespace="65e90d97-b30a-484d-bac3-df9852c7984b"/>
    <xsd:import namespace="7fab9e02-f2fd-4cfc-9769-18fdb892a84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e90d97-b30a-484d-bac3-df9852c798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3ef62f9-2e07-484b-bd79-00aec90129fe"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BillingMetadata" ma:index="22"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fab9e02-f2fd-4cfc-9769-18fdb892a84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77c7de7b-fa96-468d-966e-3f775ef6c740}" ma:internalName="TaxCatchAll" ma:showField="CatchAllData" ma:web="7fab9e02-f2fd-4cfc-9769-18fdb892a8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2F39FF3-5218-432D-B968-D98E808CE74E}">
  <ds:schemaRefs>
    <ds:schemaRef ds:uri="http://schemas.microsoft.com/sharepoint/v3/contenttype/forms"/>
  </ds:schemaRefs>
</ds:datastoreItem>
</file>

<file path=customXml/itemProps2.xml><?xml version="1.0" encoding="utf-8"?>
<ds:datastoreItem xmlns:ds="http://schemas.openxmlformats.org/officeDocument/2006/customXml" ds:itemID="{7570972D-F9F6-429A-B00E-BB65BED075B7}">
  <ds:schemaRefs>
    <ds:schemaRef ds:uri="7fab9e02-f2fd-4cfc-9769-18fdb892a844"/>
    <ds:schemaRef ds:uri="http://purl.org/dc/terms/"/>
    <ds:schemaRef ds:uri="http://schemas.microsoft.com/office/2006/documentManagement/types"/>
    <ds:schemaRef ds:uri="http://schemas.microsoft.com/office/infopath/2007/PartnerControls"/>
    <ds:schemaRef ds:uri="http://purl.org/dc/dcmitype/"/>
    <ds:schemaRef ds:uri="http://purl.org/dc/elements/1.1/"/>
    <ds:schemaRef ds:uri="http://schemas.openxmlformats.org/package/2006/metadata/core-properties"/>
    <ds:schemaRef ds:uri="65e90d97-b30a-484d-bac3-df9852c7984b"/>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F4A0C8FD-D375-4D22-9AE3-19C5DAF69F8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5e90d97-b30a-484d-bac3-df9852c7984b"/>
    <ds:schemaRef ds:uri="7fab9e02-f2fd-4cfc-9769-18fdb892a8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5b973f99-77df-4beb-b27d-aa0c70b8482c}" enabled="0" method="" siteId="{5b973f99-77df-4beb-b27d-aa0c70b8482c}" removed="1"/>
</clbl:labelList>
</file>

<file path=docProps/app.xml><?xml version="1.0" encoding="utf-8"?>
<Properties xmlns="http://schemas.openxmlformats.org/officeDocument/2006/extended-properties" xmlns:vt="http://schemas.openxmlformats.org/officeDocument/2006/docPropsVTypes">
  <TotalTime>8499</TotalTime>
  <Words>2959</Words>
  <Application>Microsoft Office PowerPoint</Application>
  <PresentationFormat>Custom</PresentationFormat>
  <Paragraphs>299</Paragraphs>
  <Slides>19</Slides>
  <Notes>18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Arial</vt:lpstr>
      <vt:lpstr>Calibri</vt:lpstr>
      <vt:lpstr>EY Gothic Comp Book</vt:lpstr>
      <vt:lpstr>EYInterstate Light</vt:lpstr>
      <vt:lpstr>EYInterstate Regular</vt:lpstr>
      <vt:lpstr>Helvetica Neue</vt:lpstr>
      <vt:lpstr>Source Serif 4 14pt Light</vt:lpstr>
      <vt:lpstr>Source Serif 4 Light Italic</vt:lpstr>
      <vt:lpstr>Wingdings</vt:lpstr>
      <vt:lpstr>Large Text [SPECTRUM]</vt:lpstr>
      <vt:lpstr>EY Studio+ Health Services &amp; LS Case Studies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Simran Assi</cp:lastModifiedBy>
  <cp:revision>11</cp:revision>
  <dcterms:created xsi:type="dcterms:W3CDTF">2023-03-13T18:50:17Z</dcterms:created>
  <dcterms:modified xsi:type="dcterms:W3CDTF">2025-08-27T07:12:54Z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0x010100BE657907C8D1A543B49DD181549847FF</vt:lpwstr>
  </property>
  <property fmtid="{D5CDD505-2E9C-101B-9397-08002B2CF9AE}" pid="3" name="MediaServiceImageTags">
    <vt:lpwstr/>
  </property>
  <property fmtid="{D5CDD505-2E9C-101B-9397-08002B2CF9AE}" pid="4" name="Links">
    <vt:lpwstr>, </vt:lpwstr>
  </property>
  <property fmtid="{D5CDD505-2E9C-101B-9397-08002B2CF9AE}" pid="5" name="Order">
    <vt:lpwstr>873500.000000000</vt:lpwstr>
  </property>
  <property fmtid="{D5CDD505-2E9C-101B-9397-08002B2CF9AE}" pid="6" name="xd_ProgID">
    <vt:lpwstr/>
  </property>
  <property fmtid="{D5CDD505-2E9C-101B-9397-08002B2CF9AE}" pid="7" name="Hyperlink">
    <vt:lpwstr>,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xd_Signature">
    <vt:lpwstr/>
  </property>
  <property fmtid="{D5CDD505-2E9C-101B-9397-08002B2CF9AE}" pid="13" name="SharedWithUsers">
    <vt:lpwstr>481;#Dipty Mathur;#302;#Millicent Hadjivassiliou Stewart;#730;#Brooke E Smith;#355;#Garrett Wexler;#304;#Michael J McAghon;#151;#Christopher C Smith;#309;#John M Motley;#317;#Erika S Olson;#455;#Emily R Frebowitz;#453;#Jessie Vitale;#655;#Judy Chan;#368;#Linton Small;#442;#Sabrina Tran;#676;#Annice Lee;#783;#Daniel Arbelaez Arango;#493;#Ryan Bertani;#642;#Jose Silvosa;#378;#Archana Raj;#906;#Monica Chadha;#695;#Jose M Reyes;#715;#Regina Zambrano;#953;#Daniella Rogers;#756;#Daniela Sergent;#376;#Katie M Nolan;#936;#Rafaela Teixeira</vt:lpwstr>
  </property>
</Properties>
</file>